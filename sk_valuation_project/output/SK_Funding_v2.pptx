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STRUCTURE v2 —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펀딩 구조 v2 — 요약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재무팀 의견 반영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9555480" cy="932688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83080"/>
            <a:ext cx="64008" cy="93268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883664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핵심 명제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5528" y="2121408"/>
            <a:ext cx="909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정부 앵커를 OT→BA로 이동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하되, BA는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9B9B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보조금(grant) 우선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 · Equity는 잔여·최후로 둔다.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D3A8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OT의 DOE 링펜스는 유지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→ v2  전환 포인트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3182112"/>
            <a:ext cx="3002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182112"/>
            <a:ext cx="3002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10128"/>
            <a:ext cx="2673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정부자금 타깃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2673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OT → BA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968496"/>
            <a:ext cx="267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OT는 ATVM 이미 소진 → 신규 미정부자금은 BA측 feasibility 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3528" y="3182112"/>
            <a:ext cx="3002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3528" y="3182112"/>
            <a:ext cx="3002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4008120" y="3310128"/>
            <a:ext cx="2673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 조달 방식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08120" y="3547872"/>
            <a:ext cx="2673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보조금 우선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008120" y="3968496"/>
            <a:ext cx="267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무상환·무DSCR·무희석·CoC 무관 → EBIT=0 자산에 유일하게 깨끗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20128" y="3182112"/>
            <a:ext cx="3002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20128" y="3182112"/>
            <a:ext cx="300228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7284720" y="3310128"/>
            <a:ext cx="2673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OT 구조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84720" y="3547872"/>
            <a:ext cx="2673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링펜스 유지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84720" y="3968496"/>
            <a:ext cx="2673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$4bn 선순위·CoC·5층 격벽 그대로 → SKI 보증을 전염에서 차단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4800600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 펀딩 워터폴 — 조달 우선순위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5074920"/>
            <a:ext cx="2880360" cy="960120"/>
          </a:xfrm>
          <a:prstGeom prst="rect">
            <a:avLst/>
          </a:prstGeom>
          <a:solidFill>
            <a:srgbClr val="FBF3F2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5175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33856" y="5175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(1순위)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" y="55595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MESC·48C·州 인센티브 — 최대화 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29000" y="5074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04488" y="507492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5175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71416" y="5175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비소구 자산부채 (제한)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41648" y="55595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설비·AMPC 수취권 담보 · SKI 보증 미가산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66560" y="5074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42048" y="507492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9208" y="5175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6960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③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808976" y="5175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Equity (잔여·최후)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79208" y="55595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CoC 20% 캡 내 · DOE Equity 불가 가정 ★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6199632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상위 단계로 충당 가능한 금액은 하위로 내리지 않는다 — 희석·부채부담 최소화.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60146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  ·  ★ = 미검증(약정서·법률 확인 필요)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BY ENTITY — STRUCTURE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법인별 자금 구조 — BA · OT 분리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HoldCo 우산 + 격벽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0"/>
            <a:ext cx="9555480" cy="566928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737360"/>
            <a:ext cx="9098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HoldCo 우산  </a:t>
            </a:r>
            <a:pPr indent="0" marL="0"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통합조달(협상력↑·조달비용↓) — 위에서 묶고, 아래(SPV)에서 격리한다  ·  하이브리드(B)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487168"/>
            <a:ext cx="45948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487168"/>
            <a:ext cx="4594860" cy="45720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23744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공장 1 — SKBA (조지아)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파우치 21.2GWh · DC블록 개조 대상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용도 = BA 개조(retrofit) 자금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355848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558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3410712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(1순위)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25296" y="3648456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MESC / 48C / 州 — 무상환·무희석·무CoC ★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77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032504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비소구 자산부채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25296" y="4270248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설비·재고·AMPC 수취권 담보 · 한도 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599432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5994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6960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5296" y="4654296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Equity (잔여)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25296" y="4892040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CoC 20% 캡 내 · 밸류 플로어·anti-dilution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5193792"/>
            <a:ext cx="4265676" cy="475488"/>
          </a:xfrm>
          <a:prstGeom prst="rect">
            <a:avLst/>
          </a:prstGeom>
          <a:solidFill>
            <a:srgbClr val="F2ECE0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193792"/>
            <a:ext cx="4046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제약: 기존 차입 ~$5bn + SK이노 보증·확약 → 신규 대출 회피, 레버리지/covenant 관리 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27548" y="2487168"/>
            <a:ext cx="45948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7548" y="2487168"/>
            <a:ext cx="45948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5692140" y="2523744"/>
            <a:ext cx="4265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공장 2 — SKOT (테네시)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92140" y="2779776"/>
            <a:ext cx="4265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각형+파우치 29.7GWh · DOE 묶임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92140" y="3035808"/>
            <a:ext cx="4265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용도 = 기존 구조 유지 + AMPC 창 내 회수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92140" y="3355848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3580" y="33558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•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85916" y="3410712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$4bn ATVM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85916" y="3648456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선순위 담보 — 이자만(원금 0)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92140" y="3977640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3580" y="3977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•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85916" y="4032504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 현금화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85916" y="4270248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45X 수취권 유동화 → 미래현금 당겨옴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92140" y="4599432"/>
            <a:ext cx="4265676" cy="566928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83580" y="45994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•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5916" y="4654296"/>
            <a:ext cx="377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메자닌 $1bn @7%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85916" y="4892040"/>
            <a:ext cx="3771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창(2029~32) 내 상환 · DSCR 1.3x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92140" y="5193792"/>
            <a:ext cx="4265676" cy="475488"/>
          </a:xfrm>
          <a:prstGeom prst="rect">
            <a:avLst/>
          </a:prstGeom>
          <a:solidFill>
            <a:srgbClr val="F2ECE0"/>
          </a:solidFill>
          <a:ln/>
        </p:spPr>
      </p:sp>
      <p:sp>
        <p:nvSpPr>
          <p:cNvPr id="46" name="Text 44"/>
          <p:cNvSpPr/>
          <p:nvPr/>
        </p:nvSpPr>
        <p:spPr>
          <a:xfrm>
            <a:off x="5801868" y="5193792"/>
            <a:ext cx="4046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링펜스 5층 유지: 법인분리·Separateness·Intercreditor·담보·Non-recourse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5943600"/>
            <a:ext cx="9555480" cy="50292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48" name="Text 46"/>
          <p:cNvSpPr/>
          <p:nvPr/>
        </p:nvSpPr>
        <p:spPr>
          <a:xfrm>
            <a:off x="795528" y="5943600"/>
            <a:ext cx="909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D3A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Non-recourse 격벽  </a:t>
            </a:r>
            <a:pPr indent="0" marL="0"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 SPV 채무는 자기 자산에만 청구 — 모회사·타 공장·SK이노 보증에 무소구. 한 공장이 무너져도 다른 칸으로 전염되지 않는다.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0146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  ·  ★ = 미검증(약정서·법률 확인 필요)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RATIONALE — WHY THIS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이렇게 설정한 이유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5가지 근거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9555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1328" y="1874520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Feasibility — OT는 한 우물, BA는 새 우물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167128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OT는 ATVM 수혜를 이미 받고 있어 신규 연방자금 여지가 작다. DOE/DOW 관점에서 BA측 funding feasibility가 더 높다.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624328"/>
            <a:ext cx="9555480" cy="749808"/>
          </a:xfrm>
          <a:prstGeom prst="rect">
            <a:avLst/>
          </a:prstGeom>
          <a:solidFill>
            <a:srgbClr val="FBF3F2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2432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81328" y="2715768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보조금은 EBIT=0 자산에 유일하게 '깨끗한' 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008376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DC블록은 박리다매(EBIT≈0). 상업대출은 DSCR이 안 나와 원천적으로 안 붙는다. 보조금은 무상환·무DSCR·무희석·CoC 무관 → 구조적 최적.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465576"/>
            <a:ext cx="9555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6557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81328" y="3557016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대출 회피 — 이미 $5bn + SKI 보증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3849624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BA는 기존 차입이 크고 SK이노 보증·확약이 걸려 있다. 추가 대출은 레버리지 한도·cross-default·보증 노출을 키운다 → 보조금/비소구로 우회.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306824"/>
            <a:ext cx="9555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068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CFC2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81328" y="4398264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Equity는 잔여·최후 — DOE Equity는 불가 가정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4690872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밸류에이션·지분희석·CoC(20% 캡)를 고려하면 Equity는 마지막. 게다가 DOE LPO/ATVM은 법령상 대출·보증이지 지분투자가 아니다 ★.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5148072"/>
            <a:ext cx="9555480" cy="749808"/>
          </a:xfrm>
          <a:prstGeom prst="rect">
            <a:avLst/>
          </a:prstGeom>
          <a:solidFill>
            <a:srgbClr val="FBF3F2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14807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81328" y="5239512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 링펜스 유지 = SKI 보증의 방패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81328" y="5532120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링펜스는 비용이 아니라 보호다. OT가 2033년 이후 적자 회귀해도 Non-recourse가 BA·모회사·SKI 보증으로의 전염을 끊는다.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0146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  ·  ★ = 미검증(약정서·법률 확인 필요)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GOVERNMENT ENGAGEMENT — HOW WE COMMUNICATE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정부와의 Comm 방식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재무 사전 정렬 우선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4731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ENGAGEMENT SEQUENCE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4731106" cy="758952"/>
          </a:xfrm>
          <a:prstGeom prst="rect">
            <a:avLst/>
          </a:prstGeom>
          <a:solidFill>
            <a:srgbClr val="1B1714"/>
          </a:solidFill>
          <a:ln w="12700">
            <a:solidFill>
              <a:srgbClr val="1B17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67712"/>
            <a:ext cx="402336" cy="40233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3584" y="2194560"/>
            <a:ext cx="3908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내부 재무 사전 정렬 (선행·필수)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43584" y="2487168"/>
            <a:ext cx="3908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ask(grant/loan)·구조·레드라인을 재무와 먼저 합의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2953512"/>
            <a:ext cx="4731106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136392"/>
            <a:ext cx="402336" cy="402336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3063240"/>
            <a:ext cx="3908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ask 확정 → 카운터파트 매칭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43584" y="3355848"/>
            <a:ext cx="3908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요청할지 정한 뒤 매칭 부서로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4731106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005072"/>
            <a:ext cx="402336" cy="402336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3584" y="3931920"/>
            <a:ext cx="3908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부서 미팅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43584" y="4224528"/>
            <a:ext cx="3908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합의된 ask로만 — 부서별 단일 메시지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4526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4690872"/>
            <a:ext cx="4731106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873752"/>
            <a:ext cx="402336" cy="402336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43584" y="4800600"/>
            <a:ext cx="3908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DOW(국방) 트랙 — 방산·딥테크 별도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43584" y="5093208"/>
            <a:ext cx="3908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드론·로보틱스 슬리브로 분리 진행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55234" y="1783080"/>
            <a:ext cx="43671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ask → DOE 카운터파트 매칭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55234" y="2084832"/>
            <a:ext cx="436717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55234" y="2084832"/>
            <a:ext cx="45720" cy="402336"/>
          </a:xfrm>
          <a:prstGeom prst="rect">
            <a:avLst/>
          </a:prstGeom>
          <a:solidFill>
            <a:srgbClr val="1E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5938114" y="2084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(BA)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38314" y="2084832"/>
            <a:ext cx="2446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MESC — 제조·공급망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5234" y="2542032"/>
            <a:ext cx="4367174" cy="402336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55234" y="2542032"/>
            <a:ext cx="45720" cy="402336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38" name="Text 36"/>
          <p:cNvSpPr/>
          <p:nvPr/>
        </p:nvSpPr>
        <p:spPr>
          <a:xfrm>
            <a:off x="5938114" y="2542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38314" y="2542032"/>
            <a:ext cx="2446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LPO (ATVM/Title 17)  ※ OT 기존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55234" y="2999232"/>
            <a:ext cx="436717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55234" y="2999232"/>
            <a:ext cx="45720" cy="40233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2" name="Text 40"/>
          <p:cNvSpPr/>
          <p:nvPr/>
        </p:nvSpPr>
        <p:spPr>
          <a:xfrm>
            <a:off x="5938114" y="2999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Equity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38314" y="2999232"/>
            <a:ext cx="2446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해당 부서 없음 — DOE 지분투자 ✗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5234" y="3456432"/>
            <a:ext cx="4367174" cy="402336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55234" y="3456432"/>
            <a:ext cx="45720" cy="402336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46" name="Text 44"/>
          <p:cNvSpPr/>
          <p:nvPr/>
        </p:nvSpPr>
        <p:spPr>
          <a:xfrm>
            <a:off x="5938114" y="3456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방산 앵글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38314" y="3456432"/>
            <a:ext cx="2446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DOW (국방) 별도 트랙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55234" y="4078224"/>
            <a:ext cx="4367174" cy="1572768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49" name="Text 47"/>
          <p:cNvSpPr/>
          <p:nvPr/>
        </p:nvSpPr>
        <p:spPr>
          <a:xfrm>
            <a:off x="5938114" y="4187952"/>
            <a:ext cx="4001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레드라인 (미팅 전 재무 합의)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38114" y="4535424"/>
            <a:ext cx="4001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SK이노 보증 확대 금지
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BA 기존 covenant breach 금지
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CoC 20% 캡 유지
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F9B9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DOE Equity 기대 제외(대출·보증만)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6693408"/>
            <a:ext cx="9555480" cy="365760"/>
          </a:xfrm>
          <a:prstGeom prst="rect">
            <a:avLst/>
          </a:prstGeom>
          <a:solidFill>
            <a:srgbClr val="F2ECE0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" y="6693408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[원칙]  </a:t>
            </a:r>
            <a:pPr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부서 미팅 전, '무엇을 요청할지'를 재무와 먼저 확정한다 — 잘못된 부서에 잘못된 ask로 가는 것을 막는다.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0146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  ·  ★ = 미검증(약정서·법률 확인 필요)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2026-06-30T09:18:38Z</dcterms:created>
  <dcterms:modified xsi:type="dcterms:W3CDTF">2026-06-30T09:18:38Z</dcterms:modified>
</cp:coreProperties>
</file>