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83096" y="45720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0" b="1" dirty="0">
                <a:solidFill>
                  <a:srgbClr val="C1121F">
                    <a:alpha val="6000"/>
                  </a:srgbClr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EV</a:t>
            </a:r>
            <a:endParaRPr lang="en-US" sz="34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66928" y="566928"/>
            <a:ext cx="384048" cy="5029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" name="Text 3"/>
          <p:cNvSpPr/>
          <p:nvPr/>
        </p:nvSpPr>
        <p:spPr>
          <a:xfrm>
            <a:off x="1042416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SK Innovation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922008" y="457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INVESTOR RELATIONS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43616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M&amp;A VALUATION &amp; FINANCING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4818888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1B171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US LFP/ESS DC블록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1B171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플랫폼 인수 검토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66928" y="6693408"/>
            <a:ext cx="9555480" cy="0"/>
          </a:xfrm>
          <a:prstGeom prst="line">
            <a:avLst/>
          </a:prstGeom>
          <a:noFill/>
          <a:ln w="12700">
            <a:solidFill>
              <a:srgbClr val="E4DE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67574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기업가치 · 파이낸싱 구조 · FCFE 분석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50408" y="67574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SKBA (조지아) + SKOT (테네시)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VALUATION SUMMARY — FOOTBALL FIELD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07608" y="4754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 Innovation · IR  / 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71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통합 플랫폼 기업가치 — 3개 방법론 수렴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79208" y="932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DCF $3.5bn · 멀티플 · NAV $5.0bn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26464"/>
            <a:ext cx="9555480" cy="0"/>
          </a:xfrm>
          <a:prstGeom prst="line">
            <a:avLst/>
          </a:prstGeom>
          <a:noFill/>
          <a:ln w="19050">
            <a:solidFill>
              <a:srgbClr val="1B17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642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ENTERPRISE VALUE  ($ bn)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877671" y="1965960"/>
            <a:ext cx="659674" cy="3429000"/>
          </a:xfrm>
          <a:prstGeom prst="rect">
            <a:avLst/>
          </a:prstGeom>
          <a:solidFill>
            <a:srgbClr val="C1121F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898648" y="1965960"/>
            <a:ext cx="0" cy="3429000"/>
          </a:xfrm>
          <a:prstGeom prst="line">
            <a:avLst/>
          </a:prstGeom>
          <a:noFill/>
          <a:ln w="19050">
            <a:solidFill>
              <a:srgbClr val="1B17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4328" y="54315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58322" y="1965960"/>
            <a:ext cx="0" cy="3429000"/>
          </a:xfrm>
          <a:prstGeom prst="line">
            <a:avLst/>
          </a:prstGeom>
          <a:noFill/>
          <a:ln w="9525">
            <a:solidFill>
              <a:srgbClr val="ECE6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4002" y="54315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17997" y="1965960"/>
            <a:ext cx="0" cy="3429000"/>
          </a:xfrm>
          <a:prstGeom prst="line">
            <a:avLst/>
          </a:prstGeom>
          <a:noFill/>
          <a:ln w="9525">
            <a:solidFill>
              <a:srgbClr val="ECE6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43677" y="54315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77671" y="1965960"/>
            <a:ext cx="0" cy="3429000"/>
          </a:xfrm>
          <a:prstGeom prst="line">
            <a:avLst/>
          </a:prstGeom>
          <a:noFill/>
          <a:ln w="9525">
            <a:solidFill>
              <a:srgbClr val="ECE6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3351" y="54315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37345" y="1965960"/>
            <a:ext cx="0" cy="3429000"/>
          </a:xfrm>
          <a:prstGeom prst="line">
            <a:avLst/>
          </a:prstGeom>
          <a:noFill/>
          <a:ln w="9525">
            <a:solidFill>
              <a:srgbClr val="ECE6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63025" y="54315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97019" y="1965960"/>
            <a:ext cx="0" cy="3429000"/>
          </a:xfrm>
          <a:prstGeom prst="line">
            <a:avLst/>
          </a:prstGeom>
          <a:noFill/>
          <a:ln w="9525">
            <a:solidFill>
              <a:srgbClr val="ECE6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22699" y="54315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6694" y="1965960"/>
            <a:ext cx="0" cy="3429000"/>
          </a:xfrm>
          <a:prstGeom prst="line">
            <a:avLst/>
          </a:prstGeom>
          <a:noFill/>
          <a:ln w="9525">
            <a:solidFill>
              <a:srgbClr val="ECE6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2374" y="54315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516368" y="1965960"/>
            <a:ext cx="0" cy="3429000"/>
          </a:xfrm>
          <a:prstGeom prst="line">
            <a:avLst/>
          </a:prstGeom>
          <a:noFill/>
          <a:ln w="9525">
            <a:solidFill>
              <a:srgbClr val="ECE6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2048" y="54315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74524" y="1783080"/>
            <a:ext cx="0" cy="3611880"/>
          </a:xfrm>
          <a:prstGeom prst="line">
            <a:avLst/>
          </a:prstGeom>
          <a:noFill/>
          <a:ln w="19050">
            <a:solidFill>
              <a:srgbClr val="C1121F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220244" y="1764792"/>
            <a:ext cx="1828800" cy="237744"/>
          </a:xfrm>
          <a:prstGeom prst="rect">
            <a:avLst/>
          </a:prstGeom>
          <a:solidFill>
            <a:srgbClr val="C1121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결론 EV ≈ $3.5bn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" y="2156841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DCF (DC블록·9%·NOL)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" y="2394585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WACC 9~12% · TGR 2%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857881" y="2275713"/>
            <a:ext cx="752029" cy="23774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0" name="Text 28"/>
          <p:cNvSpPr/>
          <p:nvPr/>
        </p:nvSpPr>
        <p:spPr>
          <a:xfrm>
            <a:off x="4345817" y="2275713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2.97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4773" y="2275713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4.11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" y="3014091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EV/EBITDA ex-AMPC (2029E)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" y="3251835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fwd 8–14x · $350mm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745736" y="3132963"/>
            <a:ext cx="1385316" cy="237744"/>
          </a:xfrm>
          <a:prstGeom prst="rect">
            <a:avLst/>
          </a:prstGeom>
          <a:solidFill>
            <a:srgbClr val="D8CFC2"/>
          </a:solidFill>
          <a:ln/>
        </p:spPr>
      </p:sp>
      <p:sp>
        <p:nvSpPr>
          <p:cNvPr id="35" name="Text 33"/>
          <p:cNvSpPr/>
          <p:nvPr/>
        </p:nvSpPr>
        <p:spPr>
          <a:xfrm>
            <a:off x="4233672" y="3132963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2.80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85916" y="3132963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4.90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3871341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EV/EBITDA ex-AMPC (run-rate)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66928" y="4109085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fwd 8–14x · $441mm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227298" y="3990213"/>
            <a:ext cx="1741540" cy="237744"/>
          </a:xfrm>
          <a:prstGeom prst="rect">
            <a:avLst/>
          </a:prstGeom>
          <a:solidFill>
            <a:srgbClr val="D8CFC2"/>
          </a:solidFill>
          <a:ln/>
        </p:spPr>
      </p:sp>
      <p:sp>
        <p:nvSpPr>
          <p:cNvPr id="40" name="Text 38"/>
          <p:cNvSpPr/>
          <p:nvPr/>
        </p:nvSpPr>
        <p:spPr>
          <a:xfrm>
            <a:off x="4715234" y="3990213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3.53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023702" y="3990213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6.17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6928" y="4728591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순자산 NAV (SOTP)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6928" y="4966335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SKBA $2.0 + SKOT $3.0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096435" y="4847463"/>
            <a:ext cx="237744" cy="237744"/>
          </a:xfrm>
          <a:prstGeom prst="diamond">
            <a:avLst/>
          </a:prstGeom>
          <a:solidFill>
            <a:srgbClr val="1B1714"/>
          </a:solidFill>
          <a:ln/>
        </p:spPr>
      </p:sp>
      <p:sp>
        <p:nvSpPr>
          <p:cNvPr id="45" name="Text 43"/>
          <p:cNvSpPr/>
          <p:nvPr/>
        </p:nvSpPr>
        <p:spPr>
          <a:xfrm>
            <a:off x="6379899" y="4847463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$5.0bn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927848" y="16642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순자산가치 — 엔티티별 (SOTP)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927848" y="1938528"/>
            <a:ext cx="21945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27848" y="1938528"/>
            <a:ext cx="45720" cy="17830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9" name="Text 47"/>
          <p:cNvSpPr/>
          <p:nvPr/>
        </p:nvSpPr>
        <p:spPr>
          <a:xfrm>
            <a:off x="8092440" y="2029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SKBA — 조지아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253728" y="20299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가동중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092440" y="2359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순자산 NAV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849563" y="2359152"/>
            <a:ext cx="11082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~$2.0 bn ★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092440" y="2633472"/>
            <a:ext cx="1865376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92440" y="26609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캐파(파우치)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849563" y="2660904"/>
            <a:ext cx="11082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21.2 GWh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092440" y="2935224"/>
            <a:ext cx="1865376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92440" y="29626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개조 capex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849563" y="2962656"/>
            <a:ext cx="11082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$0.4 bn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092440" y="3236976"/>
            <a:ext cx="1865376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092440" y="32644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COD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849563" y="3264408"/>
            <a:ext cx="11082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'27 / '28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092440" y="3538728"/>
            <a:ext cx="1865376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27848" y="3886200"/>
            <a:ext cx="21945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927848" y="3886200"/>
            <a:ext cx="45720" cy="17830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5" name="Text 63"/>
          <p:cNvSpPr/>
          <p:nvPr/>
        </p:nvSpPr>
        <p:spPr>
          <a:xfrm>
            <a:off x="8092440" y="3977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SKOT — 테네시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9253728" y="39776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'28 가동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092440" y="43068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순자산 NAV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849563" y="4306824"/>
            <a:ext cx="11082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$3.0 bn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092440" y="4581144"/>
            <a:ext cx="1865376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092440" y="46085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캐파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849563" y="4608576"/>
            <a:ext cx="11082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29.7 GWh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8092440" y="4882896"/>
            <a:ext cx="1865376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092440" y="4910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DOE loan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8849563" y="4910328"/>
            <a:ext cx="11082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$4.0 bn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8092440" y="5184648"/>
            <a:ext cx="1865376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092440" y="5212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메자닌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8849563" y="5212080"/>
            <a:ext cx="11082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$1.0 bn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8092440" y="5486400"/>
            <a:ext cx="1865376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66928" y="7141464"/>
            <a:ext cx="9555480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6928" y="7178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Project [ ● ]  ·  Strictly Private &amp; Confidential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3515868" y="71780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DRAFT — FOR DISCUSSION ONLY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8750808" y="7178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VALUE BRIDGE — AMPC 의존도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07608" y="4754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 Innovation · IR  / 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71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기업가치의 원천 — 보조금과 사업 본연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79208" y="932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AMPC는 2033 소멸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26464"/>
            <a:ext cx="9555480" cy="0"/>
          </a:xfrm>
          <a:prstGeom prst="line">
            <a:avLst/>
          </a:prstGeom>
          <a:noFill/>
          <a:ln w="19050">
            <a:solidFill>
              <a:srgbClr val="1B17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7830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EBITDA 구성  ·  $mm  ·  사업 본연(레드) + AMPC(웜그레이)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069848" y="5760720"/>
            <a:ext cx="6355080" cy="0"/>
          </a:xfrm>
          <a:prstGeom prst="line">
            <a:avLst/>
          </a:prstGeom>
          <a:noFill/>
          <a:ln w="25400">
            <a:solidFill>
              <a:srgbClr val="1B17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56692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069848" y="4903470"/>
            <a:ext cx="6355080" cy="0"/>
          </a:xfrm>
          <a:prstGeom prst="line">
            <a:avLst/>
          </a:prstGeom>
          <a:noFill/>
          <a:ln w="12700">
            <a:solidFill>
              <a:srgbClr val="ECE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81203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$400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069848" y="4046220"/>
            <a:ext cx="6355080" cy="0"/>
          </a:xfrm>
          <a:prstGeom prst="line">
            <a:avLst/>
          </a:prstGeom>
          <a:noFill/>
          <a:ln w="12700">
            <a:solidFill>
              <a:srgbClr val="ECE6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9547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$800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069848" y="3188970"/>
            <a:ext cx="6355080" cy="0"/>
          </a:xfrm>
          <a:prstGeom prst="line">
            <a:avLst/>
          </a:prstGeom>
          <a:noFill/>
          <a:ln w="12700">
            <a:solidFill>
              <a:srgbClr val="ECE6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09753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$1200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069848" y="2331720"/>
            <a:ext cx="6355080" cy="0"/>
          </a:xfrm>
          <a:prstGeom prst="line">
            <a:avLst/>
          </a:prstGeom>
          <a:noFill/>
          <a:ln w="12700">
            <a:solidFill>
              <a:srgbClr val="ECE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2402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$1600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287736" y="5606415"/>
            <a:ext cx="472092" cy="154305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9" name="Shape 17"/>
          <p:cNvSpPr/>
          <p:nvPr/>
        </p:nvSpPr>
        <p:spPr>
          <a:xfrm>
            <a:off x="1287736" y="5156359"/>
            <a:ext cx="472092" cy="450056"/>
          </a:xfrm>
          <a:prstGeom prst="rect">
            <a:avLst/>
          </a:prstGeom>
          <a:solidFill>
            <a:srgbClr val="D8CFC2"/>
          </a:solidFill>
          <a:ln/>
        </p:spPr>
      </p:sp>
      <p:sp>
        <p:nvSpPr>
          <p:cNvPr id="20" name="Text 18"/>
          <p:cNvSpPr/>
          <p:nvPr/>
        </p:nvSpPr>
        <p:spPr>
          <a:xfrm>
            <a:off x="1150576" y="4955191"/>
            <a:ext cx="746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$282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50576" y="5806440"/>
            <a:ext cx="746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2027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95605" y="5199221"/>
            <a:ext cx="472092" cy="561499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3" name="Shape 21"/>
          <p:cNvSpPr/>
          <p:nvPr/>
        </p:nvSpPr>
        <p:spPr>
          <a:xfrm>
            <a:off x="2195605" y="3375422"/>
            <a:ext cx="472092" cy="1823799"/>
          </a:xfrm>
          <a:prstGeom prst="rect">
            <a:avLst/>
          </a:prstGeom>
          <a:solidFill>
            <a:srgbClr val="D8CFC2"/>
          </a:solidFill>
          <a:ln/>
        </p:spPr>
      </p:sp>
      <p:sp>
        <p:nvSpPr>
          <p:cNvPr id="24" name="Text 22"/>
          <p:cNvSpPr/>
          <p:nvPr/>
        </p:nvSpPr>
        <p:spPr>
          <a:xfrm>
            <a:off x="2058445" y="3174254"/>
            <a:ext cx="746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$1113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058445" y="5806440"/>
            <a:ext cx="746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2028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103474" y="5010626"/>
            <a:ext cx="472092" cy="75009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7" name="Shape 25"/>
          <p:cNvSpPr/>
          <p:nvPr/>
        </p:nvSpPr>
        <p:spPr>
          <a:xfrm>
            <a:off x="3103474" y="2524601"/>
            <a:ext cx="472092" cy="2486025"/>
          </a:xfrm>
          <a:prstGeom prst="rect">
            <a:avLst/>
          </a:prstGeom>
          <a:solidFill>
            <a:srgbClr val="D8CFC2"/>
          </a:solidFill>
          <a:ln/>
        </p:spPr>
      </p:sp>
      <p:sp>
        <p:nvSpPr>
          <p:cNvPr id="28" name="Text 26"/>
          <p:cNvSpPr/>
          <p:nvPr/>
        </p:nvSpPr>
        <p:spPr>
          <a:xfrm>
            <a:off x="2966314" y="2323433"/>
            <a:ext cx="746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$1510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966314" y="5806440"/>
            <a:ext cx="746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2029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011342" y="4873466"/>
            <a:ext cx="472092" cy="88725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1" name="Shape 29"/>
          <p:cNvSpPr/>
          <p:nvPr/>
        </p:nvSpPr>
        <p:spPr>
          <a:xfrm>
            <a:off x="4011342" y="2627471"/>
            <a:ext cx="472092" cy="2245995"/>
          </a:xfrm>
          <a:prstGeom prst="rect">
            <a:avLst/>
          </a:prstGeom>
          <a:solidFill>
            <a:srgbClr val="D8CFC2"/>
          </a:solidFill>
          <a:ln/>
        </p:spPr>
      </p:sp>
      <p:sp>
        <p:nvSpPr>
          <p:cNvPr id="32" name="Text 30"/>
          <p:cNvSpPr/>
          <p:nvPr/>
        </p:nvSpPr>
        <p:spPr>
          <a:xfrm>
            <a:off x="3874182" y="2426303"/>
            <a:ext cx="746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$1462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874182" y="5806440"/>
            <a:ext cx="746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2030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919211" y="4800600"/>
            <a:ext cx="472092" cy="9601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5" name="Shape 33"/>
          <p:cNvSpPr/>
          <p:nvPr/>
        </p:nvSpPr>
        <p:spPr>
          <a:xfrm>
            <a:off x="4919211" y="3156823"/>
            <a:ext cx="472092" cy="1643777"/>
          </a:xfrm>
          <a:prstGeom prst="rect">
            <a:avLst/>
          </a:prstGeom>
          <a:solidFill>
            <a:srgbClr val="D8CFC2"/>
          </a:solidFill>
          <a:ln/>
        </p:spPr>
      </p:sp>
      <p:sp>
        <p:nvSpPr>
          <p:cNvPr id="36" name="Text 34"/>
          <p:cNvSpPr/>
          <p:nvPr/>
        </p:nvSpPr>
        <p:spPr>
          <a:xfrm>
            <a:off x="4782051" y="2955655"/>
            <a:ext cx="746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$1215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782051" y="5806440"/>
            <a:ext cx="746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2031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827079" y="4777026"/>
            <a:ext cx="472092" cy="98369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9" name="Shape 37"/>
          <p:cNvSpPr/>
          <p:nvPr/>
        </p:nvSpPr>
        <p:spPr>
          <a:xfrm>
            <a:off x="5827079" y="3921919"/>
            <a:ext cx="472092" cy="855107"/>
          </a:xfrm>
          <a:prstGeom prst="rect">
            <a:avLst/>
          </a:prstGeom>
          <a:solidFill>
            <a:srgbClr val="D8CFC2"/>
          </a:solidFill>
          <a:ln/>
        </p:spPr>
      </p:sp>
      <p:sp>
        <p:nvSpPr>
          <p:cNvPr id="40" name="Text 38"/>
          <p:cNvSpPr/>
          <p:nvPr/>
        </p:nvSpPr>
        <p:spPr>
          <a:xfrm>
            <a:off x="5689919" y="3720751"/>
            <a:ext cx="746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$858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689919" y="5806440"/>
            <a:ext cx="746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2032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734948" y="4789884"/>
            <a:ext cx="472092" cy="97083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3" name="Text 41"/>
          <p:cNvSpPr/>
          <p:nvPr/>
        </p:nvSpPr>
        <p:spPr>
          <a:xfrm>
            <a:off x="6597788" y="4588716"/>
            <a:ext cx="746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$453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597788" y="5806440"/>
            <a:ext cx="746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2033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069848" y="6126480"/>
            <a:ext cx="164592" cy="11887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6" name="Text 44"/>
          <p:cNvSpPr/>
          <p:nvPr/>
        </p:nvSpPr>
        <p:spPr>
          <a:xfrm>
            <a:off x="1280160" y="6062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사업 본연 (ex-AMPC EBITDA)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767328" y="6126480"/>
            <a:ext cx="164592" cy="118872"/>
          </a:xfrm>
          <a:prstGeom prst="rect">
            <a:avLst/>
          </a:prstGeom>
          <a:solidFill>
            <a:srgbClr val="D8CFC2"/>
          </a:solidFill>
          <a:ln/>
        </p:spPr>
      </p:sp>
      <p:sp>
        <p:nvSpPr>
          <p:cNvPr id="48" name="Text 46"/>
          <p:cNvSpPr/>
          <p:nvPr/>
        </p:nvSpPr>
        <p:spPr>
          <a:xfrm>
            <a:off x="3977640" y="6062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AMPC 45X (2033 소멸)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744968" y="17830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744968" y="2103120"/>
            <a:ext cx="23774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44968" y="2103120"/>
            <a:ext cx="45720" cy="11430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2" name="Text 50"/>
          <p:cNvSpPr/>
          <p:nvPr/>
        </p:nvSpPr>
        <p:spPr>
          <a:xfrm>
            <a:off x="7927848" y="22311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76%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7927848" y="27066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2029년 EBITDA 중 AMPC 비중 — 정책 의존 정점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744968" y="3401568"/>
            <a:ext cx="23774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44968" y="3401568"/>
            <a:ext cx="45720" cy="11430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6" name="Text 54"/>
          <p:cNvSpPr/>
          <p:nvPr/>
        </p:nvSpPr>
        <p:spPr>
          <a:xfrm>
            <a:off x="7927848" y="35295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$453mm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7927848" y="4005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2033 AMPC 소멸 후에도 사업 본연 EBITDA 유지(마진 9%)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44968" y="4700016"/>
            <a:ext cx="23774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44968" y="4700016"/>
            <a:ext cx="45720" cy="11430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0" name="Text 58"/>
          <p:cNvSpPr/>
          <p:nvPr/>
        </p:nvSpPr>
        <p:spPr>
          <a:xfrm>
            <a:off x="7927848" y="4828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8–11x</a:t>
            </a:r>
            <a:endParaRPr lang="en-US" sz="2600" dirty="0"/>
          </a:p>
        </p:txBody>
      </p:sp>
      <p:sp>
        <p:nvSpPr>
          <p:cNvPr id="61" name="Text 59"/>
          <p:cNvSpPr/>
          <p:nvPr/>
        </p:nvSpPr>
        <p:spPr>
          <a:xfrm>
            <a:off x="7927848" y="5303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ex-AMPC EBITDA 멀티플이 DCF $3.5bn과 수렴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66928" y="7141464"/>
            <a:ext cx="9555480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6928" y="7178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Project [ ● ]  ·  Strictly Private &amp; Confidential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515868" y="71780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DRAFT — FOR DISCUSSION ONLY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8750808" y="7178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COMPARABLE COMPANIES — TRADING MULTIPLES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07608" y="4754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 Innovation · IR  / 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71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배터리 셀 &amp; ESS Peer — 트레이딩 멀티플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79208" y="932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시장데이터 2026.6 · indicative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26464"/>
            <a:ext cx="9555480" cy="0"/>
          </a:xfrm>
          <a:prstGeom prst="line">
            <a:avLst/>
          </a:prstGeom>
          <a:noFill/>
          <a:ln w="19050">
            <a:solidFill>
              <a:srgbClr val="1B17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783080"/>
            <a:ext cx="9555480" cy="0"/>
          </a:xfrm>
          <a:prstGeom prst="line">
            <a:avLst/>
          </a:prstGeom>
          <a:noFill/>
          <a:ln w="19050">
            <a:solidFill>
              <a:srgbClr val="1B17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82880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Company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64608" y="18288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EV/Rev '26E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56248" y="18288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EV/EBITDA '26E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385048" y="18288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P/B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2194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— 대형 셀 제조사 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250545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LG Energy Solution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64608" y="25054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3.8x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56248" y="250545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11x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85048" y="250545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2.4x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2907792"/>
            <a:ext cx="9555480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9260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Samsung SDI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64608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1.6x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56248" y="2926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8.6x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85048" y="29260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1.1x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3328416"/>
            <a:ext cx="9555480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3467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CATL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64608" y="33467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3.0x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56248" y="334670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13x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85048" y="334670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4.6x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3749040"/>
            <a:ext cx="9555480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767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— 미국/ESS 시스템·첨단셀 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8368" y="407822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Fluence Energy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64608" y="40782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1.2x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56248" y="407822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37x*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85048" y="407822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5.1x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4480560"/>
            <a:ext cx="9555480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44988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Tesla — Energy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64608" y="4498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≈2.0x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556248" y="44988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≈8x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385048" y="44988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6928" y="4901184"/>
            <a:ext cx="9555480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49194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EVE Energy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64608" y="49194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2.0x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556248" y="49194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13x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385048" y="49194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3.0x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66928" y="5321808"/>
            <a:ext cx="9555480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" y="534009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PEER MEDIAN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64608" y="53400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2.0x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556248" y="53400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8–13x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385048" y="534009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3.0x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66928" y="5742432"/>
            <a:ext cx="9555480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6928" y="5897880"/>
            <a:ext cx="9555480" cy="384048"/>
          </a:xfrm>
          <a:prstGeom prst="rect">
            <a:avLst/>
          </a:prstGeom>
          <a:solidFill>
            <a:srgbClr val="1B1714"/>
          </a:solidFill>
          <a:ln/>
        </p:spPr>
      </p:sp>
      <p:sp>
        <p:nvSpPr>
          <p:cNvPr id="50" name="Text 48"/>
          <p:cNvSpPr/>
          <p:nvPr/>
        </p:nvSpPr>
        <p:spPr>
          <a:xfrm>
            <a:off x="704088" y="58978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우리 회사 적용 — EV/EBITDA ex-AMPC (fwd)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367528" y="589788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CF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Fwd EBITDA ex-AMPC $350M(2029E) / run-rate $441M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66928" y="6281928"/>
            <a:ext cx="238887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6656" y="6327648"/>
            <a:ext cx="21694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8x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76656" y="6537960"/>
            <a:ext cx="2169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$2.8bn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2955798" y="6281928"/>
            <a:ext cx="238887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65526" y="6327648"/>
            <a:ext cx="21694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11x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065526" y="6537960"/>
            <a:ext cx="2169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$3.9bn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344668" y="6281928"/>
            <a:ext cx="238887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54396" y="6327648"/>
            <a:ext cx="21694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14x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454396" y="6537960"/>
            <a:ext cx="2169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$4.9bn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733538" y="6281928"/>
            <a:ext cx="2388870" cy="566928"/>
          </a:xfrm>
          <a:prstGeom prst="rect">
            <a:avLst/>
          </a:prstGeom>
          <a:solidFill>
            <a:srgbClr val="F2ECE0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43266" y="6327648"/>
            <a:ext cx="21694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DCF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843266" y="6537960"/>
            <a:ext cx="2169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$3.5bn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566928" y="695858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847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* Fluence n.m. 제외 · peer EBITDA에도 AMPC 포함 → 보수적 비교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66928" y="7141464"/>
            <a:ext cx="9555480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6928" y="7178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Project [ ● ]  ·  Strictly Private &amp; Confidential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3515868" y="71780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DRAFT — FOR DISCUSSION ONLY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8750808" y="7178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DCF &amp; PROJECTION ASSUMPTIONS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07608" y="4754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 Innovation · IR  / 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71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주요 DCF · 프로젝션 가정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79208" y="932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Base case · ★ 미검증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26464"/>
            <a:ext cx="9555480" cy="0"/>
          </a:xfrm>
          <a:prstGeom prst="line">
            <a:avLst/>
          </a:prstGeom>
          <a:noFill/>
          <a:ln w="19050">
            <a:solidFill>
              <a:srgbClr val="1B17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783080"/>
            <a:ext cx="45491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운영 · 매출 가정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2103120"/>
            <a:ext cx="25020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제품/시장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86584" y="2103120"/>
            <a:ext cx="27294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LFP DC블록 · ESS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432304"/>
            <a:ext cx="4549140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468880"/>
            <a:ext cx="25020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DC블록 ASP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86584" y="2468880"/>
            <a:ext cx="27294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$155 /kWh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798064"/>
            <a:ext cx="4549140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834640"/>
            <a:ext cx="25020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ex-AMPC EBITDA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86584" y="2834640"/>
            <a:ext cx="27294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9.0%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163824"/>
            <a:ext cx="4549140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200400"/>
            <a:ext cx="25020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AMPC 단가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86584" y="3200400"/>
            <a:ext cx="27294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$45 → 0 ('33)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529584"/>
            <a:ext cx="4549140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566160"/>
            <a:ext cx="25020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명판 — SKBA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86584" y="3566160"/>
            <a:ext cx="27294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21.2 GWh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3895344"/>
            <a:ext cx="4549140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931920"/>
            <a:ext cx="25020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명판 — SKOT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86584" y="3931920"/>
            <a:ext cx="27294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29.7 GWh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261104"/>
            <a:ext cx="4549140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297680"/>
            <a:ext cx="25020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개조 capex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86584" y="4297680"/>
            <a:ext cx="27294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$1.4 bn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4626864"/>
            <a:ext cx="4549140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3268" y="1783080"/>
            <a:ext cx="45491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DCF 핵심 파라미터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73268" y="2103120"/>
            <a:ext cx="2274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예측기간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65467" y="2103120"/>
            <a:ext cx="29569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2026–2035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73268" y="2414016"/>
            <a:ext cx="4549140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3268" y="2450592"/>
            <a:ext cx="2274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WACC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65467" y="2450592"/>
            <a:ext cx="29569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9.0–12.0% (base 10.5%)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73268" y="2761488"/>
            <a:ext cx="4549140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3268" y="2798064"/>
            <a:ext cx="2274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TGR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65467" y="2798064"/>
            <a:ext cx="29569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2.0%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73268" y="3108960"/>
            <a:ext cx="4549140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3268" y="3145536"/>
            <a:ext cx="2274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Tax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65467" y="3145536"/>
            <a:ext cx="29569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23% (AMPC 비과세)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573268" y="3456432"/>
            <a:ext cx="4549140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3268" y="3493008"/>
            <a:ext cx="2274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SKBA NOL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65467" y="3493008"/>
            <a:ext cx="29569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$1.5 bn (TCJA 80%)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573268" y="3803904"/>
            <a:ext cx="4549140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3268" y="3840480"/>
            <a:ext cx="2274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순부채 (DOE)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165467" y="3840480"/>
            <a:ext cx="29569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$4.0 bn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573268" y="4151376"/>
            <a:ext cx="4549140" cy="0"/>
          </a:xfrm>
          <a:prstGeom prst="line">
            <a:avLst/>
          </a:prstGeom>
          <a:noFill/>
          <a:ln w="6350">
            <a:solidFill>
              <a:srgbClr val="ECE6D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73268" y="4233672"/>
            <a:ext cx="4549140" cy="420624"/>
          </a:xfrm>
          <a:prstGeom prst="rect">
            <a:avLst/>
          </a:prstGeom>
          <a:solidFill>
            <a:srgbClr val="1B1714"/>
          </a:solidFill>
          <a:ln/>
        </p:spPr>
      </p:sp>
      <p:sp>
        <p:nvSpPr>
          <p:cNvPr id="49" name="Text 47"/>
          <p:cNvSpPr/>
          <p:nvPr/>
        </p:nvSpPr>
        <p:spPr>
          <a:xfrm>
            <a:off x="5710428" y="4233672"/>
            <a:ext cx="27294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결론 EV (base)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847838" y="4233672"/>
            <a:ext cx="21374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≈ $3.5 bn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573268" y="4828032"/>
            <a:ext cx="45491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민감도 — EV($bn) · WACC × TGR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573268" y="5102352"/>
            <a:ext cx="1137285" cy="310896"/>
          </a:xfrm>
          <a:prstGeom prst="rect">
            <a:avLst/>
          </a:prstGeom>
          <a:solidFill>
            <a:srgbClr val="1B1714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3268" y="5102352"/>
            <a:ext cx="11372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WACC＼TGR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710553" y="5102352"/>
            <a:ext cx="1137285" cy="310896"/>
          </a:xfrm>
          <a:prstGeom prst="rect">
            <a:avLst/>
          </a:prstGeom>
          <a:solidFill>
            <a:srgbClr val="1B1714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10553" y="5102352"/>
            <a:ext cx="11372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1.5%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847838" y="5102352"/>
            <a:ext cx="1137285" cy="310896"/>
          </a:xfrm>
          <a:prstGeom prst="rect">
            <a:avLst/>
          </a:prstGeom>
          <a:solidFill>
            <a:srgbClr val="1B1714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47838" y="5102352"/>
            <a:ext cx="11372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2.0%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985123" y="5102352"/>
            <a:ext cx="1137285" cy="310896"/>
          </a:xfrm>
          <a:prstGeom prst="rect">
            <a:avLst/>
          </a:prstGeom>
          <a:solidFill>
            <a:srgbClr val="1B1714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85123" y="5102352"/>
            <a:ext cx="11372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2.5%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573268" y="5413248"/>
            <a:ext cx="1137285" cy="310896"/>
          </a:xfrm>
          <a:prstGeom prst="rect">
            <a:avLst/>
          </a:prstGeom>
          <a:solidFill>
            <a:srgbClr val="F2ECE0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73268" y="5413248"/>
            <a:ext cx="11372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9.0%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710553" y="5413248"/>
            <a:ext cx="1137285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10553" y="5413248"/>
            <a:ext cx="11372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3.99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847838" y="5413248"/>
            <a:ext cx="1137285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847838" y="5413248"/>
            <a:ext cx="11372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4.11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985123" y="5413248"/>
            <a:ext cx="1137285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985123" y="5413248"/>
            <a:ext cx="11372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4.24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573268" y="5724144"/>
            <a:ext cx="1137285" cy="310896"/>
          </a:xfrm>
          <a:prstGeom prst="rect">
            <a:avLst/>
          </a:prstGeom>
          <a:solidFill>
            <a:srgbClr val="F2ECE0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573268" y="5724144"/>
            <a:ext cx="11372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10.5%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710553" y="5724144"/>
            <a:ext cx="1137285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10553" y="5724144"/>
            <a:ext cx="11372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3.38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847838" y="5724144"/>
            <a:ext cx="1137285" cy="310896"/>
          </a:xfrm>
          <a:prstGeom prst="rect">
            <a:avLst/>
          </a:prstGeom>
          <a:solidFill>
            <a:srgbClr val="F2DCDE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847838" y="5724144"/>
            <a:ext cx="11372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3.45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8985123" y="5724144"/>
            <a:ext cx="1137285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985123" y="5724144"/>
            <a:ext cx="11372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3.53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5573268" y="6035040"/>
            <a:ext cx="1137285" cy="310896"/>
          </a:xfrm>
          <a:prstGeom prst="rect">
            <a:avLst/>
          </a:prstGeom>
          <a:solidFill>
            <a:srgbClr val="F2ECE0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573268" y="6035040"/>
            <a:ext cx="11372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12.0%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710553" y="6035040"/>
            <a:ext cx="1137285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710553" y="6035040"/>
            <a:ext cx="11372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2.92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7847838" y="6035040"/>
            <a:ext cx="1137285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847838" y="6035040"/>
            <a:ext cx="11372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2.97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8985123" y="6035040"/>
            <a:ext cx="1137285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985123" y="6035040"/>
            <a:ext cx="11372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3.02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566928" y="695858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SKBA NOL $1.5bn(누적결손) 반영 → 초기 세금 절감으로 EV +$0.3bn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566928" y="7141464"/>
            <a:ext cx="9555480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66928" y="7178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Project [ ● ]  ·  Strictly Private &amp; Confidential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3515868" y="71780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DRAFT — FOR DISCUSSION ONLY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8750808" y="7178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FINANCING — CRUCIBLE BENCHMARK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07608" y="4754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 Innovation · IR  / 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71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고려아연 Crucible 대비 — 차용 vs 차별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79208" y="932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정부 JV · 제3자배정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26464"/>
            <a:ext cx="9555480" cy="0"/>
          </a:xfrm>
          <a:prstGeom prst="line">
            <a:avLst/>
          </a:prstGeom>
          <a:noFill/>
          <a:ln w="19050">
            <a:solidFill>
              <a:srgbClr val="1B17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783080"/>
            <a:ext cx="4594860" cy="365760"/>
          </a:xfrm>
          <a:prstGeom prst="rect">
            <a:avLst/>
          </a:prstGeom>
          <a:solidFill>
            <a:srgbClr val="1B1714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783080"/>
            <a:ext cx="4320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✓ 차용한 골격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286000"/>
            <a:ext cx="45948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377440"/>
            <a:ext cx="4320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정부 앵커 우선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2670048"/>
            <a:ext cx="43205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DoE/DoD/DFC로 FAST-41·FEOC·CFIUS 옵틱 정리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3264408"/>
            <a:ext cx="45948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3355848"/>
            <a:ext cx="4320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정부·SI 90%+ 부담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" y="3648456"/>
            <a:ext cx="43205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SK 잔여출자 → 재무안정성↑·운영주도권 유지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" y="4242816"/>
            <a:ext cx="45948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4334256"/>
            <a:ext cx="4320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HoldCo/SPV 다층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4088" y="4626864"/>
            <a:ext cx="43205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자금 성격별로 칸을 나눠 받는 골격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27548" y="1783080"/>
            <a:ext cx="4594860" cy="3657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9" name="Text 17"/>
          <p:cNvSpPr/>
          <p:nvPr/>
        </p:nvSpPr>
        <p:spPr>
          <a:xfrm>
            <a:off x="5664708" y="1783080"/>
            <a:ext cx="4320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✗ 결정적으로 다른 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27548" y="2286000"/>
            <a:ext cx="4594860" cy="868680"/>
          </a:xfrm>
          <a:prstGeom prst="rect">
            <a:avLst/>
          </a:prstGeom>
          <a:solidFill>
            <a:srgbClr val="FBF3F2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4708" y="2377440"/>
            <a:ext cx="4320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제3자배정 위치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4708" y="2670048"/>
            <a:ext cx="43205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KZ: 모회사 10% → 거버넌스 반발 / SK: 자회사 ≤19.9%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27548" y="3264408"/>
            <a:ext cx="4594860" cy="868680"/>
          </a:xfrm>
          <a:prstGeom prst="rect">
            <a:avLst/>
          </a:prstGeom>
          <a:solidFill>
            <a:srgbClr val="FBF3F2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4708" y="3355848"/>
            <a:ext cx="4320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링펜싱 추가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4708" y="3648456"/>
            <a:ext cx="43205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KZ: 신설 격리불요 / SK: 공장2 DOE $4bn ring-fence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27548" y="4242816"/>
            <a:ext cx="4594860" cy="868680"/>
          </a:xfrm>
          <a:prstGeom prst="rect">
            <a:avLst/>
          </a:prstGeom>
          <a:solidFill>
            <a:srgbClr val="FBF3F2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4708" y="4334256"/>
            <a:ext cx="4320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보조금 성격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4708" y="4626864"/>
            <a:ext cx="43205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KZ: CHIPS 설비보조 직접출자 / SK: AMPC 생산세액 유동화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" y="6903720"/>
            <a:ext cx="955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요약: Crucible 골격(정부앵커+HoldCo+운영주도권)을 차용하되, 외국 의결권을 자회사 ≤19.9%로 한정 + 링펜싱 추가한 변형.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7141464"/>
            <a:ext cx="9555480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7178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Project [ ● ]  ·  Strictly Private &amp; Confidential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515868" y="71780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DRAFT — FOR DISCUSSION ONLY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750808" y="7178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RING-FENCING — CONTRACT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07608" y="4754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 Innovation · IR  /  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71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링펜싱 계약 스택 — 5개 층 + non-recourse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79208" y="932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SKOT 격리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26464"/>
            <a:ext cx="9555480" cy="0"/>
          </a:xfrm>
          <a:prstGeom prst="line">
            <a:avLst/>
          </a:prstGeom>
          <a:noFill/>
          <a:ln w="19050">
            <a:solidFill>
              <a:srgbClr val="1B17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874520"/>
            <a:ext cx="9555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020824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020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법인 분리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874520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Bankruptcy-remote SPV + 독립이사 → 모회사 일방 도산·자산이전 차단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624328"/>
            <a:ext cx="9555480" cy="658368"/>
          </a:xfrm>
          <a:prstGeom prst="rect">
            <a:avLst/>
          </a:prstGeom>
          <a:solidFill>
            <a:srgbClr val="F2ECE0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2770632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07008" y="262432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LLC 약정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262432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Separateness + Restricted Payments(DSCR 충족 후 배당) + Permitted Debt 한정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3374136"/>
            <a:ext cx="9555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35204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③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337413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자금조달 계약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10128" y="3374136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우선주/메자닌 무의결권(→CoC 회피) + 우선배당·청산우선권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4123944"/>
            <a:ext cx="9555480" cy="658368"/>
          </a:xfrm>
          <a:prstGeom prst="rect">
            <a:avLst/>
          </a:prstGeom>
          <a:solidFill>
            <a:srgbClr val="F2ECE0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④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07008" y="412394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채권자 간 약정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10128" y="4123944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Subordination + Waterfall(운영비→DOE→메자닌→SK) + Standstill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6928" y="4873752"/>
            <a:ext cx="9555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5020056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5020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⑤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07008" y="487375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담보계약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10128" y="4873752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45X AMPC 수취권리 담보·유동화 → 메자닌 상환재원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6928" y="5669280"/>
            <a:ext cx="9555480" cy="457200"/>
          </a:xfrm>
          <a:prstGeom prst="rect">
            <a:avLst/>
          </a:prstGeom>
          <a:solidFill>
            <a:srgbClr val="1B1714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5669280"/>
            <a:ext cx="918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관통 핵심 = Non-recourse:  </a:t>
            </a:r>
            <a:pPr indent="0" marL="0">
              <a:buNone/>
            </a:pPr>
            <a:r>
              <a:rPr lang="en-US" sz="100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채무는 SKOT SPV 자산에만 청구 · 모회사·타 SPV 무소구 — 격벽의 본질.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7141464"/>
            <a:ext cx="9555480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7178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Project [ ● ]  ·  Strictly Private &amp;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515868" y="71780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DRAFT — FOR DISCUSSION ONLY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750808" y="7178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FINANCING — OPTIMAL STRUCTURE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07608" y="4754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 Innovation · IR  / 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71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최적 구조 — HoldCo 우산 + 법인별 격벽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79208" y="932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waiver 전제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26464"/>
            <a:ext cx="9555480" cy="0"/>
          </a:xfrm>
          <a:prstGeom prst="line">
            <a:avLst/>
          </a:prstGeom>
          <a:noFill/>
          <a:ln w="19050">
            <a:solidFill>
              <a:srgbClr val="1B17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783080"/>
            <a:ext cx="45491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세 가지 구조 비교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2103120"/>
            <a:ext cx="45491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194560"/>
            <a:ext cx="4274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(A) 완전 분리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04088" y="2468880"/>
            <a:ext cx="4274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각자 조달·OT 격리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4088" y="2697480"/>
            <a:ext cx="42748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7A4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＋ </a:t>
            </a:r>
            <a:pPr indent="0" marL="0">
              <a:buNone/>
            </a:pPr>
            <a:r>
              <a:rPr lang="en-US" sz="85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전염 차단·waiver 불요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04088" y="2907792"/>
            <a:ext cx="42748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− </a:t>
            </a:r>
            <a:pPr indent="0" marL="0">
              <a:buNone/>
            </a:pPr>
            <a:r>
              <a:rPr lang="en-US" sz="8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OT 조달비↑·효율↓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6928" y="3264408"/>
            <a:ext cx="4549140" cy="1051560"/>
          </a:xfrm>
          <a:prstGeom prst="rect">
            <a:avLst/>
          </a:prstGeom>
          <a:solidFill>
            <a:srgbClr val="FBF3F2"/>
          </a:solidFill>
          <a:ln w="19050">
            <a:solidFill>
              <a:srgbClr val="C112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355848"/>
            <a:ext cx="4274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(B) 하이브리드 ★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4088" y="3630168"/>
            <a:ext cx="4274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HoldCo 통합 + SPV 격벽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4088" y="3858768"/>
            <a:ext cx="42748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7A4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＋ </a:t>
            </a:r>
            <a:pPr indent="0" marL="0">
              <a:buNone/>
            </a:pPr>
            <a:r>
              <a:rPr lang="en-US" sz="85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비용↓+격벽 유지 (최적)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04088" y="4069080"/>
            <a:ext cx="42748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− </a:t>
            </a:r>
            <a:pPr indent="0" marL="0">
              <a:buNone/>
            </a:pPr>
            <a:r>
              <a:rPr lang="en-US" sz="8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waiver 협상 필요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66928" y="4425696"/>
            <a:ext cx="45491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4517136"/>
            <a:ext cx="4274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(C) 완전 통합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04088" y="4791456"/>
            <a:ext cx="4274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Crucible형 단일 HoldCo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4088" y="5020056"/>
            <a:ext cx="42748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7A4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＋ </a:t>
            </a:r>
            <a:pPr indent="0" marL="0">
              <a:buNone/>
            </a:pPr>
            <a:r>
              <a:rPr lang="en-US" sz="85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자본효율 최고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04088" y="5230368"/>
            <a:ext cx="42748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− </a:t>
            </a:r>
            <a:pPr indent="0" marL="0">
              <a:buNone/>
            </a:pPr>
            <a:r>
              <a:rPr lang="en-US" sz="8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담보오염·전염·exit경직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573268" y="1783080"/>
            <a:ext cx="45491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waiver 받아도 분리 유지가 유리한 이유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573268" y="2103120"/>
            <a:ext cx="45491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3268" y="2103120"/>
            <a:ext cx="45720" cy="10515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6" name="Text 24"/>
          <p:cNvSpPr/>
          <p:nvPr/>
        </p:nvSpPr>
        <p:spPr>
          <a:xfrm>
            <a:off x="5756148" y="2221992"/>
            <a:ext cx="4183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 담보 오염 방지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56148" y="2606040"/>
            <a:ext cx="4183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DOE 담보는 OT에만 → BA는 DOE-clean → 조달 저렴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73268" y="3264408"/>
            <a:ext cx="45491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3268" y="3264408"/>
            <a:ext cx="45720" cy="10515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0" name="Text 28"/>
          <p:cNvSpPr/>
          <p:nvPr/>
        </p:nvSpPr>
        <p:spPr>
          <a:xfrm>
            <a:off x="5756148" y="3383280"/>
            <a:ext cx="4183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2. FEOC/AMPC 적격성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56148" y="3767328"/>
            <a:ext cx="4183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적격성은 법인별 판정 → 분리하면 각자 깨끗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73268" y="4425696"/>
            <a:ext cx="45491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73268" y="4425696"/>
            <a:ext cx="45720" cy="10515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4" name="Text 32"/>
          <p:cNvSpPr/>
          <p:nvPr/>
        </p:nvSpPr>
        <p:spPr>
          <a:xfrm>
            <a:off x="5756148" y="4544568"/>
            <a:ext cx="4183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3. Exit 유연성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56148" y="4928616"/>
            <a:ext cx="4183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BA만 매각/OT만 carve-out 가능 (옵션가치)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6928" y="6922008"/>
            <a:ext cx="955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waiver의 최적 용도 = 완전통합의 열쇠가 아니라, HoldCo→OT 비담보 후순위만 흘려보내는 분리 구조의 미세조정.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6928" y="7141464"/>
            <a:ext cx="9555480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7178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Project [ ● ]  ·  Strictly Private &amp; Confidential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515868" y="71780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DRAFT — FOR DISCUSSION ONLY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750808" y="7178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FINANCIAL PROJECTION — BY ENTITY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07608" y="4754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 Innovation · IR  /  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71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공장별 재무 프로젝션 — SKBA · SKOT · SK FCFE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79208" y="932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$mm · ex-AMPC 9%·NOL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26464"/>
            <a:ext cx="9555480" cy="0"/>
          </a:xfrm>
          <a:prstGeom prst="line">
            <a:avLst/>
          </a:prstGeom>
          <a:noFill/>
          <a:ln w="19050">
            <a:solidFill>
              <a:srgbClr val="1B17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828800"/>
            <a:ext cx="9555480" cy="310896"/>
          </a:xfrm>
          <a:prstGeom prst="rect">
            <a:avLst/>
          </a:prstGeom>
          <a:solidFill>
            <a:srgbClr val="1B1714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828800"/>
            <a:ext cx="9336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공장 1 — SKBA (조지아) · 파우치 21.2GWh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139696"/>
            <a:ext cx="9555480" cy="237744"/>
          </a:xfrm>
          <a:prstGeom prst="rect">
            <a:avLst/>
          </a:prstGeom>
          <a:solidFill>
            <a:srgbClr val="F2ECE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1396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($mm)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121408" y="213969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2027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64408" y="213969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2028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407408" y="213969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2029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550408" y="213969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2030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693408" y="213969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2031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836408" y="213969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2032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979408" y="213969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2033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66928" y="2377440"/>
            <a:ext cx="9555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CE6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377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매출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21408" y="23774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723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264408" y="23774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1643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407408" y="23774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1946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550408" y="23774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2177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693408" y="23774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2249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836408" y="23774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2244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979408" y="23774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2213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66928" y="2633472"/>
            <a:ext cx="9555480" cy="256032"/>
          </a:xfrm>
          <a:prstGeom prst="rect">
            <a:avLst/>
          </a:prstGeom>
          <a:solidFill>
            <a:srgbClr val="FBF9F5"/>
          </a:solidFill>
          <a:ln w="6350">
            <a:solidFill>
              <a:srgbClr val="ECE6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2633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EBIT (pre-AMPC)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121408" y="263347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47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264408" y="263347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122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407408" y="263347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148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550408" y="263347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169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693408" y="263347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175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836408" y="263347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174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979408" y="263347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171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66928" y="2889504"/>
            <a:ext cx="9555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CE6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28895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AMPC 45X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121408" y="28895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210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264408" y="28895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477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407408" y="28895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572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550408" y="28895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487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693408" y="28895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340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836408" y="28895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172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979408" y="28895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66928" y="3145536"/>
            <a:ext cx="9555480" cy="256032"/>
          </a:xfrm>
          <a:prstGeom prst="rect">
            <a:avLst/>
          </a:prstGeom>
          <a:solidFill>
            <a:srgbClr val="FBF9F5"/>
          </a:solidFill>
          <a:ln w="6350">
            <a:solidFill>
              <a:srgbClr val="ECE6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" y="31455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FCFF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121408" y="31455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(30)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264408" y="31455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394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407408" y="31455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638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550408" y="31455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576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693408" y="31455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456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836408" y="31455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299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8979408" y="31455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130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66928" y="3401568"/>
            <a:ext cx="9555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CE6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8368" y="3401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SKBA FCFE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121408" y="34015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(76)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264408" y="34015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348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407408" y="34015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593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550408" y="34015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530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693408" y="34015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410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836408" y="34015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254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8979408" y="34015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84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66928" y="3822192"/>
            <a:ext cx="9555480" cy="31089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4" name="Text 62"/>
          <p:cNvSpPr/>
          <p:nvPr/>
        </p:nvSpPr>
        <p:spPr>
          <a:xfrm>
            <a:off x="676656" y="3822192"/>
            <a:ext cx="9336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공장 2 — SKOT (테네시) · 각형+파우치 29.7GWh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66928" y="4133088"/>
            <a:ext cx="9555480" cy="237744"/>
          </a:xfrm>
          <a:prstGeom prst="rect">
            <a:avLst/>
          </a:prstGeom>
          <a:solidFill>
            <a:srgbClr val="F2ECE0"/>
          </a:solidFill>
          <a:ln/>
        </p:spPr>
      </p:sp>
      <p:sp>
        <p:nvSpPr>
          <p:cNvPr id="66" name="Text 64"/>
          <p:cNvSpPr/>
          <p:nvPr/>
        </p:nvSpPr>
        <p:spPr>
          <a:xfrm>
            <a:off x="658368" y="41330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($mm)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2121408" y="413308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2027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3264408" y="413308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2028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4407408" y="413308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2029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5550408" y="413308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2030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693408" y="413308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2031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7836408" y="413308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2032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8979408" y="413308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2033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66928" y="4370832"/>
            <a:ext cx="9555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CE6D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8368" y="43708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매출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2121408" y="43708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3264408" y="43708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1242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4407408" y="43708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1927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5550408" y="43708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2420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6693408" y="43708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2729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7836408" y="43708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2861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8979408" y="43708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2822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566928" y="4626864"/>
            <a:ext cx="9555480" cy="256032"/>
          </a:xfrm>
          <a:prstGeom prst="rect">
            <a:avLst/>
          </a:prstGeom>
          <a:solidFill>
            <a:srgbClr val="FBF9F5"/>
          </a:solidFill>
          <a:ln w="6350">
            <a:solidFill>
              <a:srgbClr val="ECE6D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8368" y="46268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EBIT (pre-AMPC)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2121408" y="46268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(47)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3264408" y="46268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45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4407408" y="46268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107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5550408" y="46268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151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6693408" y="46268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179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7836408" y="46268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191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8979408" y="46268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187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566928" y="4882896"/>
            <a:ext cx="9555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CE6D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58368" y="48828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AMPC 45X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2121408" y="488289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3264408" y="488289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374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4407408" y="488289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588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5550408" y="488289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561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6693408" y="488289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428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7836408" y="488289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227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8979408" y="488289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566928" y="5138928"/>
            <a:ext cx="9555480" cy="256032"/>
          </a:xfrm>
          <a:prstGeom prst="rect">
            <a:avLst/>
          </a:prstGeom>
          <a:solidFill>
            <a:srgbClr val="FBF9F5"/>
          </a:solidFill>
          <a:ln w="6350">
            <a:solidFill>
              <a:srgbClr val="ECE6D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58368" y="5138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FCFF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2121408" y="51389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(500)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3264408" y="51389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(40)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4407408" y="51389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582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5550408" y="51389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598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6693408" y="51389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504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7836408" y="51389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335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8979408" y="51389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132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566928" y="5394960"/>
            <a:ext cx="9555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CE6DC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58368" y="53949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SKOT FCFE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2121408" y="53949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(723)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3264408" y="53949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(262)</a:t>
            </a:r>
            <a:endParaRPr lang="en-US" sz="750" dirty="0"/>
          </a:p>
        </p:txBody>
      </p:sp>
      <p:sp>
        <p:nvSpPr>
          <p:cNvPr id="114" name="Text 112"/>
          <p:cNvSpPr/>
          <p:nvPr/>
        </p:nvSpPr>
        <p:spPr>
          <a:xfrm>
            <a:off x="4407408" y="53949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109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5550408" y="53949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142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6693408" y="53949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66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7836408" y="53949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(85)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8979408" y="53949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(21)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566928" y="5815584"/>
            <a:ext cx="9555480" cy="365760"/>
          </a:xfrm>
          <a:prstGeom prst="rect">
            <a:avLst/>
          </a:prstGeom>
          <a:solidFill>
            <a:srgbClr val="1B1714"/>
          </a:solidFill>
          <a:ln/>
        </p:spPr>
      </p:sp>
      <p:sp>
        <p:nvSpPr>
          <p:cNvPr id="120" name="Text 118"/>
          <p:cNvSpPr/>
          <p:nvPr/>
        </p:nvSpPr>
        <p:spPr>
          <a:xfrm>
            <a:off x="658368" y="58155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보통주(SK) FCFE 합계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2121408" y="581558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B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(798)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3264408" y="581558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86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4407408" y="581558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702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5550408" y="581558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673</a:t>
            </a:r>
            <a:endParaRPr lang="en-US" sz="900" dirty="0"/>
          </a:p>
        </p:txBody>
      </p:sp>
      <p:sp>
        <p:nvSpPr>
          <p:cNvPr id="125" name="Text 123"/>
          <p:cNvSpPr/>
          <p:nvPr/>
        </p:nvSpPr>
        <p:spPr>
          <a:xfrm>
            <a:off x="6693408" y="581558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477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7836408" y="581558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169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8979408" y="581558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63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566928" y="7141464"/>
            <a:ext cx="9555480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66928" y="7178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Project [ ● ]  ·  Strictly Private &amp; Confidential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3515868" y="71780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DRAFT — FOR DISCUSSION ONLY</a:t>
            </a:r>
            <a:endParaRPr lang="en-US" sz="750" dirty="0"/>
          </a:p>
        </p:txBody>
      </p:sp>
      <p:sp>
        <p:nvSpPr>
          <p:cNvPr id="131" name="Text 129"/>
          <p:cNvSpPr/>
          <p:nvPr/>
        </p:nvSpPr>
        <p:spPr>
          <a:xfrm>
            <a:off x="8750808" y="7178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MEZZANINE DSCR SENSITIVITY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07608" y="4754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 Innovation · IR  / 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71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메자닌 $1bn 유치 조건 — ex-AMPC EBITDA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79208" y="932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DSCR=CFADS÷상환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26464"/>
            <a:ext cx="9555480" cy="0"/>
          </a:xfrm>
          <a:prstGeom prst="line">
            <a:avLst/>
          </a:prstGeom>
          <a:noFill/>
          <a:ln w="19050">
            <a:solidFill>
              <a:srgbClr val="1B17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828800"/>
            <a:ext cx="9555480" cy="365760"/>
          </a:xfrm>
          <a:prstGeom prst="rect">
            <a:avLst/>
          </a:prstGeom>
          <a:solidFill>
            <a:srgbClr val="1B1714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828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ex-AMPC EBITDA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27248" y="18288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2029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15968" y="18288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2030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04688" y="18288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2031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93408" y="18288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2032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82128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판정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2194560"/>
            <a:ext cx="9555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5% (박리다매)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35808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1.36x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24528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1.38x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13248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1.13x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01968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0.70x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82128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✗ 미달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" y="2651760"/>
            <a:ext cx="9555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2651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35808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1.45x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24528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1.49x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13248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1.26x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01968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0.84x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82128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✗ 미달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" y="3108960"/>
            <a:ext cx="9555480" cy="457200"/>
          </a:xfrm>
          <a:prstGeom prst="rect">
            <a:avLst/>
          </a:prstGeom>
          <a:solidFill>
            <a:srgbClr val="FBF3F2"/>
          </a:solidFill>
          <a:ln w="19050">
            <a:solidFill>
              <a:srgbClr val="C112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3108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9% ★ 채택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035808" y="3108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1.53x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24528" y="3108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1.60x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13248" y="3108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1.39x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01968" y="3108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0.98x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882128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✓ 핵심3개년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3566160"/>
            <a:ext cx="9555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11%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035808" y="3566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1.61x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24528" y="3566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1.71x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13248" y="3566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1.52x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01968" y="3566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1.12x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882128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✓ 2032경계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4023360"/>
            <a:ext cx="9555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4023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13%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035808" y="4023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1.70x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224528" y="4023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1.82x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13248" y="4023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1.65x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601968" y="4023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1.26x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882128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✓ 거의전구간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66928" y="4480560"/>
            <a:ext cx="9555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6656" y="4480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15%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035808" y="4480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1.78x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224528" y="4480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1.92x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413248" y="4480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1.78x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601968" y="4480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1.40x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882128" y="4480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✓ 전구간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66928" y="5120640"/>
            <a:ext cx="4594860" cy="1188720"/>
          </a:xfrm>
          <a:prstGeom prst="rect">
            <a:avLst/>
          </a:prstGeom>
          <a:solidFill>
            <a:srgbClr val="F2ECE0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" y="5230368"/>
            <a:ext cx="42656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714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결론 — 9%가 현실적 타겟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31520" y="5577840"/>
            <a:ext cx="42656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핵심 3개년(2029~31) DSCR 1.39~1.60x 충족 · 2032는 만기단축/SK 흡수 · 5%→9%는 DC블록을 통합마진으로 판매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527548" y="5120640"/>
            <a:ext cx="4594860" cy="1188720"/>
          </a:xfrm>
          <a:prstGeom prst="rect">
            <a:avLst/>
          </a:prstGeom>
          <a:solidFill>
            <a:srgbClr val="1B1714"/>
          </a:solidFill>
          <a:ln/>
        </p:spPr>
      </p:sp>
      <p:sp>
        <p:nvSpPr>
          <p:cNvPr id="60" name="Text 58"/>
          <p:cNvSpPr/>
          <p:nvPr/>
        </p:nvSpPr>
        <p:spPr>
          <a:xfrm>
            <a:off x="5692140" y="5230368"/>
            <a:ext cx="42656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두 가지 해법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692140" y="5577840"/>
            <a:ext cx="42656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B9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방법1: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EBITDA 5% + 메자닌 $700mm 축소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9BD3A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방법2: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메자닌 $1bn + EBITDA 9% (채택)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66928" y="69951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EV 효과: ex-AMPC EBITDA 5%→9%로 DCF EV $1.83bn → $3.45bn(NOL 포함).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66928" y="7141464"/>
            <a:ext cx="9555480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6928" y="7178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Project [ ● ]  ·  Strictly Private &amp; Confidential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515868" y="71780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DRAFT — FOR DISCUSSION ONLY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8750808" y="7178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2026-06-23T22:52:43Z</dcterms:created>
  <dcterms:modified xsi:type="dcterms:W3CDTF">2026-06-23T22:52:43Z</dcterms:modified>
</cp:coreProperties>
</file>