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83096" y="548640"/>
            <a:ext cx="4023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C1121F">
                    <a:alpha val="6000"/>
                  </a:srgbClr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</a:t>
            </a:r>
            <a:endParaRPr lang="en-US" sz="34000" dirty="0"/>
          </a:p>
        </p:txBody>
      </p:sp>
      <p:sp>
        <p:nvSpPr>
          <p:cNvPr id="3" name="Shape 1"/>
          <p:cNvSpPr/>
          <p:nvPr/>
        </p:nvSpPr>
        <p:spPr>
          <a:xfrm>
            <a:off x="566928" y="566928"/>
            <a:ext cx="384048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4" name="Text 2"/>
          <p:cNvSpPr/>
          <p:nvPr/>
        </p:nvSpPr>
        <p:spPr>
          <a:xfrm>
            <a:off x="1024128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64808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FINANCING STRUCTURE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431596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FUNDING STRUCTURE v2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773168"/>
            <a:ext cx="8229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펀딩 구조</a:t>
            </a:r>
            <a:endParaRPr lang="en-US" sz="5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전면 개편(안)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566928" y="6464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보조금-우선 · OT 링펜스 유지 — 재무팀 의견 반영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6812280"/>
            <a:ext cx="9555480" cy="0"/>
          </a:xfrm>
          <a:prstGeom prst="line">
            <a:avLst/>
          </a:prstGeom>
          <a:noFill/>
          <a:ln w="12700">
            <a:solidFill>
              <a:srgbClr val="E4DE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6876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2026년 6월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64808" y="6876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Internal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CURRENT STATE &amp; RETROFIT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Innovation · IR  /  02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현황 &amp; 개조 소요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· OT 재무상태 → 개조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주요 재무상태 · KEY FINANCIALS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83664"/>
          <a:ext cx="50749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공장 1 — SKBA (조지아)</a:t>
                      </a:r>
                      <a:endParaRPr lang="en-US" sz="11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D8CFC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파우치 · 모회사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171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67712"/>
          <a:ext cx="5074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</a:tblGrid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명판 / 가동률(run-rate)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21.2 GWh / 85%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기존 차입 (단독)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~$5.0bn + SKI 보증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run-rate 매출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~$2.7bn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개조 ex-AMPC EBITDA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9% (목표)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기저 EBITDA (pre-SOP) ★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$0.2bn (2026~)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순자산 NAV ★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~$2.0bn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407408"/>
          <a:ext cx="50749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공장 2 — SKOT (테네시)</a:t>
                      </a:r>
                      <a:endParaRPr lang="en-US" sz="11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112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D8CFC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BA 완전자회사 100%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1121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791456"/>
          <a:ext cx="5074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</a:tblGrid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명판 / 가동률(run-rate)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29.7 GWh / 82%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기존 차입 (DOE)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$4.0bn ATVM (이자만)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run-rate 매출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~$3.5bn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ex-AMPC EBITDA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9% (목표)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순자산 NAV ★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~$3.0bn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6"/>
          <p:cNvSpPr/>
          <p:nvPr/>
        </p:nvSpPr>
        <p:spPr>
          <a:xfrm>
            <a:off x="6007608" y="16276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개조 금액 · RETROFIT CAPEX</a:t>
            </a:r>
            <a:endParaRPr lang="en-US" sz="850" dirty="0"/>
          </a:p>
        </p:txBody>
      </p:sp>
      <p:sp>
        <p:nvSpPr>
          <p:cNvPr id="13" name="Shape 7"/>
          <p:cNvSpPr/>
          <p:nvPr/>
        </p:nvSpPr>
        <p:spPr>
          <a:xfrm>
            <a:off x="6007608" y="1883664"/>
            <a:ext cx="4114800" cy="1371600"/>
          </a:xfrm>
          <a:prstGeom prst="roundRect">
            <a:avLst>
              <a:gd name="adj" fmla="val 4000"/>
            </a:avLst>
          </a:prstGeom>
          <a:solidFill>
            <a:srgbClr val="211C18"/>
          </a:solidFill>
          <a:ln/>
        </p:spPr>
      </p:sp>
      <p:sp>
        <p:nvSpPr>
          <p:cNvPr id="14" name="Text 8"/>
          <p:cNvSpPr/>
          <p:nvPr/>
        </p:nvSpPr>
        <p:spPr>
          <a:xfrm>
            <a:off x="6281928" y="20482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(개조)</a:t>
            </a:r>
            <a:endParaRPr lang="en-US" sz="1100" dirty="0"/>
          </a:p>
        </p:txBody>
      </p:sp>
      <p:sp>
        <p:nvSpPr>
          <p:cNvPr id="15" name="Text 9"/>
          <p:cNvSpPr/>
          <p:nvPr/>
        </p:nvSpPr>
        <p:spPr>
          <a:xfrm>
            <a:off x="8019288" y="20482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$0.4bn</a:t>
            </a:r>
            <a:endParaRPr lang="en-US" sz="2000" dirty="0"/>
          </a:p>
        </p:txBody>
      </p:sp>
      <p:sp>
        <p:nvSpPr>
          <p:cNvPr id="16" name="Text 10"/>
          <p:cNvSpPr/>
          <p:nvPr/>
        </p:nvSpPr>
        <p:spPr>
          <a:xfrm>
            <a:off x="6281928" y="24323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OT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8019288" y="24323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$1.0bn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6281928" y="2834640"/>
            <a:ext cx="3566160" cy="0"/>
          </a:xfrm>
          <a:prstGeom prst="line">
            <a:avLst/>
          </a:prstGeom>
          <a:noFill/>
          <a:ln w="9525">
            <a:solidFill>
              <a:srgbClr val="4A443D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6281928" y="29077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합계 소요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7836408" y="290779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8E8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$1.4bn</a:t>
            </a:r>
            <a:endParaRPr lang="en-US" sz="2400" dirty="0"/>
          </a:p>
        </p:txBody>
      </p:sp>
      <p:sp>
        <p:nvSpPr>
          <p:cNvPr id="21" name="Text 15"/>
          <p:cNvSpPr/>
          <p:nvPr/>
        </p:nvSpPr>
        <p:spPr>
          <a:xfrm>
            <a:off x="6007608" y="34564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기대 효과 · EXPECTED EFFECT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6007608" y="373075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●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6263640" y="3730752"/>
            <a:ext cx="3858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DC센터 수요 확보 → 가동률 85% (BA)·82% (OT) run-rate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6007608" y="413308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●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6263640" y="4133088"/>
            <a:ext cx="3858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run-rate ex-AMPC EBITDA $554mm (BA 241 + OT 313, 9% 마진)</a:t>
            </a:r>
            <a:endParaRPr lang="en-US" sz="1050" dirty="0"/>
          </a:p>
        </p:txBody>
      </p:sp>
      <p:sp>
        <p:nvSpPr>
          <p:cNvPr id="26" name="Text 20"/>
          <p:cNvSpPr/>
          <p:nvPr/>
        </p:nvSpPr>
        <p:spPr>
          <a:xfrm>
            <a:off x="6007608" y="453542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●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6263640" y="4535424"/>
            <a:ext cx="3858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DCF EV ≈ $5.0bn (가동률 상향 반영·pre-SOP 기저 $0.2bn 포함)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6007608" y="493776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●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6263640" y="4937760"/>
            <a:ext cx="3858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NAV(SOTP) ≈ $5.0bn ★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6007608" y="5486400"/>
            <a:ext cx="187452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007608" y="554126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총 명판</a:t>
            </a:r>
            <a:endParaRPr lang="en-US" sz="1000" dirty="0"/>
          </a:p>
        </p:txBody>
      </p:sp>
      <p:sp>
        <p:nvSpPr>
          <p:cNvPr id="32" name="Text 26"/>
          <p:cNvSpPr/>
          <p:nvPr/>
        </p:nvSpPr>
        <p:spPr>
          <a:xfrm>
            <a:off x="6007608" y="57790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50.9</a:t>
            </a:r>
            <a:pPr indent="0" marL="0">
              <a:buNone/>
            </a:pPr>
            <a:r>
              <a:rPr lang="en-US" sz="1200" b="1" dirty="0">
                <a:solidFill>
                  <a:srgbClr val="1B171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GWh</a:t>
            </a:r>
            <a:endParaRPr lang="en-US" sz="2600" dirty="0"/>
          </a:p>
        </p:txBody>
      </p:sp>
      <p:sp>
        <p:nvSpPr>
          <p:cNvPr id="33" name="Shape 27"/>
          <p:cNvSpPr/>
          <p:nvPr/>
        </p:nvSpPr>
        <p:spPr>
          <a:xfrm>
            <a:off x="8247888" y="5486400"/>
            <a:ext cx="187452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8247888" y="554126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run-rate EBITDA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8247888" y="57790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7A4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554</a:t>
            </a:r>
            <a:pPr indent="0" marL="0">
              <a:buNone/>
            </a:pPr>
            <a:r>
              <a:rPr lang="en-US" sz="1200" b="1" dirty="0">
                <a:solidFill>
                  <a:srgbClr val="1E7A4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$mm</a:t>
            </a:r>
            <a:endParaRPr lang="en-US" sz="2600" dirty="0"/>
          </a:p>
        </p:txBody>
      </p:sp>
      <p:sp>
        <p:nvSpPr>
          <p:cNvPr id="36" name="Shape 30"/>
          <p:cNvSpPr/>
          <p:nvPr/>
        </p:nvSpPr>
        <p:spPr>
          <a:xfrm>
            <a:off x="6007608" y="6419088"/>
            <a:ext cx="1874520" cy="0"/>
          </a:xfrm>
          <a:prstGeom prst="line">
            <a:avLst/>
          </a:prstGeom>
          <a:noFill/>
          <a:ln w="25400">
            <a:solidFill>
              <a:srgbClr val="C1121F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6007608" y="6473952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개조 소요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6007608" y="671169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1.4</a:t>
            </a:r>
            <a:pPr indent="0" marL="0">
              <a:buNone/>
            </a:pPr>
            <a:r>
              <a:rPr lang="en-US" sz="12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bn</a:t>
            </a:r>
            <a:endParaRPr lang="en-US" sz="2600" dirty="0"/>
          </a:p>
        </p:txBody>
      </p:sp>
      <p:sp>
        <p:nvSpPr>
          <p:cNvPr id="39" name="Shape 33"/>
          <p:cNvSpPr/>
          <p:nvPr/>
        </p:nvSpPr>
        <p:spPr>
          <a:xfrm>
            <a:off x="8247888" y="6419088"/>
            <a:ext cx="1874520" cy="0"/>
          </a:xfrm>
          <a:prstGeom prst="line">
            <a:avLst/>
          </a:prstGeom>
          <a:noFill/>
          <a:ln w="25400">
            <a:solidFill>
              <a:srgbClr val="C1121F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8247888" y="6473952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DCF EV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8247888" y="671169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5.0</a:t>
            </a:r>
            <a:pPr indent="0" marL="0">
              <a:buNone/>
            </a:pPr>
            <a:r>
              <a:rPr lang="en-US" sz="12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bn</a:t>
            </a:r>
            <a:endParaRPr lang="en-US" sz="2600" dirty="0"/>
          </a:p>
        </p:txBody>
      </p:sp>
      <p:sp>
        <p:nvSpPr>
          <p:cNvPr id="42" name="Shape 36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44" name="Text 38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FUNDING PROPOSAL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Innovation · IR  /  03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펀딩 제안 — BA 중심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지분구조 · 캐시 플로우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지분구조 &amp; 캐시 플로우 · STRUCTURE &amp; CASH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315968" y="1883664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4A443D"/>
          </a:solidFill>
          <a:ln/>
        </p:spPr>
      </p:sp>
      <p:sp>
        <p:nvSpPr>
          <p:cNvPr id="9" name="Text 7"/>
          <p:cNvSpPr/>
          <p:nvPr/>
        </p:nvSpPr>
        <p:spPr>
          <a:xfrm>
            <a:off x="4315968" y="1938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SK이노베이션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15968" y="219456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최상위 모회사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84648" y="250545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▼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96128" y="250545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15968" y="2761488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5E5346"/>
          </a:solidFill>
          <a:ln/>
        </p:spPr>
      </p:sp>
      <p:sp>
        <p:nvSpPr>
          <p:cNvPr id="14" name="Text 12"/>
          <p:cNvSpPr/>
          <p:nvPr/>
        </p:nvSpPr>
        <p:spPr>
          <a:xfrm>
            <a:off x="4315968" y="28163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SK온 (SK On)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15968" y="307238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배터리 중간지주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184648" y="33832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▼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96128" y="338328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315968" y="3749040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1B1714"/>
          </a:solidFill>
          <a:ln/>
        </p:spPr>
      </p:sp>
      <p:sp>
        <p:nvSpPr>
          <p:cNvPr id="19" name="Text 17"/>
          <p:cNvSpPr/>
          <p:nvPr/>
        </p:nvSpPr>
        <p:spPr>
          <a:xfrm>
            <a:off x="4315968" y="38039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— SKBA · 조달 주체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15968" y="4059936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총 $1.4bn 일괄 조달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252728" y="3566160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E8F3EC"/>
          </a:solidFill>
          <a:ln w="19050">
            <a:solidFill>
              <a:srgbClr val="1E7A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17320" y="356616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7A4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보조금 (10%)  </a:t>
            </a:r>
            <a:pPr indent="0" marL="0">
              <a:buNone/>
            </a:pPr>
            <a:r>
              <a:rPr lang="en-US" sz="95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$0.14bn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977640" y="356616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252728" y="4041648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417320" y="404164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비소구부채 (60%)  </a:t>
            </a:r>
            <a:pPr indent="0" marL="0">
              <a:buNone/>
            </a:pPr>
            <a:r>
              <a:rPr lang="en-US" sz="95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$0.85bn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977640" y="404164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84648" y="444398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▼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21408" y="444398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$1.0bn 증자 (equity-down)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315968" y="4773168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4315968" y="48280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OT — SKOT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315968" y="508406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완전자회사 100%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252728" y="4846320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17320" y="484632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기존 DOE ATVM  </a:t>
            </a:r>
            <a:pPr indent="0" marL="0">
              <a:buNone/>
            </a:pPr>
            <a:r>
              <a:rPr lang="en-US" sz="95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$4.0bn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977640" y="484632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6928" y="554126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조달 믹스 그랜트 10% · 지분 30% · 비소구부채 60% ($1.4bn) → 자체 $0.4bn + OT $1.0bn 증자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7196328" y="162763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제안 · PROPOSAL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196328" y="1883664"/>
            <a:ext cx="2926080" cy="1691640"/>
          </a:xfrm>
          <a:prstGeom prst="roundRect">
            <a:avLst>
              <a:gd name="adj" fmla="val 3243"/>
            </a:avLst>
          </a:prstGeom>
          <a:solidFill>
            <a:srgbClr val="FBF1EF"/>
          </a:solidFill>
          <a:ln w="19050">
            <a:solidFill>
              <a:srgbClr val="C1121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34072" y="20299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제안 ①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434072" y="22677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12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BA가 $1.4bn 일괄 조달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7434072" y="267004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OT는 DOE·CoC로 신규 차입이 어렵다 → BA가 전액 조달해 OT엔 $1.0bn 증자(equity-down). 자회사 자금주입의 가장 깨끗한 경로 — 신규 OT 부채·DSCR 불요.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196328" y="3712464"/>
            <a:ext cx="2926080" cy="1691640"/>
          </a:xfrm>
          <a:prstGeom prst="roundRect">
            <a:avLst>
              <a:gd name="adj" fmla="val 3243"/>
            </a:avLst>
          </a:prstGeom>
          <a:solidFill>
            <a:srgbClr val="FBF1EF"/>
          </a:solidFill>
          <a:ln w="19050">
            <a:solidFill>
              <a:srgbClr val="C1121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434072" y="38587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제안 ②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34072" y="40965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12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그랜트 극대화 요청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7434072" y="449884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개조비 $0.4bn을 정부 보조금(MESC·48C)으로 최대한. 무상환·무희석·무CoC → EBIT=0 자산에 깨끗한 자금.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66928" y="5943600"/>
            <a:ext cx="9555480" cy="658368"/>
          </a:xfrm>
          <a:prstGeom prst="roundRect">
            <a:avLst>
              <a:gd name="adj" fmla="val 6944"/>
            </a:avLst>
          </a:prstGeom>
          <a:solidFill>
            <a:srgbClr val="F2ECE0"/>
          </a:solidFill>
          <a:ln/>
        </p:spPr>
      </p:sp>
      <p:sp>
        <p:nvSpPr>
          <p:cNvPr id="46" name="Text 44"/>
          <p:cNvSpPr/>
          <p:nvPr/>
        </p:nvSpPr>
        <p:spPr>
          <a:xfrm>
            <a:off x="795528" y="5943600"/>
            <a:ext cx="9098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[결론] 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BA가 $1.4bn 일괄 조달 → 자체 $0.4bn + OT 증자 $1.0bn. 조달은 </a:t>
            </a:r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그랜트 최우선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, 부족분만 비소구부채·Equity. ($1.4bn이 BA에 집중 — 조달여력 확인 ★)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VALUATION — FUNDING SCENARIOS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Innovation · IR  /  04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지분 성립 조건 — 조달 시나리오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희석·그랜트 레버 → implied 멀티플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주요 가정 · KEY ASSUMPTIONS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66928" y="19019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DC블록 ASP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121408" y="190195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$155/kWh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2240280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26771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가동률 (run-rate) ★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21408" y="226771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85%/82% DC수요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6928" y="2606040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6334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SKBA 기저 EBITDA 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121408" y="263347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$0.2bn pre-SOP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2971800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299923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run-rate ex-AMPC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121408" y="299923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$554mm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" y="3337560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336499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신규 조달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121408" y="336499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$1.42bn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3703320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순차입금 (BA/OT)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21408" y="373075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$6.4bn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928" y="4069080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409651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peer EV/EBITDA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121408" y="409651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8~13x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66928" y="4434840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4517136"/>
            <a:ext cx="3200400" cy="1170432"/>
          </a:xfrm>
          <a:prstGeom prst="roundRect">
            <a:avLst>
              <a:gd name="adj" fmla="val 4688"/>
            </a:avLst>
          </a:prstGeom>
          <a:solidFill>
            <a:srgbClr val="211C18"/>
          </a:solidFill>
          <a:ln/>
        </p:spPr>
      </p:sp>
      <p:sp>
        <p:nvSpPr>
          <p:cNvPr id="30" name="Text 28"/>
          <p:cNvSpPr/>
          <p:nvPr/>
        </p:nvSpPr>
        <p:spPr>
          <a:xfrm>
            <a:off x="768096" y="4608576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역산 논리 · THE MECHANISM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68096" y="4846320"/>
            <a:ext cx="2834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최소지분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= 외부지분 ÷ 희석캡
</a:t>
            </a:r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최소EV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= 최소지분 + 순차입금
</a:t>
            </a:r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멀티플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= 최소EV ÷ run-rate EBITDA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133088" y="1627632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조달 시나리오 — implied min EV/EBITDA · SCENARIOS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33088" y="1901952"/>
          <a:ext cx="598932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658368"/>
                <a:gridCol w="658368"/>
                <a:gridCol w="868680"/>
                <a:gridCol w="777240"/>
                <a:gridCol w="786384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시나리오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그랜트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희석캡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최소 EV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멀티플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peer초과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BASE  (그랜트10/지분30)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$8.6bn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15.4x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+2.4x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① CoC 20% + 그랜트 20%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$7.8bn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14.1x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+1.1x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② CoC 해제 → 희석 30%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$7.8bn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14.1x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+1.1x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①+② 결합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$7.3bn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7A4D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13.3x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+0.3x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</a:tr>
            </a:tbl>
          </a:graphicData>
        </a:graphic>
      </p:graphicFrame>
      <p:sp>
        <p:nvSpPr>
          <p:cNvPr id="34" name="Text 31"/>
          <p:cNvSpPr/>
          <p:nvPr/>
        </p:nvSpPr>
        <p:spPr>
          <a:xfrm>
            <a:off x="4133088" y="4480560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peer 밴드 대비 위치 · 조달 레버는 갭을 좁힌다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4178808" y="5074920"/>
            <a:ext cx="5349240" cy="0"/>
          </a:xfrm>
          <a:prstGeom prst="line">
            <a:avLst/>
          </a:prstGeom>
          <a:noFill/>
          <a:ln w="38100">
            <a:solidFill>
              <a:srgbClr val="D8CFC2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178808" y="4992624"/>
            <a:ext cx="2971800" cy="164592"/>
          </a:xfrm>
          <a:prstGeom prst="rect">
            <a:avLst/>
          </a:prstGeom>
          <a:solidFill>
            <a:srgbClr val="E8F3EC"/>
          </a:solidFill>
          <a:ln w="9525">
            <a:solidFill>
              <a:srgbClr val="1E7A4D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178808" y="4764024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peer 8~13x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328916" y="4855464"/>
            <a:ext cx="1248156" cy="0"/>
          </a:xfrm>
          <a:prstGeom prst="line">
            <a:avLst/>
          </a:prstGeom>
          <a:noFill/>
          <a:ln w="15875">
            <a:solidFill>
              <a:srgbClr val="FF8E84"/>
            </a:solidFill>
            <a:prstDash val="solid"/>
            <a:headEnd type="none"/>
            <a:tailEnd type="triangle"/>
          </a:ln>
        </p:spPr>
      </p:sp>
      <p:sp>
        <p:nvSpPr>
          <p:cNvPr id="39" name="Text 36"/>
          <p:cNvSpPr/>
          <p:nvPr/>
        </p:nvSpPr>
        <p:spPr>
          <a:xfrm>
            <a:off x="7054596" y="4672584"/>
            <a:ext cx="17967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8E8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조달 레버 −2.1x</a:t>
            </a:r>
            <a:endParaRPr lang="en-US" sz="700" dirty="0"/>
          </a:p>
        </p:txBody>
      </p:sp>
      <p:sp>
        <p:nvSpPr>
          <p:cNvPr id="40" name="Shape 37"/>
          <p:cNvSpPr/>
          <p:nvPr/>
        </p:nvSpPr>
        <p:spPr>
          <a:xfrm>
            <a:off x="8531352" y="5029200"/>
            <a:ext cx="91440" cy="91440"/>
          </a:xfrm>
          <a:prstGeom prst="ellipse">
            <a:avLst/>
          </a:prstGeom>
          <a:solidFill>
            <a:srgbClr val="C1121F"/>
          </a:solidFill>
          <a:ln/>
        </p:spPr>
      </p:sp>
      <p:sp>
        <p:nvSpPr>
          <p:cNvPr id="41" name="Text 38"/>
          <p:cNvSpPr/>
          <p:nvPr/>
        </p:nvSpPr>
        <p:spPr>
          <a:xfrm>
            <a:off x="8119872" y="516636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BASE</a:t>
            </a:r>
            <a:endParaRPr lang="en-US" sz="750" dirty="0"/>
          </a:p>
        </p:txBody>
      </p:sp>
      <p:sp>
        <p:nvSpPr>
          <p:cNvPr id="42" name="Text 39"/>
          <p:cNvSpPr/>
          <p:nvPr/>
        </p:nvSpPr>
        <p:spPr>
          <a:xfrm>
            <a:off x="8119872" y="5056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15.4x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7758684" y="5029200"/>
            <a:ext cx="91440" cy="91440"/>
          </a:xfrm>
          <a:prstGeom prst="ellipse">
            <a:avLst/>
          </a:prstGeom>
          <a:solidFill>
            <a:srgbClr val="8A5A55"/>
          </a:solidFill>
          <a:ln/>
        </p:spPr>
      </p:sp>
      <p:sp>
        <p:nvSpPr>
          <p:cNvPr id="44" name="Text 41"/>
          <p:cNvSpPr/>
          <p:nvPr/>
        </p:nvSpPr>
        <p:spPr>
          <a:xfrm>
            <a:off x="7347204" y="516636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A5A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①·②</a:t>
            </a:r>
            <a:endParaRPr lang="en-US" sz="750" dirty="0"/>
          </a:p>
        </p:txBody>
      </p:sp>
      <p:sp>
        <p:nvSpPr>
          <p:cNvPr id="45" name="Text 42"/>
          <p:cNvSpPr/>
          <p:nvPr/>
        </p:nvSpPr>
        <p:spPr>
          <a:xfrm>
            <a:off x="7347204" y="5056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5A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14.1x</a:t>
            </a:r>
            <a:endParaRPr lang="en-US" sz="800" dirty="0"/>
          </a:p>
        </p:txBody>
      </p:sp>
      <p:sp>
        <p:nvSpPr>
          <p:cNvPr id="46" name="Shape 43"/>
          <p:cNvSpPr/>
          <p:nvPr/>
        </p:nvSpPr>
        <p:spPr>
          <a:xfrm>
            <a:off x="7283196" y="5029200"/>
            <a:ext cx="91440" cy="91440"/>
          </a:xfrm>
          <a:prstGeom prst="ellipse">
            <a:avLst/>
          </a:prstGeom>
          <a:solidFill>
            <a:srgbClr val="1E7A4D"/>
          </a:solidFill>
          <a:ln/>
        </p:spPr>
      </p:sp>
      <p:sp>
        <p:nvSpPr>
          <p:cNvPr id="47" name="Text 44"/>
          <p:cNvSpPr/>
          <p:nvPr/>
        </p:nvSpPr>
        <p:spPr>
          <a:xfrm>
            <a:off x="6871716" y="516636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①+②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6871716" y="5056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13.3x</a:t>
            </a:r>
            <a:endParaRPr lang="en-US" sz="800" dirty="0"/>
          </a:p>
        </p:txBody>
      </p:sp>
      <p:sp>
        <p:nvSpPr>
          <p:cNvPr id="49" name="Text 46"/>
          <p:cNvSpPr/>
          <p:nvPr/>
        </p:nvSpPr>
        <p:spPr>
          <a:xfrm>
            <a:off x="390448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8x</a:t>
            </a:r>
            <a:endParaRPr lang="en-US" sz="700" dirty="0"/>
          </a:p>
        </p:txBody>
      </p:sp>
      <p:sp>
        <p:nvSpPr>
          <p:cNvPr id="50" name="Text 47"/>
          <p:cNvSpPr/>
          <p:nvPr/>
        </p:nvSpPr>
        <p:spPr>
          <a:xfrm>
            <a:off x="568756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11x</a:t>
            </a:r>
            <a:endParaRPr lang="en-US" sz="700" dirty="0"/>
          </a:p>
        </p:txBody>
      </p:sp>
      <p:sp>
        <p:nvSpPr>
          <p:cNvPr id="51" name="Text 48"/>
          <p:cNvSpPr/>
          <p:nvPr/>
        </p:nvSpPr>
        <p:spPr>
          <a:xfrm>
            <a:off x="687628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13x</a:t>
            </a:r>
            <a:endParaRPr lang="en-US" sz="700" dirty="0"/>
          </a:p>
        </p:txBody>
      </p:sp>
      <p:sp>
        <p:nvSpPr>
          <p:cNvPr id="52" name="Text 49"/>
          <p:cNvSpPr/>
          <p:nvPr/>
        </p:nvSpPr>
        <p:spPr>
          <a:xfrm>
            <a:off x="806500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15x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925372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17x</a:t>
            </a:r>
            <a:endParaRPr lang="en-US" sz="700" dirty="0"/>
          </a:p>
        </p:txBody>
      </p:sp>
      <p:sp>
        <p:nvSpPr>
          <p:cNvPr id="54" name="Shape 51"/>
          <p:cNvSpPr/>
          <p:nvPr/>
        </p:nvSpPr>
        <p:spPr>
          <a:xfrm>
            <a:off x="566928" y="5797296"/>
            <a:ext cx="9555480" cy="1170432"/>
          </a:xfrm>
          <a:prstGeom prst="roundRect">
            <a:avLst>
              <a:gd name="adj" fmla="val 4688"/>
            </a:avLst>
          </a:prstGeom>
          <a:solidFill>
            <a:srgbClr val="211C18"/>
          </a:solidFill>
          <a:ln/>
        </p:spPr>
      </p:sp>
      <p:sp>
        <p:nvSpPr>
          <p:cNvPr id="55" name="Text 52"/>
          <p:cNvSpPr/>
          <p:nvPr/>
        </p:nvSpPr>
        <p:spPr>
          <a:xfrm>
            <a:off x="841248" y="5888736"/>
            <a:ext cx="9006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E8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결론 — 가동률 85%가 멀티플을 peer 상단까지 끌어내린다</a:t>
            </a:r>
            <a:endParaRPr lang="en-US" sz="1300" dirty="0"/>
          </a:p>
        </p:txBody>
      </p:sp>
      <p:sp>
        <p:nvSpPr>
          <p:cNvPr id="56" name="Text 53"/>
          <p:cNvSpPr/>
          <p:nvPr/>
        </p:nvSpPr>
        <p:spPr>
          <a:xfrm>
            <a:off x="841248" y="6199632"/>
            <a:ext cx="9006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DC센터 수요로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가동률 85%/82%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확보 시 run-rate ex-AMPC EBITDA가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$442→$554mm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로 올라 BASE 멀티플이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19.3x→15.4x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 여기에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그랜트 20%(①)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또는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CoC 해제 30% 희석(②)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은 각각 14.1x, 둘 다면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13.3x — peer 상단(13x)에 사실상 안착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(잔여 +0.3x). 남는 미세 갭은 마진(ex-AMPC EBITDA)이나 시장 프리미엄이 닫는다. ★ 순차입금 $6.4bn·부채비중 60% 고정</a:t>
            </a:r>
            <a:endParaRPr lang="en-US" sz="950" dirty="0"/>
          </a:p>
        </p:txBody>
      </p:sp>
      <p:sp>
        <p:nvSpPr>
          <p:cNvPr id="57" name="Shape 54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59" name="Text 56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CLOSING — GOVERNMENT ENGAGEMENT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Innovation · IR  /  05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커뮤니케이션 방식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재무 사전 정렬 우선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진행 순서 · ENGAGEMENT SEQUENCE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211C18"/>
          </a:solidFill>
          <a:ln w="19050">
            <a:solidFill>
              <a:srgbClr val="211C1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103120"/>
            <a:ext cx="384048" cy="384048"/>
          </a:xfrm>
          <a:prstGeom prst="ellipse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8638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내부 재무 사전 정렬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8638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ask·구조·레드라인 재무 합의 (선행)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2731770" y="226771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2437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43834" y="2103120"/>
            <a:ext cx="384048" cy="384048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16" name="Text 14"/>
          <p:cNvSpPr/>
          <p:nvPr/>
        </p:nvSpPr>
        <p:spPr>
          <a:xfrm>
            <a:off x="324383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4383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ask 확정 → 매칭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4383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요청 확정 후 카운터파트로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5189220" y="226771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182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01284" y="2103120"/>
            <a:ext cx="384048" cy="384048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22" name="Text 20"/>
          <p:cNvSpPr/>
          <p:nvPr/>
        </p:nvSpPr>
        <p:spPr>
          <a:xfrm>
            <a:off x="570128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70128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DOE 부서 미팅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70128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합의된 ask · 부서별 단일 메시지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7646670" y="226771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93927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58734" y="2103120"/>
            <a:ext cx="384048" cy="384048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28" name="Text 26"/>
          <p:cNvSpPr/>
          <p:nvPr/>
        </p:nvSpPr>
        <p:spPr>
          <a:xfrm>
            <a:off x="815873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15873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DOW(국방) 트랙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15873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방산·딥테크 별도 진행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566928" y="32918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ASK → DOE 카운터파트 매칭</a:t>
            </a:r>
            <a:endParaRPr lang="en-US" sz="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566160"/>
          <a:ext cx="49377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3832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보조금 (BA)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7A4D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MESC — 제조·공급망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대출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LPO (ATVM/Title 17) · OT 기존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Equity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1121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해당 부서 없음 — DOE 지분투자 ✗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방산 앵글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DOW (국방) 별도 트랙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3" name="Text 30"/>
          <p:cNvSpPr/>
          <p:nvPr/>
        </p:nvSpPr>
        <p:spPr>
          <a:xfrm>
            <a:off x="5961888" y="329184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레드라인 · RED LINES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961888" y="3566160"/>
            <a:ext cx="4160520" cy="1901952"/>
          </a:xfrm>
          <a:prstGeom prst="roundRect">
            <a:avLst>
              <a:gd name="adj" fmla="val 2885"/>
            </a:avLst>
          </a:prstGeom>
          <a:solidFill>
            <a:srgbClr val="211C18"/>
          </a:solidFill>
          <a:ln/>
        </p:spPr>
      </p:sp>
      <p:sp>
        <p:nvSpPr>
          <p:cNvPr id="35" name="Text 32"/>
          <p:cNvSpPr/>
          <p:nvPr/>
        </p:nvSpPr>
        <p:spPr>
          <a:xfrm>
            <a:off x="6199632" y="3694176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미팅 전 재무 합의 사항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6199632" y="4041648"/>
            <a:ext cx="3703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SK이노 보증 확대 금지
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BA 기존 covenant breach 금지
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CoC 20% 캡 유지
</a:t>
            </a:r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DOE Equity 기대 제외 (대출·보증만)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56692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6692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D+0 · 1~2주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56692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재무 사전 정렬 메모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302437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02437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D+2~3주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302437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ask 확정 · 부서 매칭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548182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48182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D+4~6주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548182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DOE 부서 미팅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93927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93927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D+8주~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793927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DOW·후속 협상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566928" y="6446520"/>
            <a:ext cx="9555480" cy="457200"/>
          </a:xfrm>
          <a:prstGeom prst="roundRect">
            <a:avLst>
              <a:gd name="adj" fmla="val 8000"/>
            </a:avLst>
          </a:prstGeom>
          <a:solidFill>
            <a:srgbClr val="F2ECE0"/>
          </a:solidFill>
          <a:ln/>
        </p:spPr>
      </p:sp>
      <p:sp>
        <p:nvSpPr>
          <p:cNvPr id="50" name="Text 47"/>
          <p:cNvSpPr/>
          <p:nvPr/>
        </p:nvSpPr>
        <p:spPr>
          <a:xfrm>
            <a:off x="795528" y="6446520"/>
            <a:ext cx="9098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[원칙]  </a:t>
            </a:r>
            <a:pPr indent="0" marL="0">
              <a:buNone/>
            </a:pPr>
            <a:r>
              <a:rPr lang="en-US" sz="9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부서 미팅 전, '무엇을 요청할지'를 재무와 먼저 확정한다 — 잘못된 부서에 잘못된 ask로 가는 것을 막는다.</a:t>
            </a:r>
            <a:endParaRPr lang="en-US" sz="950" dirty="0"/>
          </a:p>
        </p:txBody>
      </p:sp>
      <p:sp>
        <p:nvSpPr>
          <p:cNvPr id="51" name="Shape 48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53" name="Text 50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2026-07-01T03:30:42Z</dcterms:created>
  <dcterms:modified xsi:type="dcterms:W3CDTF">2026-07-01T03:30:42Z</dcterms:modified>
</cp:coreProperties>
</file>