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$554mm (BA 241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$1.2bn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$3.6bn (75%)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$4.8bn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75%가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554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4.8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$554mm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 보수 (실측 p.5)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9.1%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12.6x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현 9%에서 딜을 peer 상단(13x)에 맞추는 데 필요한 ex-AMPC 마진 · 8.7% ≤ 현 9%면 이미 충족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3343275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33432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254621" y="4855464"/>
            <a:ext cx="1872234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6888861" y="4672584"/>
            <a:ext cx="26037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−2.8x → 밴드 진입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9081135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669655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669655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15.4x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8211883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Text 48"/>
          <p:cNvSpPr/>
          <p:nvPr/>
        </p:nvSpPr>
        <p:spPr>
          <a:xfrm>
            <a:off x="7800403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7800403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14.1x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543228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4" name="Text 51"/>
          <p:cNvSpPr/>
          <p:nvPr/>
        </p:nvSpPr>
        <p:spPr>
          <a:xfrm>
            <a:off x="7131749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131749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13.1x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208901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7" name="Text 54"/>
          <p:cNvSpPr/>
          <p:nvPr/>
        </p:nvSpPr>
        <p:spPr>
          <a:xfrm>
            <a:off x="6797421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797421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12.6x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591045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724776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791641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14x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16x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5" name="Text 62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희석 캡을 49%까지 열면 밴드 안으로 들어온다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85%/82%로 run-rate EBITDA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→ BASE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15.4x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그랜트 20%나 희석 30%로 14.1x, 희석을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49%(③)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까지 열면 13.1x,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그랜트20+희석49 결합 시 12.6x — peer 밴드(8~13x) 진입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DCF는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10.5%·영구성장 2.0%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기준 EV $4.8bn(그중 AMPC PV $3.6bn·75%). OT SOP ′28 하반기. 단 49% 희석은 지배력 약화 트레이드오프 — 협상 상한으로만. ★ 순차입금 $6.4bn·부채비중 60% 고정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PEER MULTIPLES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Peer 멀티플 — 실측 + EBITDA 기준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forward EV/EBITDA · 2026.7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컴프스 (실측) · forward EV/EBITDA ★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4572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32588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회사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EV/EBITDA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비고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LG에너지솔루션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19x → 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26F / 27F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CATL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PE22·최고수익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삼성SDI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EBITDA 적자근접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Fluence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adjEBITDA$40~60M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정상화(mid-cycle)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13~15x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← 비교 기준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보수(장기) 가정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6960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floor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480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★ 현재 forward는 EV 다운사이클로 EBITDA 트로프 → 15~27x까지 상승(LGES 26x'25F), '27F 정상화 ~13~15x. peer EBITDA엔 자체 보조금 포함(우리 ex-AMPC=보수적). 출처: 증권사·stockanalysis·gurufocus '26.7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504688" y="16276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우리 멀티플 · EBITDA 기준별 (분모 민감도)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04688" y="1883664"/>
          <a:ext cx="4617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91440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EBITDA 기준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DCF 내재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역산 필요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(BASE→최대)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30~32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$554mm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8.7x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12.6~15.4x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2029E forward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$455mm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10.6x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15.3~18.8x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504688" y="3639312"/>
            <a:ext cx="4617720" cy="1024128"/>
          </a:xfrm>
          <a:prstGeom prst="roundRect">
            <a:avLst>
              <a:gd name="adj" fmla="val 5357"/>
            </a:avLst>
          </a:prstGeom>
          <a:solidFill>
            <a:srgbClr val="211C18"/>
          </a:solidFill>
          <a:ln/>
        </p:spPr>
      </p:sp>
      <p:sp>
        <p:nvSpPr>
          <p:cNvPr id="13" name="Text 9"/>
          <p:cNvSpPr/>
          <p:nvPr/>
        </p:nvSpPr>
        <p:spPr>
          <a:xfrm>
            <a:off x="5705856" y="3730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peer 13x 적용 · 내재 지분가치(−순차입 $6.4bn)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05856" y="3986784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$554mm  → EV $7.2bn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+$0.8bn
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$455mm  → EV $5.9bn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−$0.5bn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486460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풋볼필드 — 내재 EV ($bn) · run-rate $554mm 기준 · 보수/정상화 peer vs 역산 필요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" y="5486400"/>
            <a:ext cx="8641080" cy="0"/>
          </a:xfrm>
          <a:prstGeom prst="line">
            <a:avLst/>
          </a:prstGeom>
          <a:noFill/>
          <a:ln w="31750">
            <a:solidFill>
              <a:srgbClr val="D8CF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447221" y="5394960"/>
            <a:ext cx="4787158" cy="182880"/>
          </a:xfrm>
          <a:prstGeom prst="rect">
            <a:avLst/>
          </a:prstGeom>
          <a:solidFill>
            <a:srgbClr val="F2ECE0"/>
          </a:solidFill>
          <a:ln w="9525">
            <a:solidFill>
              <a:srgbClr val="D8CFC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447221" y="5605272"/>
            <a:ext cx="478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보수 8~13x  $4.4~7.2bn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234379" y="5394960"/>
            <a:ext cx="1918320" cy="182880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60059" y="5175504"/>
            <a:ext cx="27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13~15x  $7.2~8.3bn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854172" y="5212080"/>
            <a:ext cx="2678735" cy="0"/>
          </a:xfrm>
          <a:prstGeom prst="line">
            <a:avLst/>
          </a:prstGeom>
          <a:noFill/>
          <a:ln w="31750">
            <a:solidFill>
              <a:srgbClr val="C11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579852" y="5010912"/>
            <a:ext cx="3501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필요 12.6~15.4x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851806" y="5340096"/>
            <a:ext cx="0" cy="292608"/>
          </a:xfrm>
          <a:prstGeom prst="line">
            <a:avLst/>
          </a:prstGeom>
          <a:noFill/>
          <a:ln w="15875">
            <a:solidFill>
              <a:srgbClr val="1B1714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120286" y="5760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순차입 $6.4bn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100925" y="5431536"/>
            <a:ext cx="109728" cy="109728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26" name="Text 22"/>
          <p:cNvSpPr/>
          <p:nvPr/>
        </p:nvSpPr>
        <p:spPr>
          <a:xfrm>
            <a:off x="1378549" y="5175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DCF $4.8bn·8.7x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297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$4bn</a:t>
            </a:r>
            <a:endParaRPr lang="en-US" sz="650" dirty="0"/>
          </a:p>
        </p:txBody>
      </p:sp>
      <p:sp>
        <p:nvSpPr>
          <p:cNvPr id="28" name="Text 24"/>
          <p:cNvSpPr/>
          <p:nvPr/>
        </p:nvSpPr>
        <p:spPr>
          <a:xfrm>
            <a:off x="2157984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$5bn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3886200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$6bn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5614416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$7bn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7342632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$8bn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90708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$9bn</a:t>
            </a:r>
            <a:endParaRPr lang="en-US" sz="650" dirty="0"/>
          </a:p>
        </p:txBody>
      </p:sp>
      <p:sp>
        <p:nvSpPr>
          <p:cNvPr id="33" name="Shape 29"/>
          <p:cNvSpPr/>
          <p:nvPr/>
        </p:nvSpPr>
        <p:spPr>
          <a:xfrm>
            <a:off x="566928" y="6199632"/>
            <a:ext cx="9555480" cy="822960"/>
          </a:xfrm>
          <a:prstGeom prst="roundRect">
            <a:avLst>
              <a:gd name="adj" fmla="val 6667"/>
            </a:avLst>
          </a:prstGeom>
          <a:solidFill>
            <a:srgbClr val="F2ECE0"/>
          </a:solidFill>
          <a:ln/>
        </p:spPr>
      </p:sp>
      <p:sp>
        <p:nvSpPr>
          <p:cNvPr id="34" name="Text 30"/>
          <p:cNvSpPr/>
          <p:nvPr/>
        </p:nvSpPr>
        <p:spPr>
          <a:xfrm>
            <a:off x="795528" y="6199632"/>
            <a:ext cx="909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[핵심]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실측 peer는 현재 다운사이클로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15~27x(트로프)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정상화 ~13~15x(LGES '27F 15x·CATL ~13x). run-rate 역산 필요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12.6~15.4x는 정상화 peer와 거의 일치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(당초 "peer 상단 초과"는 8~13x 보수가정 탓). DCF 내재 8.7x는 오히려 할인. 단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분모를 2029E($455mm)로 당기면 필요멀티플 15.3~18.8x로 상승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— EBITDA 연도 기준이 결과를 좌우. peer는 자체보조금 포함(우리 ex-AMPC, 보수적).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완화 협상 (희석 30~49% 여지)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2026-07-01T11:19:45Z</dcterms:created>
  <dcterms:modified xsi:type="dcterms:W3CDTF">2026-07-01T11:19:45Z</dcterms:modified>
</cp:coreProperties>
</file>