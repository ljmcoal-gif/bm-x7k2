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가동(COD)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2027~28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(단독)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~$5.0bn + SKI 보증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~$2.2bn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완전자회사 100%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가동(COD)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2028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 ATVM (이자만)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307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3075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 $155/kWh 사업화 — 셀+모듈+컨테이너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1330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133088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pre-SOP 기저 $0.2bn(2026~) · run-rate ex-AMPC $442mm 유지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007608" y="45354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263640" y="453542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≈ $4.0bn (기저 조기현금 반영·밴드 $3.5~4.5bn)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6007608" y="49377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263640" y="493776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NAV(SOTP) ≈ $5.0bn ★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3" name="Shape 27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442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4.0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4" name="Text 38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ATVM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9019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121408" y="1901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24028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677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공급 셀 (개조 후)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21408" y="22677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파우치+각형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60604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334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21408" y="26334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9718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21408" y="29992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$442mm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33756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3649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21408" y="336499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7033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21408" y="3730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06908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0965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121408" y="40965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43484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517136"/>
            <a:ext cx="320040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460857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4846320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901952"/>
          <a:ext cx="59893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658368"/>
                <a:gridCol w="658368"/>
                <a:gridCol w="868680"/>
                <a:gridCol w="777240"/>
                <a:gridCol w="78638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peer초과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19.3x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+6.3x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17.7x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+4.7x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17.7x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+4.7x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①+② 결합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16.6x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+3.6x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34" name="Text 31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 대비 위치 · 조달 레버는 갭을 좁힌다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178808" y="4992624"/>
            <a:ext cx="2228850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178808" y="4764024"/>
            <a:ext cx="22288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8012430" y="4855464"/>
            <a:ext cx="1203579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7738110" y="4672584"/>
            <a:ext cx="175221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−2.7x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170289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1" name="Text 38"/>
          <p:cNvSpPr/>
          <p:nvPr/>
        </p:nvSpPr>
        <p:spPr>
          <a:xfrm>
            <a:off x="8758809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8758809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19.3x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8457057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44" name="Text 41"/>
          <p:cNvSpPr/>
          <p:nvPr/>
        </p:nvSpPr>
        <p:spPr>
          <a:xfrm>
            <a:off x="8045577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①·②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8045577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17.7x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966710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47" name="Text 44"/>
          <p:cNvSpPr/>
          <p:nvPr/>
        </p:nvSpPr>
        <p:spPr>
          <a:xfrm>
            <a:off x="7555230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①+②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7555230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16.6x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613333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747064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16x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20x</a:t>
            </a:r>
            <a:endParaRPr lang="en-US" sz="700" dirty="0"/>
          </a:p>
        </p:txBody>
      </p:sp>
      <p:sp>
        <p:nvSpPr>
          <p:cNvPr id="53" name="Shape 50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54" name="Text 51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조달 레버는 갭을 좁히지만, 밴드 진입은 마진이 결정한다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$442mm 유지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기준(기저 $0.2bn은 pre-SOP 조기현금·EV 방어용, run-rate 불변).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20%(①)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CoC 해제 30% 희석(②)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은 각각 implied 멀티플을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19.3x→17.7x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둘 다면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16.6x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낮춰 peer(8~13x)에 근접시키나 밴드까진 못 미친다. 잔여 갭(~3.6x)은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ex-AMPC EBITDA를 ~22%로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올리거나 시장이 프리미엄 멀티플을 줄 때 닫힌다. ★ 순차입금 $6.4bn·부채비중 60% 고정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LPO (ATVM/Title 17) · OT 기존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20% 캡 유지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2026-07-01T03:13:24Z</dcterms:created>
  <dcterms:modified xsi:type="dcterms:W3CDTF">2026-07-01T03:13:24Z</dcterms:modified>
</cp:coreProperties>
</file>