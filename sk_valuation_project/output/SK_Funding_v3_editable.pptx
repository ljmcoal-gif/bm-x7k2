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</p:sldIdLst>
  <p:notesMasterIdLst>
    <p:notesMasterId r:id="rId8"/>
  </p:notesMasterIdLst>
  <p:sldSz cx="10689336" cy="7562088"/>
  <p:notesSz cx="7562088" cy="10689336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notesMaster" Target="notesMasters/notesMaster1.xml"/><Relationship Id="rId9" Type="http://schemas.openxmlformats.org/officeDocument/2006/relationships/presProps" Target="presProps.xml"/><Relationship Id="rId10" Type="http://schemas.openxmlformats.org/officeDocument/2006/relationships/viewProps" Target="viewProps.xml"/><Relationship Id="rId11" Type="http://schemas.openxmlformats.org/officeDocument/2006/relationships/theme" Target="theme/theme1.xml"/><Relationship Id="rId1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BF9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83096" y="548640"/>
            <a:ext cx="4023360" cy="457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34000" b="1" dirty="0">
                <a:solidFill>
                  <a:srgbClr val="C1121F">
                    <a:alpha val="6000"/>
                  </a:srgbClr>
                </a:solidFill>
                <a:latin typeface="Noto Serif KR" pitchFamily="34" charset="0"/>
                <a:ea typeface="Noto Serif KR" pitchFamily="34" charset="-122"/>
                <a:cs typeface="Noto Serif KR" pitchFamily="34" charset="-120"/>
              </a:rPr>
              <a:t>F</a:t>
            </a:r>
            <a:endParaRPr lang="en-US" sz="34000" dirty="0"/>
          </a:p>
        </p:txBody>
      </p:sp>
      <p:sp>
        <p:nvSpPr>
          <p:cNvPr id="3" name="Shape 1"/>
          <p:cNvSpPr/>
          <p:nvPr/>
        </p:nvSpPr>
        <p:spPr>
          <a:xfrm>
            <a:off x="566928" y="566928"/>
            <a:ext cx="384048" cy="54864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4" name="Text 2"/>
          <p:cNvSpPr/>
          <p:nvPr/>
        </p:nvSpPr>
        <p:spPr>
          <a:xfrm>
            <a:off x="1024128" y="45720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1714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SK 전략팀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6464808" y="45720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spc="300" kern="0" dirty="0">
                <a:solidFill>
                  <a:srgbClr val="9A847C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FINANCING STRUCTURE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566928" y="4315968"/>
            <a:ext cx="7315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spc="400" kern="0" dirty="0">
                <a:solidFill>
                  <a:srgbClr val="C1121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FUNDING STRUCTURE v2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548640" y="4773168"/>
            <a:ext cx="8229600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5400" b="1" dirty="0">
                <a:solidFill>
                  <a:srgbClr val="1B1714"/>
                </a:solidFill>
                <a:latin typeface="Noto Serif KR" pitchFamily="34" charset="0"/>
                <a:ea typeface="Noto Serif KR" pitchFamily="34" charset="-122"/>
                <a:cs typeface="Noto Serif KR" pitchFamily="34" charset="-120"/>
              </a:rPr>
              <a:t>펀딩 구조</a:t>
            </a:r>
            <a:endParaRPr lang="en-US" sz="5400" dirty="0"/>
          </a:p>
          <a:p>
            <a:pPr indent="0" marL="0">
              <a:lnSpc>
                <a:spcPct val="102000"/>
              </a:lnSpc>
              <a:buNone/>
            </a:pPr>
            <a:r>
              <a:rPr lang="en-US" sz="5400" b="1" dirty="0">
                <a:solidFill>
                  <a:srgbClr val="1B1714"/>
                </a:solidFill>
                <a:latin typeface="Noto Serif KR" pitchFamily="34" charset="0"/>
                <a:ea typeface="Noto Serif KR" pitchFamily="34" charset="-122"/>
                <a:cs typeface="Noto Serif KR" pitchFamily="34" charset="-120"/>
              </a:rPr>
              <a:t>전면 개편(안)</a:t>
            </a:r>
            <a:endParaRPr lang="en-US" sz="5400" dirty="0"/>
          </a:p>
        </p:txBody>
      </p:sp>
      <p:sp>
        <p:nvSpPr>
          <p:cNvPr id="8" name="Text 6"/>
          <p:cNvSpPr/>
          <p:nvPr/>
        </p:nvSpPr>
        <p:spPr>
          <a:xfrm>
            <a:off x="566928" y="64648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F6960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BA 보조금-우선 · OT 링펜스 유지 — 재무팀 의견 반영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566928" y="6812280"/>
            <a:ext cx="9555480" cy="0"/>
          </a:xfrm>
          <a:prstGeom prst="line">
            <a:avLst/>
          </a:prstGeom>
          <a:noFill/>
          <a:ln w="12700">
            <a:solidFill>
              <a:srgbClr val="E4DED4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66928" y="6876288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F6960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2026년 6월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6464808" y="6876288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F6960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SK 전략팀 · Internal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BF9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75488"/>
            <a:ext cx="6858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200" kern="0" dirty="0">
                <a:solidFill>
                  <a:srgbClr val="C1121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CURRENT STATE &amp; RETROFIT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6007608" y="475488"/>
            <a:ext cx="4114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150" kern="0" dirty="0">
                <a:solidFill>
                  <a:srgbClr val="9A847C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SK 전략팀 · Confidential  /  02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566928" y="786384"/>
            <a:ext cx="7178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1714"/>
                </a:solidFill>
                <a:latin typeface="Noto Serif KR" pitchFamily="34" charset="0"/>
                <a:ea typeface="Noto Serif KR" pitchFamily="34" charset="-122"/>
                <a:cs typeface="Noto Serif KR" pitchFamily="34" charset="-120"/>
              </a:rPr>
              <a:t>현황 &amp; 개조 소요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7379208" y="932688"/>
            <a:ext cx="2743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r" indent="0" marL="0">
              <a:buNone/>
            </a:pPr>
            <a:r>
              <a:rPr lang="en-US" sz="950" dirty="0">
                <a:solidFill>
                  <a:srgbClr val="6F6960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BA · OT 재무상태 → 개조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566928" y="1426464"/>
            <a:ext cx="9555480" cy="0"/>
          </a:xfrm>
          <a:prstGeom prst="line">
            <a:avLst/>
          </a:prstGeom>
          <a:noFill/>
          <a:ln w="19050">
            <a:solidFill>
              <a:srgbClr val="1B1714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66928" y="1627632"/>
            <a:ext cx="5074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150" kern="0" dirty="0">
                <a:solidFill>
                  <a:srgbClr val="9A847C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주요 재무상태 · KEY FINANCIALS</a:t>
            </a:r>
            <a:endParaRPr lang="en-US" sz="85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1883664"/>
          <a:ext cx="5074920" cy="914400"/>
        </p:xfrm>
        <a:graphic>
          <a:graphicData uri="http://schemas.openxmlformats.org/drawingml/2006/table">
            <a:tbl>
              <a:tblPr/>
              <a:tblGrid>
                <a:gridCol w="3200400"/>
                <a:gridCol w="1874520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IBM Plex Sans KR" pitchFamily="34" charset="0"/>
                          <a:ea typeface="IBM Plex Sans KR" pitchFamily="34" charset="-122"/>
                          <a:cs typeface="IBM Plex Sans KR" pitchFamily="34" charset="-120"/>
                        </a:rPr>
                        <a:t>공장 1 — SKBA (조지아)</a:t>
                      </a:r>
                      <a:endParaRPr lang="en-US" sz="1100" dirty="0">
                        <a:latin typeface="IBM Plex Sans KR" charset="0"/>
                        <a:ea typeface="IBM Plex Sans KR" charset="0"/>
                        <a:cs typeface="IBM Plex Sans KR" charset="0"/>
                      </a:endParaRPr>
                    </a:p>
                  </a:txBody>
                  <a:tcPr marL="101600" marR="1016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B1714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D8CFC2"/>
                          </a:solidFill>
                          <a:latin typeface="IBM Plex Mono" pitchFamily="34" charset="0"/>
                          <a:ea typeface="IBM Plex Mono" pitchFamily="34" charset="-122"/>
                          <a:cs typeface="IBM Plex Mono" pitchFamily="34" charset="-120"/>
                        </a:rPr>
                        <a:t>파우치 · 모회사</a:t>
                      </a:r>
                      <a:endParaRPr lang="en-US" sz="800" dirty="0">
                        <a:latin typeface="IBM Plex Mono" charset="0"/>
                        <a:ea typeface="IBM Plex Mono" charset="0"/>
                        <a:cs typeface="IBM Plex Mono" charset="0"/>
                      </a:endParaRPr>
                    </a:p>
                  </a:txBody>
                  <a:tcPr marL="101600" marR="1016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B1714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5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2267712"/>
          <a:ext cx="5074920" cy="914400"/>
        </p:xfrm>
        <a:graphic>
          <a:graphicData uri="http://schemas.openxmlformats.org/drawingml/2006/table">
            <a:tbl>
              <a:tblPr/>
              <a:tblGrid>
                <a:gridCol w="2743200"/>
                <a:gridCol w="2331720"/>
              </a:tblGrid>
              <a:tr h="3337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6F6960"/>
                          </a:solidFill>
                          <a:latin typeface="IBM Plex Sans KR" pitchFamily="34" charset="0"/>
                          <a:ea typeface="IBM Plex Sans KR" pitchFamily="34" charset="-122"/>
                          <a:cs typeface="IBM Plex Sans KR" pitchFamily="34" charset="-120"/>
                        </a:rPr>
                        <a:t>명판 / 가동률(run-rate)</a:t>
                      </a:r>
                      <a:endParaRPr lang="en-US" sz="950" dirty="0">
                        <a:latin typeface="IBM Plex Sans KR" charset="0"/>
                        <a:ea typeface="IBM Plex Sans KR" charset="0"/>
                        <a:cs typeface="IBM Plex Sans KR" charset="0"/>
                      </a:endParaRPr>
                    </a:p>
                  </a:txBody>
                  <a:tcPr marL="101600" marR="101600" marT="25400" marB="25400" anchor="ctr">
                    <a:lnL w="6350" cap="flat" cmpd="sng" algn="ctr">
                      <a:solidFill>
                        <a:srgbClr val="ECE6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CE6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CE6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CE6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1E7A4D"/>
                          </a:solidFill>
                          <a:latin typeface="IBM Plex Mono" pitchFamily="34" charset="0"/>
                          <a:ea typeface="IBM Plex Mono" pitchFamily="34" charset="-122"/>
                          <a:cs typeface="IBM Plex Mono" pitchFamily="34" charset="-120"/>
                        </a:rPr>
                        <a:t>11.0 GWh / 85%</a:t>
                      </a:r>
                      <a:endParaRPr lang="en-US" sz="950" dirty="0">
                        <a:latin typeface="IBM Plex Mono" charset="0"/>
                        <a:ea typeface="IBM Plex Mono" charset="0"/>
                        <a:cs typeface="IBM Plex Mono" charset="0"/>
                      </a:endParaRPr>
                    </a:p>
                  </a:txBody>
                  <a:tcPr marL="101600" marR="101600" marT="25400" marB="25400" anchor="ctr">
                    <a:lnL w="6350" cap="flat" cmpd="sng" algn="ctr">
                      <a:solidFill>
                        <a:srgbClr val="ECE6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CE6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CE6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CE6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337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6F6960"/>
                          </a:solidFill>
                          <a:latin typeface="IBM Plex Sans KR" pitchFamily="34" charset="0"/>
                          <a:ea typeface="IBM Plex Sans KR" pitchFamily="34" charset="-122"/>
                          <a:cs typeface="IBM Plex Sans KR" pitchFamily="34" charset="-120"/>
                        </a:rPr>
                        <a:t>기존 차입 (금융기관보증)</a:t>
                      </a:r>
                      <a:endParaRPr lang="en-US" sz="950" dirty="0">
                        <a:latin typeface="IBM Plex Sans KR" charset="0"/>
                        <a:ea typeface="IBM Plex Sans KR" charset="0"/>
                        <a:cs typeface="IBM Plex Sans KR" charset="0"/>
                      </a:endParaRPr>
                    </a:p>
                  </a:txBody>
                  <a:tcPr marL="101600" marR="101600" marT="25400" marB="25400" anchor="ctr">
                    <a:lnL w="6350" cap="flat" cmpd="sng" algn="ctr">
                      <a:solidFill>
                        <a:srgbClr val="ECE6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CE6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CE6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CE6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C1121F"/>
                          </a:solidFill>
                          <a:latin typeface="IBM Plex Mono" pitchFamily="34" charset="0"/>
                          <a:ea typeface="IBM Plex Mono" pitchFamily="34" charset="-122"/>
                          <a:cs typeface="IBM Plex Mono" pitchFamily="34" charset="-120"/>
                        </a:rPr>
                        <a:t>5조원 ≈ $3.7bn</a:t>
                      </a:r>
                      <a:endParaRPr lang="en-US" sz="950" dirty="0">
                        <a:latin typeface="IBM Plex Mono" charset="0"/>
                        <a:ea typeface="IBM Plex Mono" charset="0"/>
                        <a:cs typeface="IBM Plex Mono" charset="0"/>
                      </a:endParaRPr>
                    </a:p>
                  </a:txBody>
                  <a:tcPr marL="101600" marR="101600" marT="25400" marB="25400" anchor="ctr">
                    <a:lnL w="6350" cap="flat" cmpd="sng" algn="ctr">
                      <a:solidFill>
                        <a:srgbClr val="ECE6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CE6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CE6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CE6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337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6F6960"/>
                          </a:solidFill>
                          <a:latin typeface="IBM Plex Sans KR" pitchFamily="34" charset="0"/>
                          <a:ea typeface="IBM Plex Sans KR" pitchFamily="34" charset="-122"/>
                          <a:cs typeface="IBM Plex Sans KR" pitchFamily="34" charset="-120"/>
                        </a:rPr>
                        <a:t>run-rate 매출</a:t>
                      </a:r>
                      <a:endParaRPr lang="en-US" sz="950" dirty="0">
                        <a:latin typeface="IBM Plex Sans KR" charset="0"/>
                        <a:ea typeface="IBM Plex Sans KR" charset="0"/>
                        <a:cs typeface="IBM Plex Sans KR" charset="0"/>
                      </a:endParaRPr>
                    </a:p>
                  </a:txBody>
                  <a:tcPr marL="101600" marR="101600" marT="25400" marB="25400" anchor="ctr">
                    <a:lnL w="6350" cap="flat" cmpd="sng" algn="ctr">
                      <a:solidFill>
                        <a:srgbClr val="ECE6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CE6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CE6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CE6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1B1714"/>
                          </a:solidFill>
                          <a:latin typeface="IBM Plex Mono" pitchFamily="34" charset="0"/>
                          <a:ea typeface="IBM Plex Mono" pitchFamily="34" charset="-122"/>
                          <a:cs typeface="IBM Plex Mono" pitchFamily="34" charset="-120"/>
                        </a:rPr>
                        <a:t>~$1.4bn</a:t>
                      </a:r>
                      <a:endParaRPr lang="en-US" sz="950" dirty="0">
                        <a:latin typeface="IBM Plex Mono" charset="0"/>
                        <a:ea typeface="IBM Plex Mono" charset="0"/>
                        <a:cs typeface="IBM Plex Mono" charset="0"/>
                      </a:endParaRPr>
                    </a:p>
                  </a:txBody>
                  <a:tcPr marL="101600" marR="101600" marT="25400" marB="25400" anchor="ctr">
                    <a:lnL w="6350" cap="flat" cmpd="sng" algn="ctr">
                      <a:solidFill>
                        <a:srgbClr val="ECE6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CE6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CE6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CE6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337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6F6960"/>
                          </a:solidFill>
                          <a:latin typeface="IBM Plex Sans KR" pitchFamily="34" charset="0"/>
                          <a:ea typeface="IBM Plex Sans KR" pitchFamily="34" charset="-122"/>
                          <a:cs typeface="IBM Plex Sans KR" pitchFamily="34" charset="-120"/>
                        </a:rPr>
                        <a:t>개조 ex-AMPC EBITDA</a:t>
                      </a:r>
                      <a:endParaRPr lang="en-US" sz="950" dirty="0">
                        <a:latin typeface="IBM Plex Sans KR" charset="0"/>
                        <a:ea typeface="IBM Plex Sans KR" charset="0"/>
                        <a:cs typeface="IBM Plex Sans KR" charset="0"/>
                      </a:endParaRPr>
                    </a:p>
                  </a:txBody>
                  <a:tcPr marL="101600" marR="101600" marT="25400" marB="25400" anchor="ctr">
                    <a:lnL w="6350" cap="flat" cmpd="sng" algn="ctr">
                      <a:solidFill>
                        <a:srgbClr val="ECE6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CE6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CE6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CE6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1B1714"/>
                          </a:solidFill>
                          <a:latin typeface="IBM Plex Mono" pitchFamily="34" charset="0"/>
                          <a:ea typeface="IBM Plex Mono" pitchFamily="34" charset="-122"/>
                          <a:cs typeface="IBM Plex Mono" pitchFamily="34" charset="-120"/>
                        </a:rPr>
                        <a:t>9% (목표)</a:t>
                      </a:r>
                      <a:endParaRPr lang="en-US" sz="950" dirty="0">
                        <a:latin typeface="IBM Plex Mono" charset="0"/>
                        <a:ea typeface="IBM Plex Mono" charset="0"/>
                        <a:cs typeface="IBM Plex Mono" charset="0"/>
                      </a:endParaRPr>
                    </a:p>
                  </a:txBody>
                  <a:tcPr marL="101600" marR="101600" marT="25400" marB="25400" anchor="ctr">
                    <a:lnL w="6350" cap="flat" cmpd="sng" algn="ctr">
                      <a:solidFill>
                        <a:srgbClr val="ECE6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CE6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CE6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CE6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337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6F6960"/>
                          </a:solidFill>
                          <a:latin typeface="IBM Plex Sans KR" pitchFamily="34" charset="0"/>
                          <a:ea typeface="IBM Plex Sans KR" pitchFamily="34" charset="-122"/>
                          <a:cs typeface="IBM Plex Sans KR" pitchFamily="34" charset="-120"/>
                        </a:rPr>
                        <a:t>기저 EBITDA (pre-SOP) ★</a:t>
                      </a:r>
                      <a:endParaRPr lang="en-US" sz="950" dirty="0">
                        <a:latin typeface="IBM Plex Sans KR" charset="0"/>
                        <a:ea typeface="IBM Plex Sans KR" charset="0"/>
                        <a:cs typeface="IBM Plex Sans KR" charset="0"/>
                      </a:endParaRPr>
                    </a:p>
                  </a:txBody>
                  <a:tcPr marL="101600" marR="101600" marT="25400" marB="25400" anchor="ctr">
                    <a:lnL w="6350" cap="flat" cmpd="sng" algn="ctr">
                      <a:solidFill>
                        <a:srgbClr val="ECE6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CE6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CE6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CE6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1E7A4D"/>
                          </a:solidFill>
                          <a:latin typeface="IBM Plex Mono" pitchFamily="34" charset="0"/>
                          <a:ea typeface="IBM Plex Mono" pitchFamily="34" charset="-122"/>
                          <a:cs typeface="IBM Plex Mono" pitchFamily="34" charset="-120"/>
                        </a:rPr>
                        <a:t>$0.2bn (2026~)</a:t>
                      </a:r>
                      <a:endParaRPr lang="en-US" sz="950" dirty="0">
                        <a:latin typeface="IBM Plex Mono" charset="0"/>
                        <a:ea typeface="IBM Plex Mono" charset="0"/>
                        <a:cs typeface="IBM Plex Mono" charset="0"/>
                      </a:endParaRPr>
                    </a:p>
                  </a:txBody>
                  <a:tcPr marL="101600" marR="101600" marT="25400" marB="25400" anchor="ctr">
                    <a:lnL w="6350" cap="flat" cmpd="sng" algn="ctr">
                      <a:solidFill>
                        <a:srgbClr val="ECE6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CE6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CE6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CE6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337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6F6960"/>
                          </a:solidFill>
                          <a:latin typeface="IBM Plex Sans KR" pitchFamily="34" charset="0"/>
                          <a:ea typeface="IBM Plex Sans KR" pitchFamily="34" charset="-122"/>
                          <a:cs typeface="IBM Plex Sans KR" pitchFamily="34" charset="-120"/>
                        </a:rPr>
                        <a:t>순자산 NAV (BS) ★</a:t>
                      </a:r>
                      <a:endParaRPr lang="en-US" sz="950" dirty="0">
                        <a:latin typeface="IBM Plex Sans KR" charset="0"/>
                        <a:ea typeface="IBM Plex Sans KR" charset="0"/>
                        <a:cs typeface="IBM Plex Sans KR" charset="0"/>
                      </a:endParaRPr>
                    </a:p>
                  </a:txBody>
                  <a:tcPr marL="101600" marR="101600" marT="25400" marB="25400" anchor="ctr">
                    <a:lnL w="6350" cap="flat" cmpd="sng" algn="ctr">
                      <a:solidFill>
                        <a:srgbClr val="ECE6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CE6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CE6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CE6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1B1714"/>
                          </a:solidFill>
                          <a:latin typeface="IBM Plex Mono" pitchFamily="34" charset="0"/>
                          <a:ea typeface="IBM Plex Mono" pitchFamily="34" charset="-122"/>
                          <a:cs typeface="IBM Plex Mono" pitchFamily="34" charset="-120"/>
                        </a:rPr>
                        <a:t>~$2.0bn</a:t>
                      </a:r>
                      <a:endParaRPr lang="en-US" sz="950" dirty="0">
                        <a:latin typeface="IBM Plex Mono" charset="0"/>
                        <a:ea typeface="IBM Plex Mono" charset="0"/>
                        <a:cs typeface="IBM Plex Mono" charset="0"/>
                      </a:endParaRPr>
                    </a:p>
                  </a:txBody>
                  <a:tcPr marL="101600" marR="101600" marT="25400" marB="25400" anchor="ctr">
                    <a:lnL w="6350" cap="flat" cmpd="sng" algn="ctr">
                      <a:solidFill>
                        <a:srgbClr val="ECE6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CE6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CE6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CE6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7" name="Table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4407408"/>
          <a:ext cx="5074920" cy="914400"/>
        </p:xfrm>
        <a:graphic>
          <a:graphicData uri="http://schemas.openxmlformats.org/drawingml/2006/table">
            <a:tbl>
              <a:tblPr/>
              <a:tblGrid>
                <a:gridCol w="3200400"/>
                <a:gridCol w="1874520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IBM Plex Sans KR" pitchFamily="34" charset="0"/>
                          <a:ea typeface="IBM Plex Sans KR" pitchFamily="34" charset="-122"/>
                          <a:cs typeface="IBM Plex Sans KR" pitchFamily="34" charset="-120"/>
                        </a:rPr>
                        <a:t>공장 2 — SKOT (테네시)</a:t>
                      </a:r>
                      <a:endParaRPr lang="en-US" sz="1100" dirty="0">
                        <a:latin typeface="IBM Plex Sans KR" charset="0"/>
                        <a:ea typeface="IBM Plex Sans KR" charset="0"/>
                        <a:cs typeface="IBM Plex Sans KR" charset="0"/>
                      </a:endParaRPr>
                    </a:p>
                  </a:txBody>
                  <a:tcPr marL="101600" marR="1016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C1121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D8CFC2"/>
                          </a:solidFill>
                          <a:latin typeface="IBM Plex Mono" pitchFamily="34" charset="0"/>
                          <a:ea typeface="IBM Plex Mono" pitchFamily="34" charset="-122"/>
                          <a:cs typeface="IBM Plex Mono" pitchFamily="34" charset="-120"/>
                        </a:rPr>
                        <a:t>BA 100% · SOP ′28 하반기</a:t>
                      </a:r>
                      <a:endParaRPr lang="en-US" sz="800" dirty="0">
                        <a:latin typeface="IBM Plex Mono" charset="0"/>
                        <a:ea typeface="IBM Plex Mono" charset="0"/>
                        <a:cs typeface="IBM Plex Mono" charset="0"/>
                      </a:endParaRPr>
                    </a:p>
                  </a:txBody>
                  <a:tcPr marL="101600" marR="1016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C1121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9" name="Table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4791456"/>
          <a:ext cx="5074920" cy="914400"/>
        </p:xfrm>
        <a:graphic>
          <a:graphicData uri="http://schemas.openxmlformats.org/drawingml/2006/table">
            <a:tbl>
              <a:tblPr/>
              <a:tblGrid>
                <a:gridCol w="2743200"/>
                <a:gridCol w="2331720"/>
              </a:tblGrid>
              <a:tr h="3337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6F6960"/>
                          </a:solidFill>
                          <a:latin typeface="IBM Plex Sans KR" pitchFamily="34" charset="0"/>
                          <a:ea typeface="IBM Plex Sans KR" pitchFamily="34" charset="-122"/>
                          <a:cs typeface="IBM Plex Sans KR" pitchFamily="34" charset="-120"/>
                        </a:rPr>
                        <a:t>명판 / 가동률(run-rate)</a:t>
                      </a:r>
                      <a:endParaRPr lang="en-US" sz="950" dirty="0">
                        <a:latin typeface="IBM Plex Sans KR" charset="0"/>
                        <a:ea typeface="IBM Plex Sans KR" charset="0"/>
                        <a:cs typeface="IBM Plex Sans KR" charset="0"/>
                      </a:endParaRPr>
                    </a:p>
                  </a:txBody>
                  <a:tcPr marL="101600" marR="101600" marT="25400" marB="25400" anchor="ctr">
                    <a:lnL w="6350" cap="flat" cmpd="sng" algn="ctr">
                      <a:solidFill>
                        <a:srgbClr val="ECE6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CE6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CE6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CE6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1E7A4D"/>
                          </a:solidFill>
                          <a:latin typeface="IBM Plex Mono" pitchFamily="34" charset="0"/>
                          <a:ea typeface="IBM Plex Mono" pitchFamily="34" charset="-122"/>
                          <a:cs typeface="IBM Plex Mono" pitchFamily="34" charset="-120"/>
                        </a:rPr>
                        <a:t>29.7 GWh / 82%</a:t>
                      </a:r>
                      <a:endParaRPr lang="en-US" sz="950" dirty="0">
                        <a:latin typeface="IBM Plex Mono" charset="0"/>
                        <a:ea typeface="IBM Plex Mono" charset="0"/>
                        <a:cs typeface="IBM Plex Mono" charset="0"/>
                      </a:endParaRPr>
                    </a:p>
                  </a:txBody>
                  <a:tcPr marL="101600" marR="101600" marT="25400" marB="25400" anchor="ctr">
                    <a:lnL w="6350" cap="flat" cmpd="sng" algn="ctr">
                      <a:solidFill>
                        <a:srgbClr val="ECE6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CE6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CE6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CE6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337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6F6960"/>
                          </a:solidFill>
                          <a:latin typeface="IBM Plex Sans KR" pitchFamily="34" charset="0"/>
                          <a:ea typeface="IBM Plex Sans KR" pitchFamily="34" charset="-122"/>
                          <a:cs typeface="IBM Plex Sans KR" pitchFamily="34" charset="-120"/>
                        </a:rPr>
                        <a:t>기존 차입 (DOE 융자)</a:t>
                      </a:r>
                      <a:endParaRPr lang="en-US" sz="950" dirty="0">
                        <a:latin typeface="IBM Plex Sans KR" charset="0"/>
                        <a:ea typeface="IBM Plex Sans KR" charset="0"/>
                        <a:cs typeface="IBM Plex Sans KR" charset="0"/>
                      </a:endParaRPr>
                    </a:p>
                  </a:txBody>
                  <a:tcPr marL="101600" marR="101600" marT="25400" marB="25400" anchor="ctr">
                    <a:lnL w="6350" cap="flat" cmpd="sng" algn="ctr">
                      <a:solidFill>
                        <a:srgbClr val="ECE6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CE6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CE6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CE6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C1121F"/>
                          </a:solidFill>
                          <a:latin typeface="IBM Plex Mono" pitchFamily="34" charset="0"/>
                          <a:ea typeface="IBM Plex Mono" pitchFamily="34" charset="-122"/>
                          <a:cs typeface="IBM Plex Mono" pitchFamily="34" charset="-120"/>
                        </a:rPr>
                        <a:t>$4.0bn</a:t>
                      </a:r>
                      <a:endParaRPr lang="en-US" sz="950" dirty="0">
                        <a:latin typeface="IBM Plex Mono" charset="0"/>
                        <a:ea typeface="IBM Plex Mono" charset="0"/>
                        <a:cs typeface="IBM Plex Mono" charset="0"/>
                      </a:endParaRPr>
                    </a:p>
                  </a:txBody>
                  <a:tcPr marL="101600" marR="101600" marT="25400" marB="25400" anchor="ctr">
                    <a:lnL w="6350" cap="flat" cmpd="sng" algn="ctr">
                      <a:solidFill>
                        <a:srgbClr val="ECE6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CE6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CE6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CE6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337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6F6960"/>
                          </a:solidFill>
                          <a:latin typeface="IBM Plex Sans KR" pitchFamily="34" charset="0"/>
                          <a:ea typeface="IBM Plex Sans KR" pitchFamily="34" charset="-122"/>
                          <a:cs typeface="IBM Plex Sans KR" pitchFamily="34" charset="-120"/>
                        </a:rPr>
                        <a:t>  └ 상환</a:t>
                      </a:r>
                      <a:endParaRPr lang="en-US" sz="950" dirty="0">
                        <a:latin typeface="IBM Plex Sans KR" charset="0"/>
                        <a:ea typeface="IBM Plex Sans KR" charset="0"/>
                        <a:cs typeface="IBM Plex Sans KR" charset="0"/>
                      </a:endParaRPr>
                    </a:p>
                  </a:txBody>
                  <a:tcPr marL="101600" marR="101600" marT="25400" marB="25400" anchor="ctr">
                    <a:lnL w="6350" cap="flat" cmpd="sng" algn="ctr">
                      <a:solidFill>
                        <a:srgbClr val="ECE6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CE6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CE6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CE6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6F6960"/>
                          </a:solidFill>
                          <a:latin typeface="IBM Plex Mono" pitchFamily="34" charset="0"/>
                          <a:ea typeface="IBM Plex Mono" pitchFamily="34" charset="-122"/>
                          <a:cs typeface="IBM Plex Mono" pitchFamily="34" charset="-120"/>
                        </a:rPr>
                        <a:t>이자만~'30 → 이후분할 ★</a:t>
                      </a:r>
                      <a:endParaRPr lang="en-US" sz="950" dirty="0">
                        <a:latin typeface="IBM Plex Mono" charset="0"/>
                        <a:ea typeface="IBM Plex Mono" charset="0"/>
                        <a:cs typeface="IBM Plex Mono" charset="0"/>
                      </a:endParaRPr>
                    </a:p>
                  </a:txBody>
                  <a:tcPr marL="101600" marR="101600" marT="25400" marB="25400" anchor="ctr">
                    <a:lnL w="6350" cap="flat" cmpd="sng" algn="ctr">
                      <a:solidFill>
                        <a:srgbClr val="ECE6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CE6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CE6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CE6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337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6F6960"/>
                          </a:solidFill>
                          <a:latin typeface="IBM Plex Sans KR" pitchFamily="34" charset="0"/>
                          <a:ea typeface="IBM Plex Sans KR" pitchFamily="34" charset="-122"/>
                          <a:cs typeface="IBM Plex Sans KR" pitchFamily="34" charset="-120"/>
                        </a:rPr>
                        <a:t>run-rate 매출</a:t>
                      </a:r>
                      <a:endParaRPr lang="en-US" sz="950" dirty="0">
                        <a:latin typeface="IBM Plex Sans KR" charset="0"/>
                        <a:ea typeface="IBM Plex Sans KR" charset="0"/>
                        <a:cs typeface="IBM Plex Sans KR" charset="0"/>
                      </a:endParaRPr>
                    </a:p>
                  </a:txBody>
                  <a:tcPr marL="101600" marR="101600" marT="25400" marB="25400" anchor="ctr">
                    <a:lnL w="6350" cap="flat" cmpd="sng" algn="ctr">
                      <a:solidFill>
                        <a:srgbClr val="ECE6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CE6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CE6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CE6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1B1714"/>
                          </a:solidFill>
                          <a:latin typeface="IBM Plex Mono" pitchFamily="34" charset="0"/>
                          <a:ea typeface="IBM Plex Mono" pitchFamily="34" charset="-122"/>
                          <a:cs typeface="IBM Plex Mono" pitchFamily="34" charset="-120"/>
                        </a:rPr>
                        <a:t>~$3.5bn</a:t>
                      </a:r>
                      <a:endParaRPr lang="en-US" sz="950" dirty="0">
                        <a:latin typeface="IBM Plex Mono" charset="0"/>
                        <a:ea typeface="IBM Plex Mono" charset="0"/>
                        <a:cs typeface="IBM Plex Mono" charset="0"/>
                      </a:endParaRPr>
                    </a:p>
                  </a:txBody>
                  <a:tcPr marL="101600" marR="101600" marT="25400" marB="25400" anchor="ctr">
                    <a:lnL w="6350" cap="flat" cmpd="sng" algn="ctr">
                      <a:solidFill>
                        <a:srgbClr val="ECE6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CE6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CE6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CE6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337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6F6960"/>
                          </a:solidFill>
                          <a:latin typeface="IBM Plex Sans KR" pitchFamily="34" charset="0"/>
                          <a:ea typeface="IBM Plex Sans KR" pitchFamily="34" charset="-122"/>
                          <a:cs typeface="IBM Plex Sans KR" pitchFamily="34" charset="-120"/>
                        </a:rPr>
                        <a:t>ex-AMPC EBITDA</a:t>
                      </a:r>
                      <a:endParaRPr lang="en-US" sz="950" dirty="0">
                        <a:latin typeface="IBM Plex Sans KR" charset="0"/>
                        <a:ea typeface="IBM Plex Sans KR" charset="0"/>
                        <a:cs typeface="IBM Plex Sans KR" charset="0"/>
                      </a:endParaRPr>
                    </a:p>
                  </a:txBody>
                  <a:tcPr marL="101600" marR="101600" marT="25400" marB="25400" anchor="ctr">
                    <a:lnL w="6350" cap="flat" cmpd="sng" algn="ctr">
                      <a:solidFill>
                        <a:srgbClr val="ECE6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CE6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CE6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CE6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1B1714"/>
                          </a:solidFill>
                          <a:latin typeface="IBM Plex Mono" pitchFamily="34" charset="0"/>
                          <a:ea typeface="IBM Plex Mono" pitchFamily="34" charset="-122"/>
                          <a:cs typeface="IBM Plex Mono" pitchFamily="34" charset="-120"/>
                        </a:rPr>
                        <a:t>9% (목표)</a:t>
                      </a:r>
                      <a:endParaRPr lang="en-US" sz="950" dirty="0">
                        <a:latin typeface="IBM Plex Mono" charset="0"/>
                        <a:ea typeface="IBM Plex Mono" charset="0"/>
                        <a:cs typeface="IBM Plex Mono" charset="0"/>
                      </a:endParaRPr>
                    </a:p>
                  </a:txBody>
                  <a:tcPr marL="101600" marR="101600" marT="25400" marB="25400" anchor="ctr">
                    <a:lnL w="6350" cap="flat" cmpd="sng" algn="ctr">
                      <a:solidFill>
                        <a:srgbClr val="ECE6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CE6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CE6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CE6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337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6F6960"/>
                          </a:solidFill>
                          <a:latin typeface="IBM Plex Sans KR" pitchFamily="34" charset="0"/>
                          <a:ea typeface="IBM Plex Sans KR" pitchFamily="34" charset="-122"/>
                          <a:cs typeface="IBM Plex Sans KR" pitchFamily="34" charset="-120"/>
                        </a:rPr>
                        <a:t>순자산 NAV (BS) ★</a:t>
                      </a:r>
                      <a:endParaRPr lang="en-US" sz="950" dirty="0">
                        <a:latin typeface="IBM Plex Sans KR" charset="0"/>
                        <a:ea typeface="IBM Plex Sans KR" charset="0"/>
                        <a:cs typeface="IBM Plex Sans KR" charset="0"/>
                      </a:endParaRPr>
                    </a:p>
                  </a:txBody>
                  <a:tcPr marL="101600" marR="101600" marT="25400" marB="25400" anchor="ctr">
                    <a:lnL w="6350" cap="flat" cmpd="sng" algn="ctr">
                      <a:solidFill>
                        <a:srgbClr val="ECE6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CE6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CE6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CE6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1B1714"/>
                          </a:solidFill>
                          <a:latin typeface="IBM Plex Mono" pitchFamily="34" charset="0"/>
                          <a:ea typeface="IBM Plex Mono" pitchFamily="34" charset="-122"/>
                          <a:cs typeface="IBM Plex Mono" pitchFamily="34" charset="-120"/>
                        </a:rPr>
                        <a:t>~$3.0bn</a:t>
                      </a:r>
                      <a:endParaRPr lang="en-US" sz="950" dirty="0">
                        <a:latin typeface="IBM Plex Mono" charset="0"/>
                        <a:ea typeface="IBM Plex Mono" charset="0"/>
                        <a:cs typeface="IBM Plex Mono" charset="0"/>
                      </a:endParaRPr>
                    </a:p>
                  </a:txBody>
                  <a:tcPr marL="101600" marR="101600" marT="25400" marB="25400" anchor="ctr">
                    <a:lnL w="6350" cap="flat" cmpd="sng" algn="ctr">
                      <a:solidFill>
                        <a:srgbClr val="ECE6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CE6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CE6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CE6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2" name="Text 6"/>
          <p:cNvSpPr/>
          <p:nvPr/>
        </p:nvSpPr>
        <p:spPr>
          <a:xfrm>
            <a:off x="6007608" y="1627632"/>
            <a:ext cx="4114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150" kern="0" dirty="0">
                <a:solidFill>
                  <a:srgbClr val="9A847C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개조 금액 · RETROFIT CAPEX</a:t>
            </a:r>
            <a:endParaRPr lang="en-US" sz="850" dirty="0"/>
          </a:p>
        </p:txBody>
      </p:sp>
      <p:sp>
        <p:nvSpPr>
          <p:cNvPr id="13" name="Shape 7"/>
          <p:cNvSpPr/>
          <p:nvPr/>
        </p:nvSpPr>
        <p:spPr>
          <a:xfrm>
            <a:off x="6007608" y="1883664"/>
            <a:ext cx="4114800" cy="1371600"/>
          </a:xfrm>
          <a:prstGeom prst="roundRect">
            <a:avLst>
              <a:gd name="adj" fmla="val 4000"/>
            </a:avLst>
          </a:prstGeom>
          <a:solidFill>
            <a:srgbClr val="211C18"/>
          </a:solidFill>
          <a:ln/>
        </p:spPr>
      </p:sp>
      <p:sp>
        <p:nvSpPr>
          <p:cNvPr id="14" name="Text 8"/>
          <p:cNvSpPr/>
          <p:nvPr/>
        </p:nvSpPr>
        <p:spPr>
          <a:xfrm>
            <a:off x="6281928" y="2048256"/>
            <a:ext cx="1828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8CFC2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BA (개조)</a:t>
            </a:r>
            <a:endParaRPr lang="en-US" sz="1100" dirty="0"/>
          </a:p>
        </p:txBody>
      </p:sp>
      <p:sp>
        <p:nvSpPr>
          <p:cNvPr id="15" name="Text 9"/>
          <p:cNvSpPr/>
          <p:nvPr/>
        </p:nvSpPr>
        <p:spPr>
          <a:xfrm>
            <a:off x="8019288" y="2048256"/>
            <a:ext cx="1828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$0.2bn</a:t>
            </a:r>
            <a:endParaRPr lang="en-US" sz="2000" dirty="0"/>
          </a:p>
        </p:txBody>
      </p:sp>
      <p:sp>
        <p:nvSpPr>
          <p:cNvPr id="16" name="Text 10"/>
          <p:cNvSpPr/>
          <p:nvPr/>
        </p:nvSpPr>
        <p:spPr>
          <a:xfrm>
            <a:off x="6281928" y="2432304"/>
            <a:ext cx="1828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8CFC2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OT</a:t>
            </a:r>
            <a:endParaRPr lang="en-US" sz="1100" dirty="0"/>
          </a:p>
        </p:txBody>
      </p:sp>
      <p:sp>
        <p:nvSpPr>
          <p:cNvPr id="17" name="Text 11"/>
          <p:cNvSpPr/>
          <p:nvPr/>
        </p:nvSpPr>
        <p:spPr>
          <a:xfrm>
            <a:off x="8019288" y="2432304"/>
            <a:ext cx="1828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$1.0bn</a:t>
            </a:r>
            <a:endParaRPr lang="en-US" sz="2000" dirty="0"/>
          </a:p>
        </p:txBody>
      </p:sp>
      <p:sp>
        <p:nvSpPr>
          <p:cNvPr id="18" name="Shape 12"/>
          <p:cNvSpPr/>
          <p:nvPr/>
        </p:nvSpPr>
        <p:spPr>
          <a:xfrm>
            <a:off x="6281928" y="2834640"/>
            <a:ext cx="3566160" cy="0"/>
          </a:xfrm>
          <a:prstGeom prst="line">
            <a:avLst/>
          </a:prstGeom>
          <a:noFill/>
          <a:ln w="9525">
            <a:solidFill>
              <a:srgbClr val="4A443D"/>
            </a:solidFill>
            <a:prstDash val="solid"/>
          </a:ln>
        </p:spPr>
      </p:sp>
      <p:sp>
        <p:nvSpPr>
          <p:cNvPr id="19" name="Text 13"/>
          <p:cNvSpPr/>
          <p:nvPr/>
        </p:nvSpPr>
        <p:spPr>
          <a:xfrm>
            <a:off x="6281928" y="2907792"/>
            <a:ext cx="1828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합계 소요</a:t>
            </a:r>
            <a:endParaRPr lang="en-US" sz="1200" dirty="0"/>
          </a:p>
        </p:txBody>
      </p:sp>
      <p:sp>
        <p:nvSpPr>
          <p:cNvPr id="20" name="Text 14"/>
          <p:cNvSpPr/>
          <p:nvPr/>
        </p:nvSpPr>
        <p:spPr>
          <a:xfrm>
            <a:off x="7836408" y="2907792"/>
            <a:ext cx="20116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400" b="1" dirty="0">
                <a:solidFill>
                  <a:srgbClr val="FF8E84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$1.2bn</a:t>
            </a:r>
            <a:endParaRPr lang="en-US" sz="2400" dirty="0"/>
          </a:p>
        </p:txBody>
      </p:sp>
      <p:sp>
        <p:nvSpPr>
          <p:cNvPr id="21" name="Text 15"/>
          <p:cNvSpPr/>
          <p:nvPr/>
        </p:nvSpPr>
        <p:spPr>
          <a:xfrm>
            <a:off x="6007608" y="3456432"/>
            <a:ext cx="4114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150" kern="0" dirty="0">
                <a:solidFill>
                  <a:srgbClr val="9A847C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기대 효과 · EXPECTED EFFECT</a:t>
            </a:r>
            <a:endParaRPr lang="en-US" sz="850" dirty="0"/>
          </a:p>
        </p:txBody>
      </p:sp>
      <p:sp>
        <p:nvSpPr>
          <p:cNvPr id="22" name="Text 16"/>
          <p:cNvSpPr/>
          <p:nvPr/>
        </p:nvSpPr>
        <p:spPr>
          <a:xfrm>
            <a:off x="6007608" y="3712464"/>
            <a:ext cx="228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C1121F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●</a:t>
            </a:r>
            <a:endParaRPr lang="en-US" sz="1100" dirty="0"/>
          </a:p>
        </p:txBody>
      </p:sp>
      <p:sp>
        <p:nvSpPr>
          <p:cNvPr id="23" name="Text 17"/>
          <p:cNvSpPr/>
          <p:nvPr/>
        </p:nvSpPr>
        <p:spPr>
          <a:xfrm>
            <a:off x="6263640" y="3712464"/>
            <a:ext cx="38587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B1714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DC센터 수요 확보 → 가동률 85% (BA)·82% (OT) run-rate</a:t>
            </a:r>
            <a:endParaRPr lang="en-US" sz="1050" dirty="0"/>
          </a:p>
        </p:txBody>
      </p:sp>
      <p:sp>
        <p:nvSpPr>
          <p:cNvPr id="24" name="Text 18"/>
          <p:cNvSpPr/>
          <p:nvPr/>
        </p:nvSpPr>
        <p:spPr>
          <a:xfrm>
            <a:off x="6007608" y="4096512"/>
            <a:ext cx="228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C1121F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●</a:t>
            </a:r>
            <a:endParaRPr lang="en-US" sz="1100" dirty="0"/>
          </a:p>
        </p:txBody>
      </p:sp>
      <p:sp>
        <p:nvSpPr>
          <p:cNvPr id="25" name="Text 19"/>
          <p:cNvSpPr/>
          <p:nvPr/>
        </p:nvSpPr>
        <p:spPr>
          <a:xfrm>
            <a:off x="6263640" y="4096512"/>
            <a:ext cx="38587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B1714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run-rate ex-AMPC EBITDA $438mm (BA 125 + OT 313, 9% 마진)</a:t>
            </a:r>
            <a:endParaRPr lang="en-US" sz="1050" dirty="0"/>
          </a:p>
        </p:txBody>
      </p:sp>
      <p:sp>
        <p:nvSpPr>
          <p:cNvPr id="26" name="Shape 20"/>
          <p:cNvSpPr/>
          <p:nvPr/>
        </p:nvSpPr>
        <p:spPr>
          <a:xfrm>
            <a:off x="6007608" y="4526280"/>
            <a:ext cx="4114800" cy="914400"/>
          </a:xfrm>
          <a:prstGeom prst="roundRect">
            <a:avLst>
              <a:gd name="adj" fmla="val 6000"/>
            </a:avLst>
          </a:prstGeom>
          <a:solidFill>
            <a:srgbClr val="211C18"/>
          </a:solidFill>
          <a:ln/>
        </p:spPr>
      </p:sp>
      <p:sp>
        <p:nvSpPr>
          <p:cNvPr id="27" name="Text 21"/>
          <p:cNvSpPr/>
          <p:nvPr/>
        </p:nvSpPr>
        <p:spPr>
          <a:xfrm>
            <a:off x="6208776" y="4617720"/>
            <a:ext cx="37490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밸류에이션 분해 — AMPC(45X) 기여</a:t>
            </a:r>
            <a:pPr indent="0" marL="0">
              <a:buNone/>
            </a:pPr>
            <a:r>
              <a:rPr lang="en-US" sz="1050" dirty="0">
                <a:solidFill>
                  <a:srgbClr val="9A847C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   한시보조금·2033 소멸</a:t>
            </a:r>
            <a:endParaRPr lang="en-US" sz="1050" dirty="0"/>
          </a:p>
        </p:txBody>
      </p:sp>
      <p:sp>
        <p:nvSpPr>
          <p:cNvPr id="28" name="Shape 22"/>
          <p:cNvSpPr/>
          <p:nvPr/>
        </p:nvSpPr>
        <p:spPr>
          <a:xfrm>
            <a:off x="6208776" y="4928616"/>
            <a:ext cx="1031240" cy="219456"/>
          </a:xfrm>
          <a:prstGeom prst="rect">
            <a:avLst/>
          </a:prstGeom>
          <a:solidFill>
            <a:srgbClr val="1E7A4D"/>
          </a:solidFill>
          <a:ln/>
        </p:spPr>
      </p:sp>
      <p:sp>
        <p:nvSpPr>
          <p:cNvPr id="29" name="Shape 23"/>
          <p:cNvSpPr/>
          <p:nvPr/>
        </p:nvSpPr>
        <p:spPr>
          <a:xfrm>
            <a:off x="7240016" y="4928616"/>
            <a:ext cx="2681224" cy="219456"/>
          </a:xfrm>
          <a:prstGeom prst="rect">
            <a:avLst/>
          </a:prstGeom>
          <a:solidFill>
            <a:srgbClr val="FF8E84"/>
          </a:solidFill>
          <a:ln/>
        </p:spPr>
      </p:sp>
      <p:sp>
        <p:nvSpPr>
          <p:cNvPr id="30" name="Text 24"/>
          <p:cNvSpPr/>
          <p:nvPr/>
        </p:nvSpPr>
        <p:spPr>
          <a:xfrm>
            <a:off x="6208776" y="4928616"/>
            <a:ext cx="10312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ex-AMPC $1.0bn</a:t>
            </a:r>
            <a:endParaRPr lang="en-US" sz="750" dirty="0"/>
          </a:p>
        </p:txBody>
      </p:sp>
      <p:sp>
        <p:nvSpPr>
          <p:cNvPr id="31" name="Text 25"/>
          <p:cNvSpPr/>
          <p:nvPr/>
        </p:nvSpPr>
        <p:spPr>
          <a:xfrm>
            <a:off x="7240016" y="4928616"/>
            <a:ext cx="268122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211C1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AMPC PV $2.7bn (74%)</a:t>
            </a:r>
            <a:endParaRPr lang="en-US" sz="800" dirty="0"/>
          </a:p>
        </p:txBody>
      </p:sp>
      <p:sp>
        <p:nvSpPr>
          <p:cNvPr id="32" name="Text 26"/>
          <p:cNvSpPr/>
          <p:nvPr/>
        </p:nvSpPr>
        <p:spPr>
          <a:xfrm>
            <a:off x="6208776" y="5202936"/>
            <a:ext cx="3749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DCF EV $3.6bn</a:t>
            </a:r>
            <a:pPr indent="0" marL="0">
              <a:buNone/>
            </a:pPr>
            <a:r>
              <a:rPr lang="en-US" sz="800" dirty="0">
                <a:solidFill>
                  <a:srgbClr val="D8CFC2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 의 74%가 한시 AMPC → 멀티플엔 ex-AMPC만. WACC 10.5%·TGR 2%·Ke 13%</a:t>
            </a:r>
            <a:endParaRPr lang="en-US" sz="800" dirty="0"/>
          </a:p>
        </p:txBody>
      </p:sp>
      <p:sp>
        <p:nvSpPr>
          <p:cNvPr id="33" name="Shape 27"/>
          <p:cNvSpPr/>
          <p:nvPr/>
        </p:nvSpPr>
        <p:spPr>
          <a:xfrm>
            <a:off x="6007608" y="5486400"/>
            <a:ext cx="1874520" cy="0"/>
          </a:xfrm>
          <a:prstGeom prst="line">
            <a:avLst/>
          </a:prstGeom>
          <a:noFill/>
          <a:ln w="25400">
            <a:solidFill>
              <a:srgbClr val="1B1714"/>
            </a:solidFill>
            <a:prstDash val="solid"/>
          </a:ln>
        </p:spPr>
      </p:sp>
      <p:sp>
        <p:nvSpPr>
          <p:cNvPr id="34" name="Text 28"/>
          <p:cNvSpPr/>
          <p:nvPr/>
        </p:nvSpPr>
        <p:spPr>
          <a:xfrm>
            <a:off x="6007608" y="5541264"/>
            <a:ext cx="18745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F6960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총 명판</a:t>
            </a:r>
            <a:endParaRPr lang="en-US" sz="1000" dirty="0"/>
          </a:p>
        </p:txBody>
      </p:sp>
      <p:sp>
        <p:nvSpPr>
          <p:cNvPr id="35" name="Text 29"/>
          <p:cNvSpPr/>
          <p:nvPr/>
        </p:nvSpPr>
        <p:spPr>
          <a:xfrm>
            <a:off x="6007608" y="5779008"/>
            <a:ext cx="1874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1714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40.7</a:t>
            </a:r>
            <a:pPr indent="0" marL="0">
              <a:buNone/>
            </a:pPr>
            <a:r>
              <a:rPr lang="en-US" sz="1200" b="1" dirty="0">
                <a:solidFill>
                  <a:srgbClr val="1B1714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GWh</a:t>
            </a:r>
            <a:endParaRPr lang="en-US" sz="2600" dirty="0"/>
          </a:p>
        </p:txBody>
      </p:sp>
      <p:sp>
        <p:nvSpPr>
          <p:cNvPr id="36" name="Shape 30"/>
          <p:cNvSpPr/>
          <p:nvPr/>
        </p:nvSpPr>
        <p:spPr>
          <a:xfrm>
            <a:off x="8247888" y="5486400"/>
            <a:ext cx="1874520" cy="0"/>
          </a:xfrm>
          <a:prstGeom prst="line">
            <a:avLst/>
          </a:prstGeom>
          <a:noFill/>
          <a:ln w="25400">
            <a:solidFill>
              <a:srgbClr val="1B1714"/>
            </a:solidFill>
            <a:prstDash val="solid"/>
          </a:ln>
        </p:spPr>
      </p:sp>
      <p:sp>
        <p:nvSpPr>
          <p:cNvPr id="37" name="Text 31"/>
          <p:cNvSpPr/>
          <p:nvPr/>
        </p:nvSpPr>
        <p:spPr>
          <a:xfrm>
            <a:off x="8247888" y="5541264"/>
            <a:ext cx="18745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F6960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run-rate EBITDA</a:t>
            </a:r>
            <a:endParaRPr lang="en-US" sz="1000" dirty="0"/>
          </a:p>
        </p:txBody>
      </p:sp>
      <p:sp>
        <p:nvSpPr>
          <p:cNvPr id="38" name="Text 32"/>
          <p:cNvSpPr/>
          <p:nvPr/>
        </p:nvSpPr>
        <p:spPr>
          <a:xfrm>
            <a:off x="8247888" y="5779008"/>
            <a:ext cx="1874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7A4D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438</a:t>
            </a:r>
            <a:pPr indent="0" marL="0">
              <a:buNone/>
            </a:pPr>
            <a:r>
              <a:rPr lang="en-US" sz="1200" b="1" dirty="0">
                <a:solidFill>
                  <a:srgbClr val="1E7A4D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$mm</a:t>
            </a:r>
            <a:endParaRPr lang="en-US" sz="2600" dirty="0"/>
          </a:p>
        </p:txBody>
      </p:sp>
      <p:sp>
        <p:nvSpPr>
          <p:cNvPr id="39" name="Shape 33"/>
          <p:cNvSpPr/>
          <p:nvPr/>
        </p:nvSpPr>
        <p:spPr>
          <a:xfrm>
            <a:off x="6007608" y="6419088"/>
            <a:ext cx="1874520" cy="0"/>
          </a:xfrm>
          <a:prstGeom prst="line">
            <a:avLst/>
          </a:prstGeom>
          <a:noFill/>
          <a:ln w="25400">
            <a:solidFill>
              <a:srgbClr val="C1121F"/>
            </a:solidFill>
            <a:prstDash val="solid"/>
          </a:ln>
        </p:spPr>
      </p:sp>
      <p:sp>
        <p:nvSpPr>
          <p:cNvPr id="40" name="Text 34"/>
          <p:cNvSpPr/>
          <p:nvPr/>
        </p:nvSpPr>
        <p:spPr>
          <a:xfrm>
            <a:off x="6007608" y="6473952"/>
            <a:ext cx="18745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F6960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개조 소요</a:t>
            </a:r>
            <a:endParaRPr lang="en-US" sz="1000" dirty="0"/>
          </a:p>
        </p:txBody>
      </p:sp>
      <p:sp>
        <p:nvSpPr>
          <p:cNvPr id="41" name="Text 35"/>
          <p:cNvSpPr/>
          <p:nvPr/>
        </p:nvSpPr>
        <p:spPr>
          <a:xfrm>
            <a:off x="6007608" y="6711696"/>
            <a:ext cx="1874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C1121F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1.2</a:t>
            </a:r>
            <a:pPr indent="0" marL="0">
              <a:buNone/>
            </a:pPr>
            <a:r>
              <a:rPr lang="en-US" sz="1200" b="1" dirty="0">
                <a:solidFill>
                  <a:srgbClr val="C1121F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bn</a:t>
            </a:r>
            <a:endParaRPr lang="en-US" sz="2600" dirty="0"/>
          </a:p>
        </p:txBody>
      </p:sp>
      <p:sp>
        <p:nvSpPr>
          <p:cNvPr id="42" name="Shape 36"/>
          <p:cNvSpPr/>
          <p:nvPr/>
        </p:nvSpPr>
        <p:spPr>
          <a:xfrm>
            <a:off x="8247888" y="6419088"/>
            <a:ext cx="1874520" cy="0"/>
          </a:xfrm>
          <a:prstGeom prst="line">
            <a:avLst/>
          </a:prstGeom>
          <a:noFill/>
          <a:ln w="25400">
            <a:solidFill>
              <a:srgbClr val="C1121F"/>
            </a:solidFill>
            <a:prstDash val="solid"/>
          </a:ln>
        </p:spPr>
      </p:sp>
      <p:sp>
        <p:nvSpPr>
          <p:cNvPr id="43" name="Text 37"/>
          <p:cNvSpPr/>
          <p:nvPr/>
        </p:nvSpPr>
        <p:spPr>
          <a:xfrm>
            <a:off x="8247888" y="6473952"/>
            <a:ext cx="18745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F6960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DCF EV</a:t>
            </a:r>
            <a:endParaRPr lang="en-US" sz="1000" dirty="0"/>
          </a:p>
        </p:txBody>
      </p:sp>
      <p:sp>
        <p:nvSpPr>
          <p:cNvPr id="44" name="Text 38"/>
          <p:cNvSpPr/>
          <p:nvPr/>
        </p:nvSpPr>
        <p:spPr>
          <a:xfrm>
            <a:off x="8247888" y="6711696"/>
            <a:ext cx="1874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C1121F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3.6</a:t>
            </a:r>
            <a:pPr indent="0" marL="0">
              <a:buNone/>
            </a:pPr>
            <a:r>
              <a:rPr lang="en-US" sz="1200" b="1" dirty="0">
                <a:solidFill>
                  <a:srgbClr val="C1121F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bn</a:t>
            </a:r>
            <a:endParaRPr lang="en-US" sz="2600" dirty="0"/>
          </a:p>
        </p:txBody>
      </p:sp>
      <p:sp>
        <p:nvSpPr>
          <p:cNvPr id="45" name="Shape 39"/>
          <p:cNvSpPr/>
          <p:nvPr/>
        </p:nvSpPr>
        <p:spPr>
          <a:xfrm>
            <a:off x="566928" y="7141464"/>
            <a:ext cx="9555480" cy="0"/>
          </a:xfrm>
          <a:prstGeom prst="line">
            <a:avLst/>
          </a:prstGeom>
          <a:noFill/>
          <a:ln w="9525">
            <a:solidFill>
              <a:srgbClr val="E4DED4"/>
            </a:solidFill>
            <a:prstDash val="solid"/>
          </a:ln>
        </p:spPr>
      </p:sp>
      <p:sp>
        <p:nvSpPr>
          <p:cNvPr id="46" name="Text 40"/>
          <p:cNvSpPr/>
          <p:nvPr/>
        </p:nvSpPr>
        <p:spPr>
          <a:xfrm>
            <a:off x="566928" y="7178040"/>
            <a:ext cx="5486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9A847C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SK 전략팀 · Strictly Private &amp; Confidential</a:t>
            </a:r>
            <a:endParaRPr lang="en-US" sz="750" dirty="0"/>
          </a:p>
        </p:txBody>
      </p:sp>
      <p:sp>
        <p:nvSpPr>
          <p:cNvPr id="47" name="Text 41"/>
          <p:cNvSpPr/>
          <p:nvPr/>
        </p:nvSpPr>
        <p:spPr>
          <a:xfrm>
            <a:off x="7836408" y="7178040"/>
            <a:ext cx="2286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9A847C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★ = 미검증</a:t>
            </a:r>
            <a:endParaRPr lang="en-US" sz="7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BF9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75488"/>
            <a:ext cx="6858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200" kern="0" dirty="0">
                <a:solidFill>
                  <a:srgbClr val="C1121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FUNDING PROPOSAL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6007608" y="475488"/>
            <a:ext cx="4114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150" kern="0" dirty="0">
                <a:solidFill>
                  <a:srgbClr val="9A847C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SK 전략팀 · Confidential  /  03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566928" y="786384"/>
            <a:ext cx="7178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1714"/>
                </a:solidFill>
                <a:latin typeface="Noto Serif KR" pitchFamily="34" charset="0"/>
                <a:ea typeface="Noto Serif KR" pitchFamily="34" charset="-122"/>
                <a:cs typeface="Noto Serif KR" pitchFamily="34" charset="-120"/>
              </a:rPr>
              <a:t>펀딩 제안 — BA 중심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7379208" y="932688"/>
            <a:ext cx="2743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r" indent="0" marL="0">
              <a:buNone/>
            </a:pPr>
            <a:r>
              <a:rPr lang="en-US" sz="950" dirty="0">
                <a:solidFill>
                  <a:srgbClr val="6F6960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지분구조 · 캐시 플로우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566928" y="1426464"/>
            <a:ext cx="9555480" cy="0"/>
          </a:xfrm>
          <a:prstGeom prst="line">
            <a:avLst/>
          </a:prstGeom>
          <a:noFill/>
          <a:ln w="19050">
            <a:solidFill>
              <a:srgbClr val="1B1714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66928" y="1627632"/>
            <a:ext cx="63093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150" kern="0" dirty="0">
                <a:solidFill>
                  <a:srgbClr val="9A847C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지분구조 &amp; 캐시 플로우 · STRUCTURE &amp; CASH</a:t>
            </a:r>
            <a:endParaRPr lang="en-US" sz="850" dirty="0"/>
          </a:p>
        </p:txBody>
      </p:sp>
      <p:sp>
        <p:nvSpPr>
          <p:cNvPr id="8" name="Shape 6"/>
          <p:cNvSpPr/>
          <p:nvPr/>
        </p:nvSpPr>
        <p:spPr>
          <a:xfrm>
            <a:off x="4315968" y="1883664"/>
            <a:ext cx="2286000" cy="566928"/>
          </a:xfrm>
          <a:prstGeom prst="roundRect">
            <a:avLst>
              <a:gd name="adj" fmla="val 8065"/>
            </a:avLst>
          </a:prstGeom>
          <a:solidFill>
            <a:srgbClr val="4A443D"/>
          </a:solidFill>
          <a:ln/>
        </p:spPr>
      </p:sp>
      <p:sp>
        <p:nvSpPr>
          <p:cNvPr id="9" name="Text 7"/>
          <p:cNvSpPr/>
          <p:nvPr/>
        </p:nvSpPr>
        <p:spPr>
          <a:xfrm>
            <a:off x="4315968" y="1938528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SK이노베이션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4315968" y="2194560"/>
            <a:ext cx="2286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D8CFC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최상위 모회사</a:t>
            </a:r>
            <a:endParaRPr lang="en-US" sz="800" dirty="0"/>
          </a:p>
        </p:txBody>
      </p:sp>
      <p:sp>
        <p:nvSpPr>
          <p:cNvPr id="11" name="Text 9"/>
          <p:cNvSpPr/>
          <p:nvPr/>
        </p:nvSpPr>
        <p:spPr>
          <a:xfrm>
            <a:off x="5184648" y="2505456"/>
            <a:ext cx="5486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1B1714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▼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5596128" y="2505456"/>
            <a:ext cx="1828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F6960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100%</a:t>
            </a:r>
            <a:endParaRPr lang="en-US" sz="850" dirty="0"/>
          </a:p>
        </p:txBody>
      </p:sp>
      <p:sp>
        <p:nvSpPr>
          <p:cNvPr id="13" name="Shape 11"/>
          <p:cNvSpPr/>
          <p:nvPr/>
        </p:nvSpPr>
        <p:spPr>
          <a:xfrm>
            <a:off x="4315968" y="2761488"/>
            <a:ext cx="2286000" cy="566928"/>
          </a:xfrm>
          <a:prstGeom prst="roundRect">
            <a:avLst>
              <a:gd name="adj" fmla="val 8065"/>
            </a:avLst>
          </a:prstGeom>
          <a:solidFill>
            <a:srgbClr val="5E5346"/>
          </a:solidFill>
          <a:ln/>
        </p:spPr>
      </p:sp>
      <p:sp>
        <p:nvSpPr>
          <p:cNvPr id="14" name="Text 12"/>
          <p:cNvSpPr/>
          <p:nvPr/>
        </p:nvSpPr>
        <p:spPr>
          <a:xfrm>
            <a:off x="4315968" y="2816352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SK온 (SK On)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4315968" y="3072384"/>
            <a:ext cx="2286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D8CFC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배터리 중간지주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5184648" y="3383280"/>
            <a:ext cx="5486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1B1714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▼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5596128" y="3383280"/>
            <a:ext cx="1828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F6960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100%</a:t>
            </a:r>
            <a:endParaRPr lang="en-US" sz="850" dirty="0"/>
          </a:p>
        </p:txBody>
      </p:sp>
      <p:sp>
        <p:nvSpPr>
          <p:cNvPr id="18" name="Shape 16"/>
          <p:cNvSpPr/>
          <p:nvPr/>
        </p:nvSpPr>
        <p:spPr>
          <a:xfrm>
            <a:off x="4315968" y="3749040"/>
            <a:ext cx="2286000" cy="566928"/>
          </a:xfrm>
          <a:prstGeom prst="roundRect">
            <a:avLst>
              <a:gd name="adj" fmla="val 8065"/>
            </a:avLst>
          </a:prstGeom>
          <a:solidFill>
            <a:srgbClr val="1B1714"/>
          </a:solidFill>
          <a:ln/>
        </p:spPr>
      </p:sp>
      <p:sp>
        <p:nvSpPr>
          <p:cNvPr id="19" name="Text 17"/>
          <p:cNvSpPr/>
          <p:nvPr/>
        </p:nvSpPr>
        <p:spPr>
          <a:xfrm>
            <a:off x="4315968" y="3803904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BA — SKBA · 조달 주체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4315968" y="4059936"/>
            <a:ext cx="2286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D8CFC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총 $1.22bn 일괄 조달</a:t>
            </a:r>
            <a:endParaRPr lang="en-US" sz="800" dirty="0"/>
          </a:p>
        </p:txBody>
      </p:sp>
      <p:sp>
        <p:nvSpPr>
          <p:cNvPr id="21" name="Shape 19"/>
          <p:cNvSpPr/>
          <p:nvPr/>
        </p:nvSpPr>
        <p:spPr>
          <a:xfrm>
            <a:off x="1252728" y="3566160"/>
            <a:ext cx="2743200" cy="402336"/>
          </a:xfrm>
          <a:prstGeom prst="roundRect">
            <a:avLst>
              <a:gd name="adj" fmla="val 50000"/>
            </a:avLst>
          </a:prstGeom>
          <a:solidFill>
            <a:srgbClr val="E8F3EC"/>
          </a:solidFill>
          <a:ln w="19050">
            <a:solidFill>
              <a:srgbClr val="1E7A4D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1417320" y="3566160"/>
            <a:ext cx="22860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E7A4D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보조금 (10%)  </a:t>
            </a:r>
            <a:pPr indent="0" marL="0">
              <a:buNone/>
            </a:pPr>
            <a:r>
              <a:rPr lang="en-US" sz="950" b="1" dirty="0">
                <a:solidFill>
                  <a:srgbClr val="1E7A4D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$0.12bn</a:t>
            </a:r>
            <a:endParaRPr lang="en-US" sz="950" dirty="0"/>
          </a:p>
        </p:txBody>
      </p:sp>
      <p:sp>
        <p:nvSpPr>
          <p:cNvPr id="23" name="Text 21"/>
          <p:cNvSpPr/>
          <p:nvPr/>
        </p:nvSpPr>
        <p:spPr>
          <a:xfrm>
            <a:off x="3977640" y="3566160"/>
            <a:ext cx="3657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C1121F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▶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252728" y="4041648"/>
            <a:ext cx="2743200" cy="40233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9050">
            <a:solidFill>
              <a:srgbClr val="E4DED4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1417320" y="4041648"/>
            <a:ext cx="22860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F6960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비소구부채 (60%)  </a:t>
            </a:r>
            <a:pPr indent="0" marL="0">
              <a:buNone/>
            </a:pPr>
            <a:r>
              <a:rPr lang="en-US" sz="950" b="1" dirty="0">
                <a:solidFill>
                  <a:srgbClr val="1B1714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$0.73bn</a:t>
            </a:r>
            <a:endParaRPr lang="en-US" sz="950" dirty="0"/>
          </a:p>
        </p:txBody>
      </p:sp>
      <p:sp>
        <p:nvSpPr>
          <p:cNvPr id="26" name="Text 24"/>
          <p:cNvSpPr/>
          <p:nvPr/>
        </p:nvSpPr>
        <p:spPr>
          <a:xfrm>
            <a:off x="3977640" y="4041648"/>
            <a:ext cx="3657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C1121F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▶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5184648" y="4443984"/>
            <a:ext cx="5486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C1121F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▼</a:t>
            </a:r>
            <a:endParaRPr lang="en-US" sz="1300" dirty="0"/>
          </a:p>
        </p:txBody>
      </p:sp>
      <p:sp>
        <p:nvSpPr>
          <p:cNvPr id="28" name="Text 26"/>
          <p:cNvSpPr/>
          <p:nvPr/>
        </p:nvSpPr>
        <p:spPr>
          <a:xfrm>
            <a:off x="2121408" y="4443984"/>
            <a:ext cx="21488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C1121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$1.0bn 증자 (equity-down)</a:t>
            </a:r>
            <a:endParaRPr lang="en-US" sz="850" dirty="0"/>
          </a:p>
        </p:txBody>
      </p:sp>
      <p:sp>
        <p:nvSpPr>
          <p:cNvPr id="29" name="Shape 27"/>
          <p:cNvSpPr/>
          <p:nvPr/>
        </p:nvSpPr>
        <p:spPr>
          <a:xfrm>
            <a:off x="4315968" y="4773168"/>
            <a:ext cx="2286000" cy="566928"/>
          </a:xfrm>
          <a:prstGeom prst="roundRect">
            <a:avLst>
              <a:gd name="adj" fmla="val 8065"/>
            </a:avLst>
          </a:prstGeom>
          <a:solidFill>
            <a:srgbClr val="C1121F"/>
          </a:solidFill>
          <a:ln/>
        </p:spPr>
      </p:sp>
      <p:sp>
        <p:nvSpPr>
          <p:cNvPr id="30" name="Text 28"/>
          <p:cNvSpPr/>
          <p:nvPr/>
        </p:nvSpPr>
        <p:spPr>
          <a:xfrm>
            <a:off x="4315968" y="4828032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OT — SKOT</a:t>
            </a:r>
            <a:endParaRPr lang="en-US" sz="1300" dirty="0"/>
          </a:p>
        </p:txBody>
      </p:sp>
      <p:sp>
        <p:nvSpPr>
          <p:cNvPr id="31" name="Text 29"/>
          <p:cNvSpPr/>
          <p:nvPr/>
        </p:nvSpPr>
        <p:spPr>
          <a:xfrm>
            <a:off x="4315968" y="5084064"/>
            <a:ext cx="2286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D8CFC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완전자회사 100%</a:t>
            </a:r>
            <a:endParaRPr lang="en-US" sz="800" dirty="0"/>
          </a:p>
        </p:txBody>
      </p:sp>
      <p:sp>
        <p:nvSpPr>
          <p:cNvPr id="32" name="Shape 30"/>
          <p:cNvSpPr/>
          <p:nvPr/>
        </p:nvSpPr>
        <p:spPr>
          <a:xfrm>
            <a:off x="1252728" y="4846320"/>
            <a:ext cx="2743200" cy="40233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9050">
            <a:solidFill>
              <a:srgbClr val="E4DED4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1417320" y="4846320"/>
            <a:ext cx="22860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F6960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기존 DOE 융자  </a:t>
            </a:r>
            <a:pPr indent="0" marL="0">
              <a:buNone/>
            </a:pPr>
            <a:r>
              <a:rPr lang="en-US" sz="950" b="1" dirty="0">
                <a:solidFill>
                  <a:srgbClr val="1B1714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$4.0bn</a:t>
            </a:r>
            <a:endParaRPr lang="en-US" sz="950" dirty="0"/>
          </a:p>
        </p:txBody>
      </p:sp>
      <p:sp>
        <p:nvSpPr>
          <p:cNvPr id="34" name="Text 32"/>
          <p:cNvSpPr/>
          <p:nvPr/>
        </p:nvSpPr>
        <p:spPr>
          <a:xfrm>
            <a:off x="3977640" y="4846320"/>
            <a:ext cx="3657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C1121F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▶</a:t>
            </a:r>
            <a:endParaRPr lang="en-US" sz="1100" dirty="0"/>
          </a:p>
        </p:txBody>
      </p:sp>
      <p:sp>
        <p:nvSpPr>
          <p:cNvPr id="35" name="Text 33"/>
          <p:cNvSpPr/>
          <p:nvPr/>
        </p:nvSpPr>
        <p:spPr>
          <a:xfrm>
            <a:off x="566928" y="5541264"/>
            <a:ext cx="6309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6F6960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조달 믹스 그랜트 10% · 지분 30% · 비소구부채 60% ($1.22bn) → 자체 $0.2bn + OT $1.0bn 증자</a:t>
            </a:r>
            <a:endParaRPr lang="en-US" sz="950" dirty="0"/>
          </a:p>
        </p:txBody>
      </p:sp>
      <p:sp>
        <p:nvSpPr>
          <p:cNvPr id="36" name="Text 34"/>
          <p:cNvSpPr/>
          <p:nvPr/>
        </p:nvSpPr>
        <p:spPr>
          <a:xfrm>
            <a:off x="7196328" y="1627632"/>
            <a:ext cx="29260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150" kern="0" dirty="0">
                <a:solidFill>
                  <a:srgbClr val="9A847C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제안 · PROPOSAL</a:t>
            </a:r>
            <a:endParaRPr lang="en-US" sz="850" dirty="0"/>
          </a:p>
        </p:txBody>
      </p:sp>
      <p:sp>
        <p:nvSpPr>
          <p:cNvPr id="37" name="Shape 35"/>
          <p:cNvSpPr/>
          <p:nvPr/>
        </p:nvSpPr>
        <p:spPr>
          <a:xfrm>
            <a:off x="7196328" y="1883664"/>
            <a:ext cx="2926080" cy="1691640"/>
          </a:xfrm>
          <a:prstGeom prst="roundRect">
            <a:avLst>
              <a:gd name="adj" fmla="val 3243"/>
            </a:avLst>
          </a:prstGeom>
          <a:solidFill>
            <a:srgbClr val="FBF1EF"/>
          </a:solidFill>
          <a:ln w="19050">
            <a:solidFill>
              <a:srgbClr val="C1121F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7434072" y="2029968"/>
            <a:ext cx="24688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150" kern="0" dirty="0">
                <a:solidFill>
                  <a:srgbClr val="9A847C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제안 ①</a:t>
            </a:r>
            <a:endParaRPr lang="en-US" sz="1000" dirty="0"/>
          </a:p>
        </p:txBody>
      </p:sp>
      <p:sp>
        <p:nvSpPr>
          <p:cNvPr id="39" name="Text 37"/>
          <p:cNvSpPr/>
          <p:nvPr/>
        </p:nvSpPr>
        <p:spPr>
          <a:xfrm>
            <a:off x="7434072" y="2267712"/>
            <a:ext cx="2468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C1121F"/>
                </a:solidFill>
                <a:latin typeface="Noto Serif KR" pitchFamily="34" charset="0"/>
                <a:ea typeface="Noto Serif KR" pitchFamily="34" charset="-122"/>
                <a:cs typeface="Noto Serif KR" pitchFamily="34" charset="-120"/>
              </a:rPr>
              <a:t>BA가 $1.22bn 일괄 조달</a:t>
            </a:r>
            <a:endParaRPr lang="en-US" sz="1700" dirty="0"/>
          </a:p>
        </p:txBody>
      </p:sp>
      <p:sp>
        <p:nvSpPr>
          <p:cNvPr id="40" name="Text 38"/>
          <p:cNvSpPr/>
          <p:nvPr/>
        </p:nvSpPr>
        <p:spPr>
          <a:xfrm>
            <a:off x="7434072" y="2670048"/>
            <a:ext cx="24688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6F6960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OT는 DOE·CoC로 신규 차입이 어렵다 → BA가 전액 조달해 OT엔 $1.0bn 증자(equity-down). 자회사 자금주입의 가장 깨끗한 경로 — 신규 OT 부채·DSCR 불요.</a:t>
            </a:r>
            <a:endParaRPr lang="en-US" sz="1000" dirty="0"/>
          </a:p>
        </p:txBody>
      </p:sp>
      <p:sp>
        <p:nvSpPr>
          <p:cNvPr id="41" name="Shape 39"/>
          <p:cNvSpPr/>
          <p:nvPr/>
        </p:nvSpPr>
        <p:spPr>
          <a:xfrm>
            <a:off x="7196328" y="3712464"/>
            <a:ext cx="2926080" cy="1691640"/>
          </a:xfrm>
          <a:prstGeom prst="roundRect">
            <a:avLst>
              <a:gd name="adj" fmla="val 3243"/>
            </a:avLst>
          </a:prstGeom>
          <a:solidFill>
            <a:srgbClr val="FBF1EF"/>
          </a:solidFill>
          <a:ln w="19050">
            <a:solidFill>
              <a:srgbClr val="C1121F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7434072" y="3858768"/>
            <a:ext cx="24688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150" kern="0" dirty="0">
                <a:solidFill>
                  <a:srgbClr val="9A847C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제안 ②</a:t>
            </a:r>
            <a:endParaRPr lang="en-US" sz="1000" dirty="0"/>
          </a:p>
        </p:txBody>
      </p:sp>
      <p:sp>
        <p:nvSpPr>
          <p:cNvPr id="43" name="Text 41"/>
          <p:cNvSpPr/>
          <p:nvPr/>
        </p:nvSpPr>
        <p:spPr>
          <a:xfrm>
            <a:off x="7434072" y="4096512"/>
            <a:ext cx="2468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C1121F"/>
                </a:solidFill>
                <a:latin typeface="Noto Serif KR" pitchFamily="34" charset="0"/>
                <a:ea typeface="Noto Serif KR" pitchFamily="34" charset="-122"/>
                <a:cs typeface="Noto Serif KR" pitchFamily="34" charset="-120"/>
              </a:rPr>
              <a:t>그랜트 극대화 요청</a:t>
            </a:r>
            <a:endParaRPr lang="en-US" sz="1700" dirty="0"/>
          </a:p>
        </p:txBody>
      </p:sp>
      <p:sp>
        <p:nvSpPr>
          <p:cNvPr id="44" name="Text 42"/>
          <p:cNvSpPr/>
          <p:nvPr/>
        </p:nvSpPr>
        <p:spPr>
          <a:xfrm>
            <a:off x="7434072" y="4498848"/>
            <a:ext cx="24688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6F6960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BA 개조비 $0.2bn을 정부 보조금(MESC·48C)으로 최대한. 무상환·무희석·무CoC → EBIT=0 자산에 깨끗한 자금.</a:t>
            </a:r>
            <a:endParaRPr lang="en-US" sz="1000" dirty="0"/>
          </a:p>
        </p:txBody>
      </p:sp>
      <p:sp>
        <p:nvSpPr>
          <p:cNvPr id="45" name="Shape 43"/>
          <p:cNvSpPr/>
          <p:nvPr/>
        </p:nvSpPr>
        <p:spPr>
          <a:xfrm>
            <a:off x="566928" y="5943600"/>
            <a:ext cx="9555480" cy="658368"/>
          </a:xfrm>
          <a:prstGeom prst="roundRect">
            <a:avLst>
              <a:gd name="adj" fmla="val 6944"/>
            </a:avLst>
          </a:prstGeom>
          <a:solidFill>
            <a:srgbClr val="F2ECE0"/>
          </a:solidFill>
          <a:ln/>
        </p:spPr>
      </p:sp>
      <p:sp>
        <p:nvSpPr>
          <p:cNvPr id="46" name="Text 44"/>
          <p:cNvSpPr/>
          <p:nvPr/>
        </p:nvSpPr>
        <p:spPr>
          <a:xfrm>
            <a:off x="795528" y="5943600"/>
            <a:ext cx="90982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050" b="1" dirty="0">
                <a:solidFill>
                  <a:srgbClr val="C1121F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[결론]  </a:t>
            </a:r>
            <a:pPr indent="0" marL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1B1714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BA가 $1.22bn 일괄 조달 → 자체 $0.2bn + OT 증자 $1.0bn. 조달은 </a:t>
            </a:r>
            <a:pPr indent="0" marL="0">
              <a:lnSpc>
                <a:spcPct val="110000"/>
              </a:lnSpc>
              <a:buNone/>
            </a:pPr>
            <a:r>
              <a:rPr lang="en-US" sz="1050" b="1" dirty="0">
                <a:solidFill>
                  <a:srgbClr val="C1121F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그랜트 최우선</a:t>
            </a:r>
            <a:pPr indent="0" marL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1B1714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, 부족분만 비소구부채·Equity. ($1.22bn이 BA에 집중 — 조달여력 확인 ★)</a:t>
            </a:r>
            <a:endParaRPr lang="en-US" sz="1050" dirty="0"/>
          </a:p>
        </p:txBody>
      </p:sp>
      <p:sp>
        <p:nvSpPr>
          <p:cNvPr id="47" name="Shape 45"/>
          <p:cNvSpPr/>
          <p:nvPr/>
        </p:nvSpPr>
        <p:spPr>
          <a:xfrm>
            <a:off x="566928" y="7141464"/>
            <a:ext cx="9555480" cy="0"/>
          </a:xfrm>
          <a:prstGeom prst="line">
            <a:avLst/>
          </a:prstGeom>
          <a:noFill/>
          <a:ln w="9525">
            <a:solidFill>
              <a:srgbClr val="E4DED4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566928" y="7178040"/>
            <a:ext cx="5486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9A847C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SK 전략팀 · Strictly Private &amp; Confidential</a:t>
            </a:r>
            <a:endParaRPr lang="en-US" sz="750" dirty="0"/>
          </a:p>
        </p:txBody>
      </p:sp>
      <p:sp>
        <p:nvSpPr>
          <p:cNvPr id="49" name="Text 47"/>
          <p:cNvSpPr/>
          <p:nvPr/>
        </p:nvSpPr>
        <p:spPr>
          <a:xfrm>
            <a:off x="7836408" y="7178040"/>
            <a:ext cx="2286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9A847C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★ = 미검증</a:t>
            </a:r>
            <a:endParaRPr lang="en-US" sz="7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BF9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75488"/>
            <a:ext cx="6858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200" kern="0" dirty="0">
                <a:solidFill>
                  <a:srgbClr val="C1121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VALUATION — FUNDING SCENARIOS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6007608" y="475488"/>
            <a:ext cx="4114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150" kern="0" dirty="0">
                <a:solidFill>
                  <a:srgbClr val="9A847C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SK 전략팀 · Confidential  /  04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566928" y="786384"/>
            <a:ext cx="7178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1714"/>
                </a:solidFill>
                <a:latin typeface="Noto Serif KR" pitchFamily="34" charset="0"/>
                <a:ea typeface="Noto Serif KR" pitchFamily="34" charset="-122"/>
                <a:cs typeface="Noto Serif KR" pitchFamily="34" charset="-120"/>
              </a:rPr>
              <a:t>지분 성립 조건 — 조달 시나리오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7379208" y="932688"/>
            <a:ext cx="2743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r" indent="0" marL="0">
              <a:buNone/>
            </a:pPr>
            <a:r>
              <a:rPr lang="en-US" sz="950" dirty="0">
                <a:solidFill>
                  <a:srgbClr val="6F6960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희석·그랜트 레버 → implied 멀티플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566928" y="1426464"/>
            <a:ext cx="9555480" cy="0"/>
          </a:xfrm>
          <a:prstGeom prst="line">
            <a:avLst/>
          </a:prstGeom>
          <a:noFill/>
          <a:ln w="19050">
            <a:solidFill>
              <a:srgbClr val="1B1714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66928" y="1627632"/>
            <a:ext cx="3200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150" kern="0" dirty="0">
                <a:solidFill>
                  <a:srgbClr val="9A847C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주요 가정 · KEY ASSUMPTIONS</a:t>
            </a:r>
            <a:endParaRPr lang="en-US" sz="850" dirty="0"/>
          </a:p>
        </p:txBody>
      </p:sp>
      <p:sp>
        <p:nvSpPr>
          <p:cNvPr id="8" name="Text 6"/>
          <p:cNvSpPr/>
          <p:nvPr/>
        </p:nvSpPr>
        <p:spPr>
          <a:xfrm>
            <a:off x="566928" y="1883664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F6960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DC블록 ASP</a:t>
            </a:r>
            <a:endParaRPr lang="en-US" sz="950" dirty="0"/>
          </a:p>
        </p:txBody>
      </p:sp>
      <p:sp>
        <p:nvSpPr>
          <p:cNvPr id="9" name="Text 7"/>
          <p:cNvSpPr/>
          <p:nvPr/>
        </p:nvSpPr>
        <p:spPr>
          <a:xfrm>
            <a:off x="2029968" y="1883664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1B1714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$155/kWh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566928" y="2167128"/>
            <a:ext cx="3200400" cy="0"/>
          </a:xfrm>
          <a:prstGeom prst="line">
            <a:avLst/>
          </a:prstGeom>
          <a:noFill/>
          <a:ln w="6350">
            <a:solidFill>
              <a:srgbClr val="E4DED4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66928" y="218998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F6960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가동률 (run-rate) ★</a:t>
            </a:r>
            <a:endParaRPr lang="en-US" sz="950" dirty="0"/>
          </a:p>
        </p:txBody>
      </p:sp>
      <p:sp>
        <p:nvSpPr>
          <p:cNvPr id="12" name="Text 10"/>
          <p:cNvSpPr/>
          <p:nvPr/>
        </p:nvSpPr>
        <p:spPr>
          <a:xfrm>
            <a:off x="2029968" y="2189988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1E7A4D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85%/82% DC수요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566928" y="2473452"/>
            <a:ext cx="3200400" cy="0"/>
          </a:xfrm>
          <a:prstGeom prst="line">
            <a:avLst/>
          </a:prstGeom>
          <a:noFill/>
          <a:ln w="6350">
            <a:solidFill>
              <a:srgbClr val="E4DED4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66928" y="249631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F6960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SKBA 기저 EBITDA ★</a:t>
            </a:r>
            <a:endParaRPr lang="en-US" sz="950" dirty="0"/>
          </a:p>
        </p:txBody>
      </p:sp>
      <p:sp>
        <p:nvSpPr>
          <p:cNvPr id="15" name="Text 13"/>
          <p:cNvSpPr/>
          <p:nvPr/>
        </p:nvSpPr>
        <p:spPr>
          <a:xfrm>
            <a:off x="2029968" y="2496312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1E7A4D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$0.2bn pre-SOP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566928" y="2779776"/>
            <a:ext cx="3200400" cy="0"/>
          </a:xfrm>
          <a:prstGeom prst="line">
            <a:avLst/>
          </a:prstGeom>
          <a:noFill/>
          <a:ln w="6350">
            <a:solidFill>
              <a:srgbClr val="E4DED4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566928" y="2802636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F6960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run-rate ex-AMPC</a:t>
            </a:r>
            <a:endParaRPr lang="en-US" sz="950" dirty="0"/>
          </a:p>
        </p:txBody>
      </p:sp>
      <p:sp>
        <p:nvSpPr>
          <p:cNvPr id="18" name="Text 16"/>
          <p:cNvSpPr/>
          <p:nvPr/>
        </p:nvSpPr>
        <p:spPr>
          <a:xfrm>
            <a:off x="2029968" y="2802636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1E7A4D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$438mm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566928" y="3086100"/>
            <a:ext cx="3200400" cy="0"/>
          </a:xfrm>
          <a:prstGeom prst="line">
            <a:avLst/>
          </a:prstGeom>
          <a:noFill/>
          <a:ln w="6350">
            <a:solidFill>
              <a:srgbClr val="E4DED4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66928" y="310896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F6960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WACC / 영구성장 ★</a:t>
            </a:r>
            <a:endParaRPr lang="en-US" sz="950" dirty="0"/>
          </a:p>
        </p:txBody>
      </p:sp>
      <p:sp>
        <p:nvSpPr>
          <p:cNvPr id="21" name="Text 19"/>
          <p:cNvSpPr/>
          <p:nvPr/>
        </p:nvSpPr>
        <p:spPr>
          <a:xfrm>
            <a:off x="2029968" y="3108960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1B1714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10.5% / 2.0%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566928" y="3392424"/>
            <a:ext cx="3200400" cy="0"/>
          </a:xfrm>
          <a:prstGeom prst="line">
            <a:avLst/>
          </a:prstGeom>
          <a:noFill/>
          <a:ln w="6350">
            <a:solidFill>
              <a:srgbClr val="E4DED4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566928" y="3415284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F6960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Cost of equity (Ke)</a:t>
            </a:r>
            <a:endParaRPr lang="en-US" sz="950" dirty="0"/>
          </a:p>
        </p:txBody>
      </p:sp>
      <p:sp>
        <p:nvSpPr>
          <p:cNvPr id="24" name="Text 22"/>
          <p:cNvSpPr/>
          <p:nvPr/>
        </p:nvSpPr>
        <p:spPr>
          <a:xfrm>
            <a:off x="2029968" y="3415284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1B1714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13.0%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566928" y="3698748"/>
            <a:ext cx="3200400" cy="0"/>
          </a:xfrm>
          <a:prstGeom prst="line">
            <a:avLst/>
          </a:prstGeom>
          <a:noFill/>
          <a:ln w="6350">
            <a:solidFill>
              <a:srgbClr val="E4DED4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566928" y="372160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F6960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신규 조달</a:t>
            </a:r>
            <a:endParaRPr lang="en-US" sz="950" dirty="0"/>
          </a:p>
        </p:txBody>
      </p:sp>
      <p:sp>
        <p:nvSpPr>
          <p:cNvPr id="27" name="Text 25"/>
          <p:cNvSpPr/>
          <p:nvPr/>
        </p:nvSpPr>
        <p:spPr>
          <a:xfrm>
            <a:off x="2029968" y="3721608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1B1714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$1.22bn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566928" y="4005072"/>
            <a:ext cx="3200400" cy="0"/>
          </a:xfrm>
          <a:prstGeom prst="line">
            <a:avLst/>
          </a:prstGeom>
          <a:noFill/>
          <a:ln w="6350">
            <a:solidFill>
              <a:srgbClr val="E4DED4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66928" y="402793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F6960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순차입금 (BA/OT)</a:t>
            </a:r>
            <a:endParaRPr lang="en-US" sz="950" dirty="0"/>
          </a:p>
        </p:txBody>
      </p:sp>
      <p:sp>
        <p:nvSpPr>
          <p:cNvPr id="30" name="Text 28"/>
          <p:cNvSpPr/>
          <p:nvPr/>
        </p:nvSpPr>
        <p:spPr>
          <a:xfrm>
            <a:off x="2029968" y="4027932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1B1714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$6.4bn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566928" y="4311396"/>
            <a:ext cx="3200400" cy="0"/>
          </a:xfrm>
          <a:prstGeom prst="line">
            <a:avLst/>
          </a:prstGeom>
          <a:noFill/>
          <a:ln w="6350">
            <a:solidFill>
              <a:srgbClr val="E4DED4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66928" y="4334256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F6960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peer EV/EBITDA</a:t>
            </a:r>
            <a:endParaRPr lang="en-US" sz="950" dirty="0"/>
          </a:p>
        </p:txBody>
      </p:sp>
      <p:sp>
        <p:nvSpPr>
          <p:cNvPr id="33" name="Text 31"/>
          <p:cNvSpPr/>
          <p:nvPr/>
        </p:nvSpPr>
        <p:spPr>
          <a:xfrm>
            <a:off x="2029968" y="4334256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1B1714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8~13x 보수 (실측 p.5)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>
            <a:off x="566928" y="4617720"/>
            <a:ext cx="3200400" cy="0"/>
          </a:xfrm>
          <a:prstGeom prst="line">
            <a:avLst/>
          </a:prstGeom>
          <a:noFill/>
          <a:ln w="6350">
            <a:solidFill>
              <a:srgbClr val="E4DED4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566928" y="4677156"/>
            <a:ext cx="3200400" cy="1042416"/>
          </a:xfrm>
          <a:prstGeom prst="roundRect">
            <a:avLst>
              <a:gd name="adj" fmla="val 5263"/>
            </a:avLst>
          </a:prstGeom>
          <a:solidFill>
            <a:srgbClr val="211C18"/>
          </a:solidFill>
          <a:ln/>
        </p:spPr>
      </p:sp>
      <p:sp>
        <p:nvSpPr>
          <p:cNvPr id="36" name="Text 34"/>
          <p:cNvSpPr/>
          <p:nvPr/>
        </p:nvSpPr>
        <p:spPr>
          <a:xfrm>
            <a:off x="768096" y="4750308"/>
            <a:ext cx="2834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spc="100" kern="0" dirty="0">
                <a:solidFill>
                  <a:srgbClr val="D8CFC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역산 논리 · THE MECHANISM</a:t>
            </a:r>
            <a:endParaRPr lang="en-US" sz="800" dirty="0"/>
          </a:p>
        </p:txBody>
      </p:sp>
      <p:sp>
        <p:nvSpPr>
          <p:cNvPr id="37" name="Text 35"/>
          <p:cNvSpPr/>
          <p:nvPr/>
        </p:nvSpPr>
        <p:spPr>
          <a:xfrm>
            <a:off x="768096" y="4969764"/>
            <a:ext cx="28346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00" b="1" dirty="0">
                <a:solidFill>
                  <a:srgbClr val="FF8E84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최소지분</a:t>
            </a:r>
            <a:pPr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D8CFC2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 = 외부지분 ÷ 희석캡
</a:t>
            </a:r>
            <a:pPr indent="0" marL="0">
              <a:lnSpc>
                <a:spcPct val="120000"/>
              </a:lnSpc>
              <a:buNone/>
            </a:pPr>
            <a:r>
              <a:rPr lang="en-US" sz="900" b="1" dirty="0">
                <a:solidFill>
                  <a:srgbClr val="FF8E84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최소EV</a:t>
            </a:r>
            <a:pPr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D8CFC2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 = 최소지분 + 순차입금
</a:t>
            </a:r>
            <a:pPr indent="0" marL="0">
              <a:lnSpc>
                <a:spcPct val="120000"/>
              </a:lnSpc>
              <a:buNone/>
            </a:pPr>
            <a:r>
              <a:rPr lang="en-US" sz="900" b="1" dirty="0">
                <a:solidFill>
                  <a:srgbClr val="FF8E84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멀티플</a:t>
            </a:r>
            <a:pPr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D8CFC2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 = 최소EV ÷ run-rate EBITDA</a:t>
            </a:r>
            <a:endParaRPr lang="en-US" sz="900" dirty="0"/>
          </a:p>
        </p:txBody>
      </p:sp>
      <p:sp>
        <p:nvSpPr>
          <p:cNvPr id="38" name="Text 36"/>
          <p:cNvSpPr/>
          <p:nvPr/>
        </p:nvSpPr>
        <p:spPr>
          <a:xfrm>
            <a:off x="4133088" y="1627632"/>
            <a:ext cx="59893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150" kern="0" dirty="0">
                <a:solidFill>
                  <a:srgbClr val="9A847C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조달 시나리오 — implied min EV/EBITDA · SCENARIOS</a:t>
            </a:r>
            <a:endParaRPr lang="en-US" sz="85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133088" y="1883664"/>
          <a:ext cx="5989320" cy="914400"/>
        </p:xfrm>
        <a:graphic>
          <a:graphicData uri="http://schemas.openxmlformats.org/drawingml/2006/table">
            <a:tbl>
              <a:tblPr/>
              <a:tblGrid>
                <a:gridCol w="2103120"/>
                <a:gridCol w="640080"/>
                <a:gridCol w="640080"/>
                <a:gridCol w="822960"/>
                <a:gridCol w="795528"/>
                <a:gridCol w="896112"/>
              </a:tblGrid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IBM Plex Sans KR" pitchFamily="34" charset="0"/>
                          <a:ea typeface="IBM Plex Sans KR" pitchFamily="34" charset="-122"/>
                          <a:cs typeface="IBM Plex Sans KR" pitchFamily="34" charset="-120"/>
                        </a:rPr>
                        <a:t>시나리오</a:t>
                      </a:r>
                      <a:endParaRPr lang="en-US" sz="900" dirty="0">
                        <a:latin typeface="IBM Plex Sans KR" charset="0"/>
                        <a:ea typeface="IBM Plex Sans KR" charset="0"/>
                        <a:cs typeface="IBM Plex Sans KR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171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IBM Plex Sans KR" pitchFamily="34" charset="0"/>
                          <a:ea typeface="IBM Plex Sans KR" pitchFamily="34" charset="-122"/>
                          <a:cs typeface="IBM Plex Sans KR" pitchFamily="34" charset="-120"/>
                        </a:rPr>
                        <a:t>그랜트</a:t>
                      </a:r>
                      <a:endParaRPr lang="en-US" sz="900" dirty="0">
                        <a:latin typeface="IBM Plex Sans KR" charset="0"/>
                        <a:ea typeface="IBM Plex Sans KR" charset="0"/>
                        <a:cs typeface="IBM Plex Sans KR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171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IBM Plex Sans KR" pitchFamily="34" charset="0"/>
                          <a:ea typeface="IBM Plex Sans KR" pitchFamily="34" charset="-122"/>
                          <a:cs typeface="IBM Plex Sans KR" pitchFamily="34" charset="-120"/>
                        </a:rPr>
                        <a:t>희석캡</a:t>
                      </a:r>
                      <a:endParaRPr lang="en-US" sz="900" dirty="0">
                        <a:latin typeface="IBM Plex Sans KR" charset="0"/>
                        <a:ea typeface="IBM Plex Sans KR" charset="0"/>
                        <a:cs typeface="IBM Plex Sans KR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171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IBM Plex Sans KR" pitchFamily="34" charset="0"/>
                          <a:ea typeface="IBM Plex Sans KR" pitchFamily="34" charset="-122"/>
                          <a:cs typeface="IBM Plex Sans KR" pitchFamily="34" charset="-120"/>
                        </a:rPr>
                        <a:t>최소 EV</a:t>
                      </a:r>
                      <a:endParaRPr lang="en-US" sz="900" dirty="0">
                        <a:latin typeface="IBM Plex Sans KR" charset="0"/>
                        <a:ea typeface="IBM Plex Sans KR" charset="0"/>
                        <a:cs typeface="IBM Plex Sans KR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171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IBM Plex Sans KR" pitchFamily="34" charset="0"/>
                          <a:ea typeface="IBM Plex Sans KR" pitchFamily="34" charset="-122"/>
                          <a:cs typeface="IBM Plex Sans KR" pitchFamily="34" charset="-120"/>
                        </a:rPr>
                        <a:t>멀티플</a:t>
                      </a:r>
                      <a:endParaRPr lang="en-US" sz="900" dirty="0">
                        <a:latin typeface="IBM Plex Sans KR" charset="0"/>
                        <a:ea typeface="IBM Plex Sans KR" charset="0"/>
                        <a:cs typeface="IBM Plex Sans KR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IBM Plex Sans KR" pitchFamily="34" charset="0"/>
                          <a:ea typeface="IBM Plex Sans KR" pitchFamily="34" charset="-122"/>
                          <a:cs typeface="IBM Plex Sans KR" pitchFamily="34" charset="-120"/>
                        </a:rPr>
                        <a:t>(9%)</a:t>
                      </a:r>
                      <a:endParaRPr lang="en-US" sz="900" dirty="0">
                        <a:latin typeface="IBM Plex Sans KR" charset="0"/>
                        <a:ea typeface="IBM Plex Sans KR" charset="0"/>
                        <a:cs typeface="IBM Plex Sans KR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171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IBM Plex Sans KR" pitchFamily="34" charset="0"/>
                          <a:ea typeface="IBM Plex Sans KR" pitchFamily="34" charset="-122"/>
                          <a:cs typeface="IBM Plex Sans KR" pitchFamily="34" charset="-120"/>
                        </a:rPr>
                        <a:t>필요EBITDA%</a:t>
                      </a:r>
                      <a:endParaRPr lang="en-US" sz="900" dirty="0">
                        <a:latin typeface="IBM Plex Sans KR" charset="0"/>
                        <a:ea typeface="IBM Plex Sans KR" charset="0"/>
                        <a:cs typeface="IBM Plex Sans KR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IBM Plex Sans KR" pitchFamily="34" charset="0"/>
                          <a:ea typeface="IBM Plex Sans KR" pitchFamily="34" charset="-122"/>
                          <a:cs typeface="IBM Plex Sans KR" pitchFamily="34" charset="-120"/>
                        </a:rPr>
                        <a:t>(→13x)</a:t>
                      </a:r>
                      <a:endParaRPr lang="en-US" sz="900" dirty="0">
                        <a:latin typeface="IBM Plex Sans KR" charset="0"/>
                        <a:ea typeface="IBM Plex Sans KR" charset="0"/>
                        <a:cs typeface="IBM Plex Sans KR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1714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B1714"/>
                          </a:solidFill>
                          <a:latin typeface="IBM Plex Sans KR" pitchFamily="34" charset="0"/>
                          <a:ea typeface="IBM Plex Sans KR" pitchFamily="34" charset="-122"/>
                          <a:cs typeface="IBM Plex Sans KR" pitchFamily="34" charset="-120"/>
                        </a:rPr>
                        <a:t>BASE  (그랜트10/지분30)</a:t>
                      </a:r>
                      <a:endParaRPr lang="en-US" sz="950" dirty="0">
                        <a:latin typeface="IBM Plex Sans KR" charset="0"/>
                        <a:ea typeface="IBM Plex Sans KR" charset="0"/>
                        <a:cs typeface="IBM Plex Sans KR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B1714"/>
                          </a:solidFill>
                          <a:latin typeface="IBM Plex Mono" pitchFamily="34" charset="0"/>
                          <a:ea typeface="IBM Plex Mono" pitchFamily="34" charset="-122"/>
                          <a:cs typeface="IBM Plex Mono" pitchFamily="34" charset="-120"/>
                        </a:rPr>
                        <a:t>10%</a:t>
                      </a:r>
                      <a:endParaRPr lang="en-US" sz="950" dirty="0">
                        <a:latin typeface="IBM Plex Mono" charset="0"/>
                        <a:ea typeface="IBM Plex Mono" charset="0"/>
                        <a:cs typeface="IBM Plex Mono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B1714"/>
                          </a:solidFill>
                          <a:latin typeface="IBM Plex Mono" pitchFamily="34" charset="0"/>
                          <a:ea typeface="IBM Plex Mono" pitchFamily="34" charset="-122"/>
                          <a:cs typeface="IBM Plex Mono" pitchFamily="34" charset="-120"/>
                        </a:rPr>
                        <a:t>20%</a:t>
                      </a:r>
                      <a:endParaRPr lang="en-US" sz="950" dirty="0">
                        <a:latin typeface="IBM Plex Mono" charset="0"/>
                        <a:ea typeface="IBM Plex Mono" charset="0"/>
                        <a:cs typeface="IBM Plex Mono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B1714"/>
                          </a:solidFill>
                          <a:latin typeface="IBM Plex Mono" pitchFamily="34" charset="0"/>
                          <a:ea typeface="IBM Plex Mono" pitchFamily="34" charset="-122"/>
                          <a:cs typeface="IBM Plex Mono" pitchFamily="34" charset="-120"/>
                        </a:rPr>
                        <a:t>$8.2bn</a:t>
                      </a:r>
                      <a:endParaRPr lang="en-US" sz="950" dirty="0">
                        <a:latin typeface="IBM Plex Mono" charset="0"/>
                        <a:ea typeface="IBM Plex Mono" charset="0"/>
                        <a:cs typeface="IBM Plex Mono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C1121F"/>
                          </a:solidFill>
                          <a:latin typeface="Space Grotesk" pitchFamily="34" charset="0"/>
                          <a:ea typeface="Space Grotesk" pitchFamily="34" charset="-122"/>
                          <a:cs typeface="Space Grotesk" pitchFamily="34" charset="-120"/>
                        </a:rPr>
                        <a:t>18.8x</a:t>
                      </a:r>
                      <a:endParaRPr lang="en-US" sz="1200" dirty="0">
                        <a:latin typeface="Space Grotesk" charset="0"/>
                        <a:ea typeface="Space Grotesk" charset="0"/>
                        <a:cs typeface="Space Grotesk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C1121F"/>
                          </a:solidFill>
                          <a:latin typeface="IBM Plex Mono" pitchFamily="34" charset="0"/>
                          <a:ea typeface="IBM Plex Mono" pitchFamily="34" charset="-122"/>
                          <a:cs typeface="IBM Plex Mono" pitchFamily="34" charset="-120"/>
                        </a:rPr>
                        <a:t>13.0%</a:t>
                      </a:r>
                      <a:endParaRPr lang="en-US" sz="800" dirty="0">
                        <a:latin typeface="IBM Plex Mono" charset="0"/>
                        <a:ea typeface="IBM Plex Mono" charset="0"/>
                        <a:cs typeface="IBM Plex Mono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B1714"/>
                          </a:solidFill>
                          <a:latin typeface="IBM Plex Sans KR" pitchFamily="34" charset="0"/>
                          <a:ea typeface="IBM Plex Sans KR" pitchFamily="34" charset="-122"/>
                          <a:cs typeface="IBM Plex Sans KR" pitchFamily="34" charset="-120"/>
                        </a:rPr>
                        <a:t>① CoC 20% + 그랜트 20%</a:t>
                      </a:r>
                      <a:endParaRPr lang="en-US" sz="950" dirty="0">
                        <a:latin typeface="IBM Plex Sans KR" charset="0"/>
                        <a:ea typeface="IBM Plex Sans KR" charset="0"/>
                        <a:cs typeface="IBM Plex Sans KR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B1714"/>
                          </a:solidFill>
                          <a:latin typeface="IBM Plex Mono" pitchFamily="34" charset="0"/>
                          <a:ea typeface="IBM Plex Mono" pitchFamily="34" charset="-122"/>
                          <a:cs typeface="IBM Plex Mono" pitchFamily="34" charset="-120"/>
                        </a:rPr>
                        <a:t>20%</a:t>
                      </a:r>
                      <a:endParaRPr lang="en-US" sz="950" dirty="0">
                        <a:latin typeface="IBM Plex Mono" charset="0"/>
                        <a:ea typeface="IBM Plex Mono" charset="0"/>
                        <a:cs typeface="IBM Plex Mono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B1714"/>
                          </a:solidFill>
                          <a:latin typeface="IBM Plex Mono" pitchFamily="34" charset="0"/>
                          <a:ea typeface="IBM Plex Mono" pitchFamily="34" charset="-122"/>
                          <a:cs typeface="IBM Plex Mono" pitchFamily="34" charset="-120"/>
                        </a:rPr>
                        <a:t>20%</a:t>
                      </a:r>
                      <a:endParaRPr lang="en-US" sz="950" dirty="0">
                        <a:latin typeface="IBM Plex Mono" charset="0"/>
                        <a:ea typeface="IBM Plex Mono" charset="0"/>
                        <a:cs typeface="IBM Plex Mono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B1714"/>
                          </a:solidFill>
                          <a:latin typeface="IBM Plex Mono" pitchFamily="34" charset="0"/>
                          <a:ea typeface="IBM Plex Mono" pitchFamily="34" charset="-122"/>
                          <a:cs typeface="IBM Plex Mono" pitchFamily="34" charset="-120"/>
                        </a:rPr>
                        <a:t>$7.6bn</a:t>
                      </a:r>
                      <a:endParaRPr lang="en-US" sz="950" dirty="0">
                        <a:latin typeface="IBM Plex Mono" charset="0"/>
                        <a:ea typeface="IBM Plex Mono" charset="0"/>
                        <a:cs typeface="IBM Plex Mono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C1121F"/>
                          </a:solidFill>
                          <a:latin typeface="Space Grotesk" pitchFamily="34" charset="0"/>
                          <a:ea typeface="Space Grotesk" pitchFamily="34" charset="-122"/>
                          <a:cs typeface="Space Grotesk" pitchFamily="34" charset="-120"/>
                        </a:rPr>
                        <a:t>17.4x</a:t>
                      </a:r>
                      <a:endParaRPr lang="en-US" sz="1200" dirty="0">
                        <a:latin typeface="Space Grotesk" charset="0"/>
                        <a:ea typeface="Space Grotesk" charset="0"/>
                        <a:cs typeface="Space Grotesk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C1121F"/>
                          </a:solidFill>
                          <a:latin typeface="IBM Plex Mono" pitchFamily="34" charset="0"/>
                          <a:ea typeface="IBM Plex Mono" pitchFamily="34" charset="-122"/>
                          <a:cs typeface="IBM Plex Mono" pitchFamily="34" charset="-120"/>
                        </a:rPr>
                        <a:t>12.0%</a:t>
                      </a:r>
                      <a:endParaRPr lang="en-US" sz="800" dirty="0">
                        <a:latin typeface="IBM Plex Mono" charset="0"/>
                        <a:ea typeface="IBM Plex Mono" charset="0"/>
                        <a:cs typeface="IBM Plex Mono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B1714"/>
                          </a:solidFill>
                          <a:latin typeface="IBM Plex Sans KR" pitchFamily="34" charset="0"/>
                          <a:ea typeface="IBM Plex Sans KR" pitchFamily="34" charset="-122"/>
                          <a:cs typeface="IBM Plex Sans KR" pitchFamily="34" charset="-120"/>
                        </a:rPr>
                        <a:t>② CoC 해제 → 희석 30%</a:t>
                      </a:r>
                      <a:endParaRPr lang="en-US" sz="950" dirty="0">
                        <a:latin typeface="IBM Plex Sans KR" charset="0"/>
                        <a:ea typeface="IBM Plex Sans KR" charset="0"/>
                        <a:cs typeface="IBM Plex Sans KR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B1714"/>
                          </a:solidFill>
                          <a:latin typeface="IBM Plex Mono" pitchFamily="34" charset="0"/>
                          <a:ea typeface="IBM Plex Mono" pitchFamily="34" charset="-122"/>
                          <a:cs typeface="IBM Plex Mono" pitchFamily="34" charset="-120"/>
                        </a:rPr>
                        <a:t>10%</a:t>
                      </a:r>
                      <a:endParaRPr lang="en-US" sz="950" dirty="0">
                        <a:latin typeface="IBM Plex Mono" charset="0"/>
                        <a:ea typeface="IBM Plex Mono" charset="0"/>
                        <a:cs typeface="IBM Plex Mono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B1714"/>
                          </a:solidFill>
                          <a:latin typeface="IBM Plex Mono" pitchFamily="34" charset="0"/>
                          <a:ea typeface="IBM Plex Mono" pitchFamily="34" charset="-122"/>
                          <a:cs typeface="IBM Plex Mono" pitchFamily="34" charset="-120"/>
                        </a:rPr>
                        <a:t>30%</a:t>
                      </a:r>
                      <a:endParaRPr lang="en-US" sz="950" dirty="0">
                        <a:latin typeface="IBM Plex Mono" charset="0"/>
                        <a:ea typeface="IBM Plex Mono" charset="0"/>
                        <a:cs typeface="IBM Plex Mono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B1714"/>
                          </a:solidFill>
                          <a:latin typeface="IBM Plex Mono" pitchFamily="34" charset="0"/>
                          <a:ea typeface="IBM Plex Mono" pitchFamily="34" charset="-122"/>
                          <a:cs typeface="IBM Plex Mono" pitchFamily="34" charset="-120"/>
                        </a:rPr>
                        <a:t>$7.6bn</a:t>
                      </a:r>
                      <a:endParaRPr lang="en-US" sz="950" dirty="0">
                        <a:latin typeface="IBM Plex Mono" charset="0"/>
                        <a:ea typeface="IBM Plex Mono" charset="0"/>
                        <a:cs typeface="IBM Plex Mono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C1121F"/>
                          </a:solidFill>
                          <a:latin typeface="Space Grotesk" pitchFamily="34" charset="0"/>
                          <a:ea typeface="Space Grotesk" pitchFamily="34" charset="-122"/>
                          <a:cs typeface="Space Grotesk" pitchFamily="34" charset="-120"/>
                        </a:rPr>
                        <a:t>17.4x</a:t>
                      </a:r>
                      <a:endParaRPr lang="en-US" sz="1200" dirty="0">
                        <a:latin typeface="Space Grotesk" charset="0"/>
                        <a:ea typeface="Space Grotesk" charset="0"/>
                        <a:cs typeface="Space Grotesk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C1121F"/>
                          </a:solidFill>
                          <a:latin typeface="IBM Plex Mono" pitchFamily="34" charset="0"/>
                          <a:ea typeface="IBM Plex Mono" pitchFamily="34" charset="-122"/>
                          <a:cs typeface="IBM Plex Mono" pitchFamily="34" charset="-120"/>
                        </a:rPr>
                        <a:t>12.0%</a:t>
                      </a:r>
                      <a:endParaRPr lang="en-US" sz="800" dirty="0">
                        <a:latin typeface="IBM Plex Mono" charset="0"/>
                        <a:ea typeface="IBM Plex Mono" charset="0"/>
                        <a:cs typeface="IBM Plex Mono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B1714"/>
                          </a:solidFill>
                          <a:latin typeface="IBM Plex Sans KR" pitchFamily="34" charset="0"/>
                          <a:ea typeface="IBM Plex Sans KR" pitchFamily="34" charset="-122"/>
                          <a:cs typeface="IBM Plex Sans KR" pitchFamily="34" charset="-120"/>
                        </a:rPr>
                        <a:t>③ CoC 완화 → 희석 49%</a:t>
                      </a:r>
                      <a:endParaRPr lang="en-US" sz="950" dirty="0">
                        <a:latin typeface="IBM Plex Sans KR" charset="0"/>
                        <a:ea typeface="IBM Plex Sans KR" charset="0"/>
                        <a:cs typeface="IBM Plex Sans KR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B1714"/>
                          </a:solidFill>
                          <a:latin typeface="IBM Plex Mono" pitchFamily="34" charset="0"/>
                          <a:ea typeface="IBM Plex Mono" pitchFamily="34" charset="-122"/>
                          <a:cs typeface="IBM Plex Mono" pitchFamily="34" charset="-120"/>
                        </a:rPr>
                        <a:t>10%</a:t>
                      </a:r>
                      <a:endParaRPr lang="en-US" sz="950" dirty="0">
                        <a:latin typeface="IBM Plex Mono" charset="0"/>
                        <a:ea typeface="IBM Plex Mono" charset="0"/>
                        <a:cs typeface="IBM Plex Mono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B1714"/>
                          </a:solidFill>
                          <a:latin typeface="IBM Plex Mono" pitchFamily="34" charset="0"/>
                          <a:ea typeface="IBM Plex Mono" pitchFamily="34" charset="-122"/>
                          <a:cs typeface="IBM Plex Mono" pitchFamily="34" charset="-120"/>
                        </a:rPr>
                        <a:t>49%</a:t>
                      </a:r>
                      <a:endParaRPr lang="en-US" sz="950" dirty="0">
                        <a:latin typeface="IBM Plex Mono" charset="0"/>
                        <a:ea typeface="IBM Plex Mono" charset="0"/>
                        <a:cs typeface="IBM Plex Mono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B1714"/>
                          </a:solidFill>
                          <a:latin typeface="IBM Plex Mono" pitchFamily="34" charset="0"/>
                          <a:ea typeface="IBM Plex Mono" pitchFamily="34" charset="-122"/>
                          <a:cs typeface="IBM Plex Mono" pitchFamily="34" charset="-120"/>
                        </a:rPr>
                        <a:t>$7.1bn</a:t>
                      </a:r>
                      <a:endParaRPr lang="en-US" sz="950" dirty="0">
                        <a:latin typeface="IBM Plex Mono" charset="0"/>
                        <a:ea typeface="IBM Plex Mono" charset="0"/>
                        <a:cs typeface="IBM Plex Mono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C1121F"/>
                          </a:solidFill>
                          <a:latin typeface="Space Grotesk" pitchFamily="34" charset="0"/>
                          <a:ea typeface="Space Grotesk" pitchFamily="34" charset="-122"/>
                          <a:cs typeface="Space Grotesk" pitchFamily="34" charset="-120"/>
                        </a:rPr>
                        <a:t>16.3x</a:t>
                      </a:r>
                      <a:endParaRPr lang="en-US" sz="1200" dirty="0">
                        <a:latin typeface="Space Grotesk" charset="0"/>
                        <a:ea typeface="Space Grotesk" charset="0"/>
                        <a:cs typeface="Space Grotesk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C1121F"/>
                          </a:solidFill>
                          <a:latin typeface="IBM Plex Mono" pitchFamily="34" charset="0"/>
                          <a:ea typeface="IBM Plex Mono" pitchFamily="34" charset="-122"/>
                          <a:cs typeface="IBM Plex Mono" pitchFamily="34" charset="-120"/>
                        </a:rPr>
                        <a:t>11.3%</a:t>
                      </a:r>
                      <a:endParaRPr lang="en-US" sz="800" dirty="0">
                        <a:latin typeface="IBM Plex Mono" charset="0"/>
                        <a:ea typeface="IBM Plex Mono" charset="0"/>
                        <a:cs typeface="IBM Plex Mono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B1714"/>
                          </a:solidFill>
                          <a:latin typeface="IBM Plex Sans KR" pitchFamily="34" charset="0"/>
                          <a:ea typeface="IBM Plex Sans KR" pitchFamily="34" charset="-122"/>
                          <a:cs typeface="IBM Plex Sans KR" pitchFamily="34" charset="-120"/>
                        </a:rPr>
                        <a:t>최대결합 (그랜트20+희석49)</a:t>
                      </a:r>
                      <a:endParaRPr lang="en-US" sz="950" dirty="0">
                        <a:latin typeface="IBM Plex Sans KR" charset="0"/>
                        <a:ea typeface="IBM Plex Sans KR" charset="0"/>
                        <a:cs typeface="IBM Plex Sans KR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3E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B1714"/>
                          </a:solidFill>
                          <a:latin typeface="IBM Plex Mono" pitchFamily="34" charset="0"/>
                          <a:ea typeface="IBM Plex Mono" pitchFamily="34" charset="-122"/>
                          <a:cs typeface="IBM Plex Mono" pitchFamily="34" charset="-120"/>
                        </a:rPr>
                        <a:t>20%</a:t>
                      </a:r>
                      <a:endParaRPr lang="en-US" sz="950" dirty="0">
                        <a:latin typeface="IBM Plex Mono" charset="0"/>
                        <a:ea typeface="IBM Plex Mono" charset="0"/>
                        <a:cs typeface="IBM Plex Mono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3E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B1714"/>
                          </a:solidFill>
                          <a:latin typeface="IBM Plex Mono" pitchFamily="34" charset="0"/>
                          <a:ea typeface="IBM Plex Mono" pitchFamily="34" charset="-122"/>
                          <a:cs typeface="IBM Plex Mono" pitchFamily="34" charset="-120"/>
                        </a:rPr>
                        <a:t>49%</a:t>
                      </a:r>
                      <a:endParaRPr lang="en-US" sz="950" dirty="0">
                        <a:latin typeface="IBM Plex Mono" charset="0"/>
                        <a:ea typeface="IBM Plex Mono" charset="0"/>
                        <a:cs typeface="IBM Plex Mono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3E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B1714"/>
                          </a:solidFill>
                          <a:latin typeface="IBM Plex Mono" pitchFamily="34" charset="0"/>
                          <a:ea typeface="IBM Plex Mono" pitchFamily="34" charset="-122"/>
                          <a:cs typeface="IBM Plex Mono" pitchFamily="34" charset="-120"/>
                        </a:rPr>
                        <a:t>$6.9bn</a:t>
                      </a:r>
                      <a:endParaRPr lang="en-US" sz="950" dirty="0">
                        <a:latin typeface="IBM Plex Mono" charset="0"/>
                        <a:ea typeface="IBM Plex Mono" charset="0"/>
                        <a:cs typeface="IBM Plex Mono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3E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C1121F"/>
                          </a:solidFill>
                          <a:latin typeface="Space Grotesk" pitchFamily="34" charset="0"/>
                          <a:ea typeface="Space Grotesk" pitchFamily="34" charset="-122"/>
                          <a:cs typeface="Space Grotesk" pitchFamily="34" charset="-120"/>
                        </a:rPr>
                        <a:t>15.7x</a:t>
                      </a:r>
                      <a:endParaRPr lang="en-US" sz="1200" dirty="0">
                        <a:latin typeface="Space Grotesk" charset="0"/>
                        <a:ea typeface="Space Grotesk" charset="0"/>
                        <a:cs typeface="Space Grotesk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3E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6F6960"/>
                          </a:solidFill>
                          <a:latin typeface="IBM Plex Mono" pitchFamily="34" charset="0"/>
                          <a:ea typeface="IBM Plex Mono" pitchFamily="34" charset="-122"/>
                          <a:cs typeface="IBM Plex Mono" pitchFamily="34" charset="-120"/>
                        </a:rPr>
                        <a:t>10.9%</a:t>
                      </a:r>
                      <a:endParaRPr lang="en-US" sz="800" dirty="0">
                        <a:latin typeface="IBM Plex Mono" charset="0"/>
                        <a:ea typeface="IBM Plex Mono" charset="0"/>
                        <a:cs typeface="IBM Plex Mono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3EC"/>
                    </a:solidFill>
                  </a:tcPr>
                </a:tc>
              </a:tr>
            </a:tbl>
          </a:graphicData>
        </a:graphic>
      </p:graphicFrame>
      <p:sp>
        <p:nvSpPr>
          <p:cNvPr id="40" name="Text 37"/>
          <p:cNvSpPr/>
          <p:nvPr/>
        </p:nvSpPr>
        <p:spPr>
          <a:xfrm>
            <a:off x="4133088" y="4279392"/>
            <a:ext cx="5989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i="1" dirty="0">
                <a:solidFill>
                  <a:srgbClr val="9A847C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필요EBITDA% = 딜을 peer 하단(13x)에 맞추는 데 필요한 ex-AMPC 마진 · 현 9% 대비 전 시나리오 미달(10.9~13.0%) → 마진 개선 必</a:t>
            </a:r>
            <a:endParaRPr lang="en-US" sz="750" dirty="0"/>
          </a:p>
        </p:txBody>
      </p:sp>
      <p:sp>
        <p:nvSpPr>
          <p:cNvPr id="41" name="Text 38"/>
          <p:cNvSpPr/>
          <p:nvPr/>
        </p:nvSpPr>
        <p:spPr>
          <a:xfrm>
            <a:off x="4133088" y="4480560"/>
            <a:ext cx="59893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150" kern="0" dirty="0">
                <a:solidFill>
                  <a:srgbClr val="9A847C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peer 밴드(보수 8~13x) 대비 — 전 시나리오 초과</a:t>
            </a:r>
            <a:endParaRPr lang="en-US" sz="850" dirty="0"/>
          </a:p>
        </p:txBody>
      </p:sp>
      <p:sp>
        <p:nvSpPr>
          <p:cNvPr id="42" name="Shape 39"/>
          <p:cNvSpPr/>
          <p:nvPr/>
        </p:nvSpPr>
        <p:spPr>
          <a:xfrm>
            <a:off x="4178808" y="5074920"/>
            <a:ext cx="5349240" cy="0"/>
          </a:xfrm>
          <a:prstGeom prst="line">
            <a:avLst/>
          </a:prstGeom>
          <a:noFill/>
          <a:ln w="38100">
            <a:solidFill>
              <a:srgbClr val="D8CFC2"/>
            </a:solidFill>
            <a:prstDash val="solid"/>
          </a:ln>
        </p:spPr>
      </p:sp>
      <p:sp>
        <p:nvSpPr>
          <p:cNvPr id="43" name="Shape 40"/>
          <p:cNvSpPr/>
          <p:nvPr/>
        </p:nvSpPr>
        <p:spPr>
          <a:xfrm>
            <a:off x="4178808" y="4992624"/>
            <a:ext cx="2228850" cy="164592"/>
          </a:xfrm>
          <a:prstGeom prst="rect">
            <a:avLst/>
          </a:prstGeom>
          <a:solidFill>
            <a:srgbClr val="E8F3EC"/>
          </a:solidFill>
          <a:ln w="9525">
            <a:solidFill>
              <a:srgbClr val="1E7A4D"/>
            </a:solidFill>
            <a:prstDash val="solid"/>
          </a:ln>
        </p:spPr>
      </p:sp>
      <p:sp>
        <p:nvSpPr>
          <p:cNvPr id="44" name="Text 41"/>
          <p:cNvSpPr/>
          <p:nvPr/>
        </p:nvSpPr>
        <p:spPr>
          <a:xfrm>
            <a:off x="4178808" y="4764024"/>
            <a:ext cx="222885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1E7A4D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peer 8~13x(보수)</a:t>
            </a:r>
            <a:endParaRPr lang="en-US" sz="800" dirty="0"/>
          </a:p>
        </p:txBody>
      </p:sp>
      <p:sp>
        <p:nvSpPr>
          <p:cNvPr id="45" name="Shape 42"/>
          <p:cNvSpPr/>
          <p:nvPr/>
        </p:nvSpPr>
        <p:spPr>
          <a:xfrm>
            <a:off x="7611237" y="4855464"/>
            <a:ext cx="1381887" cy="0"/>
          </a:xfrm>
          <a:prstGeom prst="line">
            <a:avLst/>
          </a:prstGeom>
          <a:noFill/>
          <a:ln w="15875">
            <a:solidFill>
              <a:srgbClr val="FF8E84"/>
            </a:solidFill>
            <a:prstDash val="solid"/>
            <a:headEnd type="none"/>
            <a:tailEnd type="triangle"/>
          </a:ln>
        </p:spPr>
      </p:sp>
      <p:sp>
        <p:nvSpPr>
          <p:cNvPr id="46" name="Text 43"/>
          <p:cNvSpPr/>
          <p:nvPr/>
        </p:nvSpPr>
        <p:spPr>
          <a:xfrm>
            <a:off x="7154037" y="4672584"/>
            <a:ext cx="2296287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FF8E84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조달 레버 −3.1x (여전 peer 초과)</a:t>
            </a:r>
            <a:endParaRPr lang="en-US" sz="700" dirty="0"/>
          </a:p>
        </p:txBody>
      </p:sp>
      <p:sp>
        <p:nvSpPr>
          <p:cNvPr id="47" name="Shape 44"/>
          <p:cNvSpPr/>
          <p:nvPr/>
        </p:nvSpPr>
        <p:spPr>
          <a:xfrm>
            <a:off x="8947404" y="5029200"/>
            <a:ext cx="91440" cy="91440"/>
          </a:xfrm>
          <a:prstGeom prst="ellipse">
            <a:avLst/>
          </a:prstGeom>
          <a:solidFill>
            <a:srgbClr val="C1121F"/>
          </a:solidFill>
          <a:ln/>
        </p:spPr>
      </p:sp>
      <p:sp>
        <p:nvSpPr>
          <p:cNvPr id="48" name="Text 45"/>
          <p:cNvSpPr/>
          <p:nvPr/>
        </p:nvSpPr>
        <p:spPr>
          <a:xfrm>
            <a:off x="8353044" y="5166360"/>
            <a:ext cx="12801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C1121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BASE 18.8x</a:t>
            </a:r>
            <a:endParaRPr lang="en-US" sz="750" dirty="0"/>
          </a:p>
        </p:txBody>
      </p:sp>
      <p:sp>
        <p:nvSpPr>
          <p:cNvPr id="49" name="Shape 46"/>
          <p:cNvSpPr/>
          <p:nvPr/>
        </p:nvSpPr>
        <p:spPr>
          <a:xfrm>
            <a:off x="8323326" y="5029200"/>
            <a:ext cx="91440" cy="91440"/>
          </a:xfrm>
          <a:prstGeom prst="ellipse">
            <a:avLst/>
          </a:prstGeom>
          <a:solidFill>
            <a:srgbClr val="C1121F"/>
          </a:solidFill>
          <a:ln/>
        </p:spPr>
      </p:sp>
      <p:sp>
        <p:nvSpPr>
          <p:cNvPr id="50" name="Shape 47"/>
          <p:cNvSpPr/>
          <p:nvPr/>
        </p:nvSpPr>
        <p:spPr>
          <a:xfrm>
            <a:off x="7832979" y="5029200"/>
            <a:ext cx="91440" cy="91440"/>
          </a:xfrm>
          <a:prstGeom prst="ellipse">
            <a:avLst/>
          </a:prstGeom>
          <a:solidFill>
            <a:srgbClr val="8A5A55"/>
          </a:solidFill>
          <a:ln/>
        </p:spPr>
      </p:sp>
      <p:sp>
        <p:nvSpPr>
          <p:cNvPr id="51" name="Shape 48"/>
          <p:cNvSpPr/>
          <p:nvPr/>
        </p:nvSpPr>
        <p:spPr>
          <a:xfrm>
            <a:off x="7565517" y="5029200"/>
            <a:ext cx="91440" cy="91440"/>
          </a:xfrm>
          <a:prstGeom prst="ellipse">
            <a:avLst/>
          </a:prstGeom>
          <a:solidFill>
            <a:srgbClr val="8A5A55"/>
          </a:solidFill>
          <a:ln/>
        </p:spPr>
      </p:sp>
      <p:sp>
        <p:nvSpPr>
          <p:cNvPr id="52" name="Text 49"/>
          <p:cNvSpPr/>
          <p:nvPr/>
        </p:nvSpPr>
        <p:spPr>
          <a:xfrm>
            <a:off x="6971157" y="5166360"/>
            <a:ext cx="12801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8A5A5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최대 15.7x</a:t>
            </a:r>
            <a:endParaRPr lang="en-US" sz="750" dirty="0"/>
          </a:p>
        </p:txBody>
      </p:sp>
      <p:sp>
        <p:nvSpPr>
          <p:cNvPr id="53" name="Text 50"/>
          <p:cNvSpPr/>
          <p:nvPr/>
        </p:nvSpPr>
        <p:spPr>
          <a:xfrm>
            <a:off x="3904488" y="5330952"/>
            <a:ext cx="5486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9A847C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8x</a:t>
            </a:r>
            <a:endParaRPr lang="en-US" sz="700" dirty="0"/>
          </a:p>
        </p:txBody>
      </p:sp>
      <p:sp>
        <p:nvSpPr>
          <p:cNvPr id="54" name="Text 51"/>
          <p:cNvSpPr/>
          <p:nvPr/>
        </p:nvSpPr>
        <p:spPr>
          <a:xfrm>
            <a:off x="5241798" y="5330952"/>
            <a:ext cx="5486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9A847C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11x</a:t>
            </a:r>
            <a:endParaRPr lang="en-US" sz="700" dirty="0"/>
          </a:p>
        </p:txBody>
      </p:sp>
      <p:sp>
        <p:nvSpPr>
          <p:cNvPr id="55" name="Text 52"/>
          <p:cNvSpPr/>
          <p:nvPr/>
        </p:nvSpPr>
        <p:spPr>
          <a:xfrm>
            <a:off x="6133338" y="5330952"/>
            <a:ext cx="5486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9A847C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13x</a:t>
            </a:r>
            <a:endParaRPr lang="en-US" sz="700" dirty="0"/>
          </a:p>
        </p:txBody>
      </p:sp>
      <p:sp>
        <p:nvSpPr>
          <p:cNvPr id="56" name="Text 53"/>
          <p:cNvSpPr/>
          <p:nvPr/>
        </p:nvSpPr>
        <p:spPr>
          <a:xfrm>
            <a:off x="7024878" y="5330952"/>
            <a:ext cx="5486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9A847C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15x</a:t>
            </a:r>
            <a:endParaRPr lang="en-US" sz="700" dirty="0"/>
          </a:p>
        </p:txBody>
      </p:sp>
      <p:sp>
        <p:nvSpPr>
          <p:cNvPr id="57" name="Text 54"/>
          <p:cNvSpPr/>
          <p:nvPr/>
        </p:nvSpPr>
        <p:spPr>
          <a:xfrm>
            <a:off x="8362188" y="5330952"/>
            <a:ext cx="5486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9A847C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18x</a:t>
            </a:r>
            <a:endParaRPr lang="en-US" sz="700" dirty="0"/>
          </a:p>
        </p:txBody>
      </p:sp>
      <p:sp>
        <p:nvSpPr>
          <p:cNvPr id="58" name="Text 55"/>
          <p:cNvSpPr/>
          <p:nvPr/>
        </p:nvSpPr>
        <p:spPr>
          <a:xfrm>
            <a:off x="9253728" y="5330952"/>
            <a:ext cx="5486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9A847C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20x</a:t>
            </a:r>
            <a:endParaRPr lang="en-US" sz="700" dirty="0"/>
          </a:p>
        </p:txBody>
      </p:sp>
      <p:sp>
        <p:nvSpPr>
          <p:cNvPr id="59" name="Shape 56"/>
          <p:cNvSpPr/>
          <p:nvPr/>
        </p:nvSpPr>
        <p:spPr>
          <a:xfrm>
            <a:off x="566928" y="5797296"/>
            <a:ext cx="9555480" cy="1170432"/>
          </a:xfrm>
          <a:prstGeom prst="roundRect">
            <a:avLst>
              <a:gd name="adj" fmla="val 4688"/>
            </a:avLst>
          </a:prstGeom>
          <a:solidFill>
            <a:srgbClr val="211C18"/>
          </a:solidFill>
          <a:ln/>
        </p:spPr>
      </p:sp>
      <p:sp>
        <p:nvSpPr>
          <p:cNvPr id="60" name="Text 57"/>
          <p:cNvSpPr/>
          <p:nvPr/>
        </p:nvSpPr>
        <p:spPr>
          <a:xfrm>
            <a:off x="841248" y="5888736"/>
            <a:ext cx="9006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8E84"/>
                </a:solidFill>
                <a:latin typeface="Noto Serif KR" pitchFamily="34" charset="0"/>
                <a:ea typeface="Noto Serif KR" pitchFamily="34" charset="-122"/>
                <a:cs typeface="Noto Serif KR" pitchFamily="34" charset="-120"/>
              </a:rPr>
              <a:t>결론 — BA 11GW 축소로 필요멀티플이 peer를 넘어선다</a:t>
            </a:r>
            <a:endParaRPr lang="en-US" sz="1300" dirty="0"/>
          </a:p>
        </p:txBody>
      </p:sp>
      <p:sp>
        <p:nvSpPr>
          <p:cNvPr id="61" name="Text 58"/>
          <p:cNvSpPr/>
          <p:nvPr/>
        </p:nvSpPr>
        <p:spPr>
          <a:xfrm>
            <a:off x="841248" y="6199632"/>
            <a:ext cx="90068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D8CFC2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BA를 11GW로 축소하면 run-rate ex-AMPC EBITDA가 </a:t>
            </a:r>
            <a:pPr indent="0" marL="0">
              <a:lnSpc>
                <a:spcPct val="115000"/>
              </a:lnSpc>
              <a:buNone/>
            </a:pPr>
            <a:r>
              <a:rPr lang="en-US" sz="950" b="1" dirty="0">
                <a:solidFill>
                  <a:srgbClr val="FF8E84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$554→$438mm</a:t>
            </a:r>
            <a:pPr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D8CFC2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로 줄어 역산 필요 멀티플이 </a:t>
            </a:r>
            <a:pPr indent="0" marL="0">
              <a:lnSpc>
                <a:spcPct val="115000"/>
              </a:lnSpc>
              <a:buNone/>
            </a:pPr>
            <a:r>
              <a:rPr lang="en-US" sz="950" b="1" dirty="0">
                <a:solidFill>
                  <a:srgbClr val="FF8E84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BASE 18.8x → 최대결합 15.7x</a:t>
            </a:r>
            <a:pPr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D8CFC2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로 상승. 그랜트20·희석49를 다 써도 </a:t>
            </a:r>
            <a:pPr indent="0" marL="0">
              <a:lnSpc>
                <a:spcPct val="115000"/>
              </a:lnSpc>
              <a:buNone/>
            </a:pPr>
            <a:r>
              <a:rPr lang="en-US" sz="950" b="1" dirty="0">
                <a:solidFill>
                  <a:srgbClr val="FF8E84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정상화 peer(13~15x)를 초과</a:t>
            </a:r>
            <a:pPr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D8CFC2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(2029E 분모면 19.9~23.8x). DCF 내재 </a:t>
            </a:r>
            <a:pPr indent="0" marL="0">
              <a:lnSpc>
                <a:spcPct val="115000"/>
              </a:lnSpc>
              <a:buNone/>
            </a:pPr>
            <a:r>
              <a:rPr lang="en-US" sz="950" b="1" dirty="0">
                <a:solidFill>
                  <a:srgbClr val="86D6A6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8.3x는 여전히 할인</a:t>
            </a:r>
            <a:pPr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D8CFC2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. 규모 축소가 지분조달 여력 악화 → 마진 개선(</a:t>
            </a:r>
            <a:pPr indent="0" marL="0">
              <a:lnSpc>
                <a:spcPct val="115000"/>
              </a:lnSpc>
              <a:buNone/>
            </a:pPr>
            <a:r>
              <a:rPr lang="en-US" sz="950" b="1" dirty="0">
                <a:solidFill>
                  <a:srgbClr val="86D6A6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필요 EBITDA% 10.9~13.0%</a:t>
            </a:r>
            <a:pPr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D8CFC2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)이 관건. WACC10.5%·TGR2%·순차입 $6.4bn ★</a:t>
            </a:r>
            <a:endParaRPr lang="en-US" sz="950" dirty="0"/>
          </a:p>
        </p:txBody>
      </p:sp>
      <p:sp>
        <p:nvSpPr>
          <p:cNvPr id="62" name="Shape 59"/>
          <p:cNvSpPr/>
          <p:nvPr/>
        </p:nvSpPr>
        <p:spPr>
          <a:xfrm>
            <a:off x="566928" y="7141464"/>
            <a:ext cx="9555480" cy="0"/>
          </a:xfrm>
          <a:prstGeom prst="line">
            <a:avLst/>
          </a:prstGeom>
          <a:noFill/>
          <a:ln w="9525">
            <a:solidFill>
              <a:srgbClr val="E4DED4"/>
            </a:solidFill>
            <a:prstDash val="solid"/>
          </a:ln>
        </p:spPr>
      </p:sp>
      <p:sp>
        <p:nvSpPr>
          <p:cNvPr id="63" name="Text 60"/>
          <p:cNvSpPr/>
          <p:nvPr/>
        </p:nvSpPr>
        <p:spPr>
          <a:xfrm>
            <a:off x="566928" y="7178040"/>
            <a:ext cx="5486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9A847C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SK 전략팀 · Strictly Private &amp; Confidential</a:t>
            </a:r>
            <a:endParaRPr lang="en-US" sz="750" dirty="0"/>
          </a:p>
        </p:txBody>
      </p:sp>
      <p:sp>
        <p:nvSpPr>
          <p:cNvPr id="64" name="Text 61"/>
          <p:cNvSpPr/>
          <p:nvPr/>
        </p:nvSpPr>
        <p:spPr>
          <a:xfrm>
            <a:off x="7836408" y="7178040"/>
            <a:ext cx="2286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9A847C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★ = 미검증</a:t>
            </a:r>
            <a:endParaRPr lang="en-US" sz="7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BF9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75488"/>
            <a:ext cx="6858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200" kern="0" dirty="0">
                <a:solidFill>
                  <a:srgbClr val="C1121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VALUATION — PEER MULTIPLES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6007608" y="475488"/>
            <a:ext cx="4114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150" kern="0" dirty="0">
                <a:solidFill>
                  <a:srgbClr val="9A847C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SK 전략팀 · Confidential  /  05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566928" y="786384"/>
            <a:ext cx="7178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1714"/>
                </a:solidFill>
                <a:latin typeface="Noto Serif KR" pitchFamily="34" charset="0"/>
                <a:ea typeface="Noto Serif KR" pitchFamily="34" charset="-122"/>
                <a:cs typeface="Noto Serif KR" pitchFamily="34" charset="-120"/>
              </a:rPr>
              <a:t>Peer 멀티플 — 실측 + EBITDA 기준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7379208" y="932688"/>
            <a:ext cx="2743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r" indent="0" marL="0">
              <a:buNone/>
            </a:pPr>
            <a:r>
              <a:rPr lang="en-US" sz="950" dirty="0">
                <a:solidFill>
                  <a:srgbClr val="6F6960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forward EV/EBITDA · 2026.7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566928" y="1426464"/>
            <a:ext cx="9555480" cy="0"/>
          </a:xfrm>
          <a:prstGeom prst="line">
            <a:avLst/>
          </a:prstGeom>
          <a:noFill/>
          <a:ln w="19050">
            <a:solidFill>
              <a:srgbClr val="1B1714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66928" y="1627632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150" kern="0" dirty="0">
                <a:solidFill>
                  <a:srgbClr val="9A847C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Peer 컴프스 (실측) · forward EV/EBITDA ★</a:t>
            </a:r>
            <a:endParaRPr lang="en-US" sz="85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1883664"/>
          <a:ext cx="4572000" cy="914400"/>
        </p:xfrm>
        <a:graphic>
          <a:graphicData uri="http://schemas.openxmlformats.org/drawingml/2006/table">
            <a:tbl>
              <a:tblPr/>
              <a:tblGrid>
                <a:gridCol w="1874520"/>
                <a:gridCol w="1325880"/>
                <a:gridCol w="1371600"/>
              </a:tblGrid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IBM Plex Sans KR" pitchFamily="34" charset="0"/>
                          <a:ea typeface="IBM Plex Sans KR" pitchFamily="34" charset="-122"/>
                          <a:cs typeface="IBM Plex Sans KR" pitchFamily="34" charset="-120"/>
                        </a:rPr>
                        <a:t>회사</a:t>
                      </a:r>
                      <a:endParaRPr lang="en-US" sz="900" dirty="0">
                        <a:latin typeface="IBM Plex Sans KR" charset="0"/>
                        <a:ea typeface="IBM Plex Sans KR" charset="0"/>
                        <a:cs typeface="IBM Plex Sans KR" charset="0"/>
                      </a:endParaRPr>
                    </a:p>
                  </a:txBody>
                  <a:tcPr marL="88900" marR="88900" marT="25400" marB="25400" anchor="ctr">
                    <a:lnL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171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IBM Plex Sans KR" pitchFamily="34" charset="0"/>
                          <a:ea typeface="IBM Plex Sans KR" pitchFamily="34" charset="-122"/>
                          <a:cs typeface="IBM Plex Sans KR" pitchFamily="34" charset="-120"/>
                        </a:rPr>
                        <a:t>EV/EBITDA</a:t>
                      </a:r>
                      <a:endParaRPr lang="en-US" sz="900" dirty="0">
                        <a:latin typeface="IBM Plex Sans KR" charset="0"/>
                        <a:ea typeface="IBM Plex Sans KR" charset="0"/>
                        <a:cs typeface="IBM Plex Sans KR" charset="0"/>
                      </a:endParaRPr>
                    </a:p>
                  </a:txBody>
                  <a:tcPr marL="88900" marR="88900" marT="25400" marB="25400" anchor="ctr">
                    <a:lnL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171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IBM Plex Sans KR" pitchFamily="34" charset="0"/>
                          <a:ea typeface="IBM Plex Sans KR" pitchFamily="34" charset="-122"/>
                          <a:cs typeface="IBM Plex Sans KR" pitchFamily="34" charset="-120"/>
                        </a:rPr>
                        <a:t>비고</a:t>
                      </a:r>
                      <a:endParaRPr lang="en-US" sz="900" dirty="0">
                        <a:latin typeface="IBM Plex Sans KR" charset="0"/>
                        <a:ea typeface="IBM Plex Sans KR" charset="0"/>
                        <a:cs typeface="IBM Plex Sans KR" charset="0"/>
                      </a:endParaRPr>
                    </a:p>
                  </a:txBody>
                  <a:tcPr marL="88900" marR="88900" marT="25400" marB="25400" anchor="ctr">
                    <a:lnL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1714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B1714"/>
                          </a:solidFill>
                          <a:latin typeface="IBM Plex Sans KR" pitchFamily="34" charset="0"/>
                          <a:ea typeface="IBM Plex Sans KR" pitchFamily="34" charset="-122"/>
                          <a:cs typeface="IBM Plex Sans KR" pitchFamily="34" charset="-120"/>
                        </a:rPr>
                        <a:t>LG에너지솔루션</a:t>
                      </a:r>
                      <a:endParaRPr lang="en-US" sz="950" dirty="0">
                        <a:latin typeface="IBM Plex Sans KR" charset="0"/>
                        <a:ea typeface="IBM Plex Sans KR" charset="0"/>
                        <a:cs typeface="IBM Plex Sans KR" charset="0"/>
                      </a:endParaRPr>
                    </a:p>
                  </a:txBody>
                  <a:tcPr marL="88900" marR="88900" marT="25400" marB="25400" anchor="ctr">
                    <a:lnL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1B1714"/>
                          </a:solidFill>
                          <a:latin typeface="Space Grotesk" pitchFamily="34" charset="0"/>
                          <a:ea typeface="Space Grotesk" pitchFamily="34" charset="-122"/>
                          <a:cs typeface="Space Grotesk" pitchFamily="34" charset="-120"/>
                        </a:rPr>
                        <a:t>19x → 15x</a:t>
                      </a:r>
                      <a:endParaRPr lang="en-US" sz="1050" dirty="0">
                        <a:latin typeface="Space Grotesk" charset="0"/>
                        <a:ea typeface="Space Grotesk" charset="0"/>
                        <a:cs typeface="Space Grotesk" charset="0"/>
                      </a:endParaRPr>
                    </a:p>
                  </a:txBody>
                  <a:tcPr marL="88900" marR="88900" marT="25400" marB="25400" anchor="ctr">
                    <a:lnL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6F6960"/>
                          </a:solidFill>
                          <a:latin typeface="IBM Plex Mono" pitchFamily="34" charset="0"/>
                          <a:ea typeface="IBM Plex Mono" pitchFamily="34" charset="-122"/>
                          <a:cs typeface="IBM Plex Mono" pitchFamily="34" charset="-120"/>
                        </a:rPr>
                        <a:t>26F / 27F</a:t>
                      </a:r>
                      <a:endParaRPr lang="en-US" sz="850" dirty="0">
                        <a:latin typeface="IBM Plex Mono" charset="0"/>
                        <a:ea typeface="IBM Plex Mono" charset="0"/>
                        <a:cs typeface="IBM Plex Mono" charset="0"/>
                      </a:endParaRPr>
                    </a:p>
                  </a:txBody>
                  <a:tcPr marL="88900" marR="88900" marT="25400" marB="25400" anchor="ctr">
                    <a:lnL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B1714"/>
                          </a:solidFill>
                          <a:latin typeface="IBM Plex Sans KR" pitchFamily="34" charset="0"/>
                          <a:ea typeface="IBM Plex Sans KR" pitchFamily="34" charset="-122"/>
                          <a:cs typeface="IBM Plex Sans KR" pitchFamily="34" charset="-120"/>
                        </a:rPr>
                        <a:t>CATL</a:t>
                      </a:r>
                      <a:endParaRPr lang="en-US" sz="950" dirty="0">
                        <a:latin typeface="IBM Plex Sans KR" charset="0"/>
                        <a:ea typeface="IBM Plex Sans KR" charset="0"/>
                        <a:cs typeface="IBM Plex Sans KR" charset="0"/>
                      </a:endParaRPr>
                    </a:p>
                  </a:txBody>
                  <a:tcPr marL="88900" marR="88900" marT="25400" marB="25400" anchor="ctr">
                    <a:lnL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1B1714"/>
                          </a:solidFill>
                          <a:latin typeface="Space Grotesk" pitchFamily="34" charset="0"/>
                          <a:ea typeface="Space Grotesk" pitchFamily="34" charset="-122"/>
                          <a:cs typeface="Space Grotesk" pitchFamily="34" charset="-120"/>
                        </a:rPr>
                        <a:t>~13x</a:t>
                      </a:r>
                      <a:endParaRPr lang="en-US" sz="1050" dirty="0">
                        <a:latin typeface="Space Grotesk" charset="0"/>
                        <a:ea typeface="Space Grotesk" charset="0"/>
                        <a:cs typeface="Space Grotesk" charset="0"/>
                      </a:endParaRPr>
                    </a:p>
                  </a:txBody>
                  <a:tcPr marL="88900" marR="88900" marT="25400" marB="25400" anchor="ctr">
                    <a:lnL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6F6960"/>
                          </a:solidFill>
                          <a:latin typeface="IBM Plex Mono" pitchFamily="34" charset="0"/>
                          <a:ea typeface="IBM Plex Mono" pitchFamily="34" charset="-122"/>
                          <a:cs typeface="IBM Plex Mono" pitchFamily="34" charset="-120"/>
                        </a:rPr>
                        <a:t>PE22·최고수익</a:t>
                      </a:r>
                      <a:endParaRPr lang="en-US" sz="850" dirty="0">
                        <a:latin typeface="IBM Plex Mono" charset="0"/>
                        <a:ea typeface="IBM Plex Mono" charset="0"/>
                        <a:cs typeface="IBM Plex Mono" charset="0"/>
                      </a:endParaRPr>
                    </a:p>
                  </a:txBody>
                  <a:tcPr marL="88900" marR="88900" marT="25400" marB="25400" anchor="ctr">
                    <a:lnL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B1714"/>
                          </a:solidFill>
                          <a:latin typeface="IBM Plex Sans KR" pitchFamily="34" charset="0"/>
                          <a:ea typeface="IBM Plex Sans KR" pitchFamily="34" charset="-122"/>
                          <a:cs typeface="IBM Plex Sans KR" pitchFamily="34" charset="-120"/>
                        </a:rPr>
                        <a:t>삼성SDI</a:t>
                      </a:r>
                      <a:endParaRPr lang="en-US" sz="950" dirty="0">
                        <a:latin typeface="IBM Plex Sans KR" charset="0"/>
                        <a:ea typeface="IBM Plex Sans KR" charset="0"/>
                        <a:cs typeface="IBM Plex Sans KR" charset="0"/>
                      </a:endParaRPr>
                    </a:p>
                  </a:txBody>
                  <a:tcPr marL="88900" marR="88900" marT="25400" marB="25400" anchor="ctr">
                    <a:lnL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9A847C"/>
                          </a:solidFill>
                          <a:latin typeface="Space Grotesk" pitchFamily="34" charset="0"/>
                          <a:ea typeface="Space Grotesk" pitchFamily="34" charset="-122"/>
                          <a:cs typeface="Space Grotesk" pitchFamily="34" charset="-120"/>
                        </a:rPr>
                        <a:t>n.m.</a:t>
                      </a:r>
                      <a:endParaRPr lang="en-US" sz="1050" dirty="0">
                        <a:latin typeface="Space Grotesk" charset="0"/>
                        <a:ea typeface="Space Grotesk" charset="0"/>
                        <a:cs typeface="Space Grotesk" charset="0"/>
                      </a:endParaRPr>
                    </a:p>
                  </a:txBody>
                  <a:tcPr marL="88900" marR="88900" marT="25400" marB="25400" anchor="ctr">
                    <a:lnL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6F6960"/>
                          </a:solidFill>
                          <a:latin typeface="IBM Plex Mono" pitchFamily="34" charset="0"/>
                          <a:ea typeface="IBM Plex Mono" pitchFamily="34" charset="-122"/>
                          <a:cs typeface="IBM Plex Mono" pitchFamily="34" charset="-120"/>
                        </a:rPr>
                        <a:t>EBITDA 적자근접</a:t>
                      </a:r>
                      <a:endParaRPr lang="en-US" sz="850" dirty="0">
                        <a:latin typeface="IBM Plex Mono" charset="0"/>
                        <a:ea typeface="IBM Plex Mono" charset="0"/>
                        <a:cs typeface="IBM Plex Mono" charset="0"/>
                      </a:endParaRPr>
                    </a:p>
                  </a:txBody>
                  <a:tcPr marL="88900" marR="88900" marT="25400" marB="25400" anchor="ctr">
                    <a:lnL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B1714"/>
                          </a:solidFill>
                          <a:latin typeface="IBM Plex Sans KR" pitchFamily="34" charset="0"/>
                          <a:ea typeface="IBM Plex Sans KR" pitchFamily="34" charset="-122"/>
                          <a:cs typeface="IBM Plex Sans KR" pitchFamily="34" charset="-120"/>
                        </a:rPr>
                        <a:t>Fluence</a:t>
                      </a:r>
                      <a:endParaRPr lang="en-US" sz="950" dirty="0">
                        <a:latin typeface="IBM Plex Sans KR" charset="0"/>
                        <a:ea typeface="IBM Plex Sans KR" charset="0"/>
                        <a:cs typeface="IBM Plex Sans KR" charset="0"/>
                      </a:endParaRPr>
                    </a:p>
                  </a:txBody>
                  <a:tcPr marL="88900" marR="88900" marT="25400" marB="25400" anchor="ctr">
                    <a:lnL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9A847C"/>
                          </a:solidFill>
                          <a:latin typeface="Space Grotesk" pitchFamily="34" charset="0"/>
                          <a:ea typeface="Space Grotesk" pitchFamily="34" charset="-122"/>
                          <a:cs typeface="Space Grotesk" pitchFamily="34" charset="-120"/>
                        </a:rPr>
                        <a:t>n.m.</a:t>
                      </a:r>
                      <a:endParaRPr lang="en-US" sz="1050" dirty="0">
                        <a:latin typeface="Space Grotesk" charset="0"/>
                        <a:ea typeface="Space Grotesk" charset="0"/>
                        <a:cs typeface="Space Grotesk" charset="0"/>
                      </a:endParaRPr>
                    </a:p>
                  </a:txBody>
                  <a:tcPr marL="88900" marR="88900" marT="25400" marB="25400" anchor="ctr">
                    <a:lnL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6F6960"/>
                          </a:solidFill>
                          <a:latin typeface="IBM Plex Mono" pitchFamily="34" charset="0"/>
                          <a:ea typeface="IBM Plex Mono" pitchFamily="34" charset="-122"/>
                          <a:cs typeface="IBM Plex Mono" pitchFamily="34" charset="-120"/>
                        </a:rPr>
                        <a:t>adjEBITDA$40~60M</a:t>
                      </a:r>
                      <a:endParaRPr lang="en-US" sz="850" dirty="0">
                        <a:latin typeface="IBM Plex Mono" charset="0"/>
                        <a:ea typeface="IBM Plex Mono" charset="0"/>
                        <a:cs typeface="IBM Plex Mono" charset="0"/>
                      </a:endParaRPr>
                    </a:p>
                  </a:txBody>
                  <a:tcPr marL="88900" marR="88900" marT="25400" marB="25400" anchor="ctr">
                    <a:lnL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B1714"/>
                          </a:solidFill>
                          <a:latin typeface="IBM Plex Sans KR" pitchFamily="34" charset="0"/>
                          <a:ea typeface="IBM Plex Sans KR" pitchFamily="34" charset="-122"/>
                          <a:cs typeface="IBM Plex Sans KR" pitchFamily="34" charset="-120"/>
                        </a:rPr>
                        <a:t>정상화(mid-cycle)</a:t>
                      </a:r>
                      <a:endParaRPr lang="en-US" sz="950" dirty="0">
                        <a:latin typeface="IBM Plex Sans KR" charset="0"/>
                        <a:ea typeface="IBM Plex Sans KR" charset="0"/>
                        <a:cs typeface="IBM Plex Sans KR" charset="0"/>
                      </a:endParaRPr>
                    </a:p>
                  </a:txBody>
                  <a:tcPr marL="88900" marR="88900" marT="25400" marB="25400" anchor="ctr">
                    <a:lnL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3E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1E7A4D"/>
                          </a:solidFill>
                          <a:latin typeface="Space Grotesk" pitchFamily="34" charset="0"/>
                          <a:ea typeface="Space Grotesk" pitchFamily="34" charset="-122"/>
                          <a:cs typeface="Space Grotesk" pitchFamily="34" charset="-120"/>
                        </a:rPr>
                        <a:t>13~15x</a:t>
                      </a:r>
                      <a:endParaRPr lang="en-US" sz="1050" dirty="0">
                        <a:latin typeface="Space Grotesk" charset="0"/>
                        <a:ea typeface="Space Grotesk" charset="0"/>
                        <a:cs typeface="Space Grotesk" charset="0"/>
                      </a:endParaRPr>
                    </a:p>
                  </a:txBody>
                  <a:tcPr marL="88900" marR="88900" marT="25400" marB="25400" anchor="ctr">
                    <a:lnL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3E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6F6960"/>
                          </a:solidFill>
                          <a:latin typeface="IBM Plex Mono" pitchFamily="34" charset="0"/>
                          <a:ea typeface="IBM Plex Mono" pitchFamily="34" charset="-122"/>
                          <a:cs typeface="IBM Plex Mono" pitchFamily="34" charset="-120"/>
                        </a:rPr>
                        <a:t>← 비교 기준</a:t>
                      </a:r>
                      <a:endParaRPr lang="en-US" sz="850" dirty="0">
                        <a:latin typeface="IBM Plex Mono" charset="0"/>
                        <a:ea typeface="IBM Plex Mono" charset="0"/>
                        <a:cs typeface="IBM Plex Mono" charset="0"/>
                      </a:endParaRPr>
                    </a:p>
                  </a:txBody>
                  <a:tcPr marL="88900" marR="88900" marT="25400" marB="25400" anchor="ctr">
                    <a:lnL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3EC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B1714"/>
                          </a:solidFill>
                          <a:latin typeface="IBM Plex Sans KR" pitchFamily="34" charset="0"/>
                          <a:ea typeface="IBM Plex Sans KR" pitchFamily="34" charset="-122"/>
                          <a:cs typeface="IBM Plex Sans KR" pitchFamily="34" charset="-120"/>
                        </a:rPr>
                        <a:t>보수(장기) 가정</a:t>
                      </a:r>
                      <a:endParaRPr lang="en-US" sz="950" dirty="0">
                        <a:latin typeface="IBM Plex Sans KR" charset="0"/>
                        <a:ea typeface="IBM Plex Sans KR" charset="0"/>
                        <a:cs typeface="IBM Plex Sans KR" charset="0"/>
                      </a:endParaRPr>
                    </a:p>
                  </a:txBody>
                  <a:tcPr marL="88900" marR="88900" marT="25400" marB="25400" anchor="ctr">
                    <a:lnL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CE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6F6960"/>
                          </a:solidFill>
                          <a:latin typeface="Space Grotesk" pitchFamily="34" charset="0"/>
                          <a:ea typeface="Space Grotesk" pitchFamily="34" charset="-122"/>
                          <a:cs typeface="Space Grotesk" pitchFamily="34" charset="-120"/>
                        </a:rPr>
                        <a:t>8~13x</a:t>
                      </a:r>
                      <a:endParaRPr lang="en-US" sz="1050" dirty="0">
                        <a:latin typeface="Space Grotesk" charset="0"/>
                        <a:ea typeface="Space Grotesk" charset="0"/>
                        <a:cs typeface="Space Grotesk" charset="0"/>
                      </a:endParaRPr>
                    </a:p>
                  </a:txBody>
                  <a:tcPr marL="88900" marR="88900" marT="25400" marB="25400" anchor="ctr">
                    <a:lnL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CE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6F6960"/>
                          </a:solidFill>
                          <a:latin typeface="IBM Plex Mono" pitchFamily="34" charset="0"/>
                          <a:ea typeface="IBM Plex Mono" pitchFamily="34" charset="-122"/>
                          <a:cs typeface="IBM Plex Mono" pitchFamily="34" charset="-120"/>
                        </a:rPr>
                        <a:t>floor</a:t>
                      </a:r>
                      <a:endParaRPr lang="en-US" sz="850" dirty="0">
                        <a:latin typeface="IBM Plex Mono" charset="0"/>
                        <a:ea typeface="IBM Plex Mono" charset="0"/>
                        <a:cs typeface="IBM Plex Mono" charset="0"/>
                      </a:endParaRPr>
                    </a:p>
                  </a:txBody>
                  <a:tcPr marL="88900" marR="88900" marT="25400" marB="25400" anchor="ctr">
                    <a:lnL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CE0"/>
                    </a:solidFill>
                  </a:tcPr>
                </a:tc>
              </a:tr>
            </a:tbl>
          </a:graphicData>
        </a:graphic>
      </p:graphicFrame>
      <p:sp>
        <p:nvSpPr>
          <p:cNvPr id="9" name="Text 6"/>
          <p:cNvSpPr/>
          <p:nvPr/>
        </p:nvSpPr>
        <p:spPr>
          <a:xfrm>
            <a:off x="566928" y="4443984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700" i="1" dirty="0">
                <a:solidFill>
                  <a:srgbClr val="9A847C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★ LGES EV/EBITDA 26x'25F→19x'26F→15x'27F(stockanalysis·미래에셋) · CATL P/E 20.5x'26E(UBS) · 삼성SDI '26 영업손실→n.m.(미래에셋) · Fluence adjEBITDA$40~60M→n.m. 섹터 트로프로 실측 15~27x·정상화 ~13~15x. peer는 자체보조금 포함(우리 ex-AMPC=보수적) · 정밀값 Bloomberg/FactSet 확정 要</a:t>
            </a:r>
            <a:endParaRPr lang="en-US" sz="700" dirty="0"/>
          </a:p>
        </p:txBody>
      </p:sp>
      <p:sp>
        <p:nvSpPr>
          <p:cNvPr id="10" name="Text 7"/>
          <p:cNvSpPr/>
          <p:nvPr/>
        </p:nvSpPr>
        <p:spPr>
          <a:xfrm>
            <a:off x="5504688" y="1627632"/>
            <a:ext cx="46177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150" kern="0" dirty="0">
                <a:solidFill>
                  <a:srgbClr val="9A847C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우리 멀티플 · EBITDA 기준별 (분모 민감도)</a:t>
            </a:r>
            <a:endParaRPr lang="en-US" sz="850" dirty="0"/>
          </a:p>
        </p:txBody>
      </p:sp>
      <p:graphicFrame>
        <p:nvGraphicFramePr>
          <p:cNvPr id="11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504688" y="1883664"/>
          <a:ext cx="4617720" cy="914400"/>
        </p:xfrm>
        <a:graphic>
          <a:graphicData uri="http://schemas.openxmlformats.org/drawingml/2006/table">
            <a:tbl>
              <a:tblPr/>
              <a:tblGrid>
                <a:gridCol w="1417320"/>
                <a:gridCol w="868680"/>
                <a:gridCol w="914400"/>
                <a:gridCol w="1417320"/>
              </a:tblGrid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IBM Plex Sans KR" pitchFamily="34" charset="0"/>
                          <a:ea typeface="IBM Plex Sans KR" pitchFamily="34" charset="-122"/>
                          <a:cs typeface="IBM Plex Sans KR" pitchFamily="34" charset="-120"/>
                        </a:rPr>
                        <a:t>EBITDA 기준</a:t>
                      </a:r>
                      <a:endParaRPr lang="en-US" sz="850" dirty="0">
                        <a:latin typeface="IBM Plex Sans KR" charset="0"/>
                        <a:ea typeface="IBM Plex Sans KR" charset="0"/>
                        <a:cs typeface="IBM Plex Sans KR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171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IBM Plex Sans KR" pitchFamily="34" charset="0"/>
                          <a:ea typeface="IBM Plex Sans KR" pitchFamily="34" charset="-122"/>
                          <a:cs typeface="IBM Plex Sans KR" pitchFamily="34" charset="-120"/>
                        </a:rPr>
                        <a:t>금액</a:t>
                      </a:r>
                      <a:endParaRPr lang="en-US" sz="850" dirty="0">
                        <a:latin typeface="IBM Plex Sans KR" charset="0"/>
                        <a:ea typeface="IBM Plex Sans KR" charset="0"/>
                        <a:cs typeface="IBM Plex Sans KR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171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IBM Plex Sans KR" pitchFamily="34" charset="0"/>
                          <a:ea typeface="IBM Plex Sans KR" pitchFamily="34" charset="-122"/>
                          <a:cs typeface="IBM Plex Sans KR" pitchFamily="34" charset="-120"/>
                        </a:rPr>
                        <a:t>DCF 내재</a:t>
                      </a:r>
                      <a:endParaRPr lang="en-US" sz="850" dirty="0">
                        <a:latin typeface="IBM Plex Sans KR" charset="0"/>
                        <a:ea typeface="IBM Plex Sans KR" charset="0"/>
                        <a:cs typeface="IBM Plex Sans KR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171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IBM Plex Sans KR" pitchFamily="34" charset="0"/>
                          <a:ea typeface="IBM Plex Sans KR" pitchFamily="34" charset="-122"/>
                          <a:cs typeface="IBM Plex Sans KR" pitchFamily="34" charset="-120"/>
                        </a:rPr>
                        <a:t>역산 필요</a:t>
                      </a:r>
                      <a:endParaRPr lang="en-US" sz="850" dirty="0">
                        <a:latin typeface="IBM Plex Sans KR" charset="0"/>
                        <a:ea typeface="IBM Plex Sans KR" charset="0"/>
                        <a:cs typeface="IBM Plex Sans KR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IBM Plex Sans KR" pitchFamily="34" charset="0"/>
                          <a:ea typeface="IBM Plex Sans KR" pitchFamily="34" charset="-122"/>
                          <a:cs typeface="IBM Plex Sans KR" pitchFamily="34" charset="-120"/>
                        </a:rPr>
                        <a:t>(BASE→최대)</a:t>
                      </a:r>
                      <a:endParaRPr lang="en-US" sz="850" dirty="0">
                        <a:latin typeface="IBM Plex Sans KR" charset="0"/>
                        <a:ea typeface="IBM Plex Sans KR" charset="0"/>
                        <a:cs typeface="IBM Plex Sans KR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1714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B1714"/>
                          </a:solidFill>
                          <a:latin typeface="IBM Plex Sans KR" pitchFamily="34" charset="0"/>
                          <a:ea typeface="IBM Plex Sans KR" pitchFamily="34" charset="-122"/>
                          <a:cs typeface="IBM Plex Sans KR" pitchFamily="34" charset="-120"/>
                        </a:rPr>
                        <a:t>run-rate 30~32</a:t>
                      </a:r>
                      <a:endParaRPr lang="en-US" sz="950" dirty="0">
                        <a:latin typeface="IBM Plex Sans KR" charset="0"/>
                        <a:ea typeface="IBM Plex Sans KR" charset="0"/>
                        <a:cs typeface="IBM Plex Sans KR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3E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B1714"/>
                          </a:solidFill>
                          <a:latin typeface="IBM Plex Mono" pitchFamily="34" charset="0"/>
                          <a:ea typeface="IBM Plex Mono" pitchFamily="34" charset="-122"/>
                          <a:cs typeface="IBM Plex Mono" pitchFamily="34" charset="-120"/>
                        </a:rPr>
                        <a:t>$438mm</a:t>
                      </a:r>
                      <a:endParaRPr lang="en-US" sz="950" dirty="0">
                        <a:latin typeface="IBM Plex Mono" charset="0"/>
                        <a:ea typeface="IBM Plex Mono" charset="0"/>
                        <a:cs typeface="IBM Plex Mono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3E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1E7A4D"/>
                          </a:solidFill>
                          <a:latin typeface="Space Grotesk" pitchFamily="34" charset="0"/>
                          <a:ea typeface="Space Grotesk" pitchFamily="34" charset="-122"/>
                          <a:cs typeface="Space Grotesk" pitchFamily="34" charset="-120"/>
                        </a:rPr>
                        <a:t>8.3x</a:t>
                      </a:r>
                      <a:endParaRPr lang="en-US" sz="1150" dirty="0">
                        <a:latin typeface="Space Grotesk" charset="0"/>
                        <a:ea typeface="Space Grotesk" charset="0"/>
                        <a:cs typeface="Space Grotesk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3E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C1121F"/>
                          </a:solidFill>
                          <a:latin typeface="IBM Plex Mono" pitchFamily="34" charset="0"/>
                          <a:ea typeface="IBM Plex Mono" pitchFamily="34" charset="-122"/>
                          <a:cs typeface="IBM Plex Mono" pitchFamily="34" charset="-120"/>
                        </a:rPr>
                        <a:t>15.7~18.8x</a:t>
                      </a:r>
                      <a:endParaRPr lang="en-US" sz="950" dirty="0">
                        <a:latin typeface="IBM Plex Mono" charset="0"/>
                        <a:ea typeface="IBM Plex Mono" charset="0"/>
                        <a:cs typeface="IBM Plex Mono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3EC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B1714"/>
                          </a:solidFill>
                          <a:latin typeface="IBM Plex Sans KR" pitchFamily="34" charset="0"/>
                          <a:ea typeface="IBM Plex Sans KR" pitchFamily="34" charset="-122"/>
                          <a:cs typeface="IBM Plex Sans KR" pitchFamily="34" charset="-120"/>
                        </a:rPr>
                        <a:t>2029E forward</a:t>
                      </a:r>
                      <a:endParaRPr lang="en-US" sz="950" dirty="0">
                        <a:latin typeface="IBM Plex Sans KR" charset="0"/>
                        <a:ea typeface="IBM Plex Sans KR" charset="0"/>
                        <a:cs typeface="IBM Plex Sans KR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B1714"/>
                          </a:solidFill>
                          <a:latin typeface="IBM Plex Mono" pitchFamily="34" charset="0"/>
                          <a:ea typeface="IBM Plex Mono" pitchFamily="34" charset="-122"/>
                          <a:cs typeface="IBM Plex Mono" pitchFamily="34" charset="-120"/>
                        </a:rPr>
                        <a:t>$346mm</a:t>
                      </a:r>
                      <a:endParaRPr lang="en-US" sz="950" dirty="0">
                        <a:latin typeface="IBM Plex Mono" charset="0"/>
                        <a:ea typeface="IBM Plex Mono" charset="0"/>
                        <a:cs typeface="IBM Plex Mono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1E7A4D"/>
                          </a:solidFill>
                          <a:latin typeface="Space Grotesk" pitchFamily="34" charset="0"/>
                          <a:ea typeface="Space Grotesk" pitchFamily="34" charset="-122"/>
                          <a:cs typeface="Space Grotesk" pitchFamily="34" charset="-120"/>
                        </a:rPr>
                        <a:t>10.5x</a:t>
                      </a:r>
                      <a:endParaRPr lang="en-US" sz="1150" dirty="0">
                        <a:latin typeface="Space Grotesk" charset="0"/>
                        <a:ea typeface="Space Grotesk" charset="0"/>
                        <a:cs typeface="Space Grotesk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C1121F"/>
                          </a:solidFill>
                          <a:latin typeface="IBM Plex Mono" pitchFamily="34" charset="0"/>
                          <a:ea typeface="IBM Plex Mono" pitchFamily="34" charset="-122"/>
                          <a:cs typeface="IBM Plex Mono" pitchFamily="34" charset="-120"/>
                        </a:rPr>
                        <a:t>19.9~23.8x</a:t>
                      </a:r>
                      <a:endParaRPr lang="en-US" sz="950" dirty="0">
                        <a:latin typeface="IBM Plex Mono" charset="0"/>
                        <a:ea typeface="IBM Plex Mono" charset="0"/>
                        <a:cs typeface="IBM Plex Mono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2" name="Shape 8"/>
          <p:cNvSpPr/>
          <p:nvPr/>
        </p:nvSpPr>
        <p:spPr>
          <a:xfrm>
            <a:off x="5504688" y="3639312"/>
            <a:ext cx="4617720" cy="1024128"/>
          </a:xfrm>
          <a:prstGeom prst="roundRect">
            <a:avLst>
              <a:gd name="adj" fmla="val 5357"/>
            </a:avLst>
          </a:prstGeom>
          <a:solidFill>
            <a:srgbClr val="211C18"/>
          </a:solidFill>
          <a:ln/>
        </p:spPr>
      </p:sp>
      <p:sp>
        <p:nvSpPr>
          <p:cNvPr id="13" name="Text 9"/>
          <p:cNvSpPr/>
          <p:nvPr/>
        </p:nvSpPr>
        <p:spPr>
          <a:xfrm>
            <a:off x="5705856" y="3730752"/>
            <a:ext cx="42519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spc="50" kern="0" dirty="0">
                <a:solidFill>
                  <a:srgbClr val="D8CFC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정상화 peer 13x 적용 · 내재 지분가치(−순차입 $6.4bn)</a:t>
            </a:r>
            <a:endParaRPr lang="en-US" sz="800" dirty="0"/>
          </a:p>
        </p:txBody>
      </p:sp>
      <p:sp>
        <p:nvSpPr>
          <p:cNvPr id="14" name="Text 10"/>
          <p:cNvSpPr/>
          <p:nvPr/>
        </p:nvSpPr>
        <p:spPr>
          <a:xfrm>
            <a:off x="5705856" y="3986784"/>
            <a:ext cx="42519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5000"/>
              </a:lnSpc>
              <a:buNone/>
            </a:pPr>
            <a:r>
              <a:rPr lang="en-US" sz="1000" dirty="0">
                <a:solidFill>
                  <a:srgbClr val="D8CFC2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× $438mm  → EV $5.7bn  </a:t>
            </a:r>
            <a:pPr indent="0" marL="0">
              <a:lnSpc>
                <a:spcPct val="135000"/>
              </a:lnSpc>
              <a:buNone/>
            </a:pPr>
            <a:r>
              <a:rPr lang="en-US" sz="1000" b="1" dirty="0">
                <a:solidFill>
                  <a:srgbClr val="FF8E84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지분 −$0.7bn
</a:t>
            </a:r>
            <a:pPr indent="0" marL="0">
              <a:lnSpc>
                <a:spcPct val="135000"/>
              </a:lnSpc>
              <a:buNone/>
            </a:pPr>
            <a:r>
              <a:rPr lang="en-US" sz="1000" dirty="0">
                <a:solidFill>
                  <a:srgbClr val="D8CFC2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× $346mm  → EV $4.5bn  </a:t>
            </a:r>
            <a:pPr indent="0" marL="0">
              <a:lnSpc>
                <a:spcPct val="135000"/>
              </a:lnSpc>
              <a:buNone/>
            </a:pPr>
            <a:r>
              <a:rPr lang="en-US" sz="1000" b="1" dirty="0">
                <a:solidFill>
                  <a:srgbClr val="FF8E84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지분 −$1.9bn</a:t>
            </a:r>
            <a:endParaRPr lang="en-US" sz="1000" dirty="0"/>
          </a:p>
        </p:txBody>
      </p:sp>
      <p:sp>
        <p:nvSpPr>
          <p:cNvPr id="15" name="Text 11"/>
          <p:cNvSpPr/>
          <p:nvPr/>
        </p:nvSpPr>
        <p:spPr>
          <a:xfrm>
            <a:off x="566928" y="4864608"/>
            <a:ext cx="95554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150" kern="0" dirty="0">
                <a:solidFill>
                  <a:srgbClr val="9A847C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풋볼필드 — 내재 EV ($bn) · run-rate $438mm 기준 · 보수/정상화 peer vs 역산 필요</a:t>
            </a:r>
            <a:endParaRPr lang="en-US" sz="850" dirty="0"/>
          </a:p>
        </p:txBody>
      </p:sp>
      <p:sp>
        <p:nvSpPr>
          <p:cNvPr id="16" name="Shape 12"/>
          <p:cNvSpPr/>
          <p:nvPr/>
        </p:nvSpPr>
        <p:spPr>
          <a:xfrm>
            <a:off x="704088" y="5486400"/>
            <a:ext cx="8641080" cy="0"/>
          </a:xfrm>
          <a:prstGeom prst="line">
            <a:avLst/>
          </a:prstGeom>
          <a:noFill/>
          <a:ln w="31750">
            <a:solidFill>
              <a:srgbClr val="D8CFC2"/>
            </a:solidFill>
            <a:prstDash val="solid"/>
          </a:ln>
        </p:spPr>
      </p:sp>
      <p:sp>
        <p:nvSpPr>
          <p:cNvPr id="17" name="Shape 13"/>
          <p:cNvSpPr/>
          <p:nvPr/>
        </p:nvSpPr>
        <p:spPr>
          <a:xfrm>
            <a:off x="1424178" y="5394960"/>
            <a:ext cx="3153994" cy="182880"/>
          </a:xfrm>
          <a:prstGeom prst="rect">
            <a:avLst/>
          </a:prstGeom>
          <a:solidFill>
            <a:srgbClr val="F2ECE0"/>
          </a:solidFill>
          <a:ln w="9525">
            <a:solidFill>
              <a:srgbClr val="D8CFC2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1424178" y="5605272"/>
            <a:ext cx="315399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6F6960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보수 8~13x  $3.5~5.7bn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4578172" y="5394960"/>
            <a:ext cx="1267358" cy="182880"/>
          </a:xfrm>
          <a:prstGeom prst="rect">
            <a:avLst/>
          </a:prstGeom>
          <a:solidFill>
            <a:srgbClr val="E8F3EC"/>
          </a:solidFill>
          <a:ln w="9525">
            <a:solidFill>
              <a:srgbClr val="1E7A4D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4303852" y="5175504"/>
            <a:ext cx="209031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1E7A4D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정상화 13~15x  $5.7~6.6bn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6291986" y="5212080"/>
            <a:ext cx="1958645" cy="0"/>
          </a:xfrm>
          <a:prstGeom prst="line">
            <a:avLst/>
          </a:prstGeom>
          <a:noFill/>
          <a:ln w="31750">
            <a:solidFill>
              <a:srgbClr val="C1121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6017666" y="5010912"/>
            <a:ext cx="2781605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C1121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역산 필요 15.7~18.8x</a:t>
            </a:r>
            <a:endParaRPr lang="en-US" sz="750" dirty="0"/>
          </a:p>
        </p:txBody>
      </p:sp>
      <p:sp>
        <p:nvSpPr>
          <p:cNvPr id="23" name="Shape 19"/>
          <p:cNvSpPr/>
          <p:nvPr/>
        </p:nvSpPr>
        <p:spPr>
          <a:xfrm>
            <a:off x="5600700" y="5340096"/>
            <a:ext cx="0" cy="292608"/>
          </a:xfrm>
          <a:prstGeom prst="line">
            <a:avLst/>
          </a:prstGeom>
          <a:noFill/>
          <a:ln w="15875">
            <a:solidFill>
              <a:srgbClr val="1B1714"/>
            </a:solidFill>
            <a:prstDash val="dash"/>
          </a:ln>
        </p:spPr>
      </p:sp>
      <p:sp>
        <p:nvSpPr>
          <p:cNvPr id="24" name="Text 20"/>
          <p:cNvSpPr/>
          <p:nvPr/>
        </p:nvSpPr>
        <p:spPr>
          <a:xfrm>
            <a:off x="4869180" y="5760720"/>
            <a:ext cx="14630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1B1714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순차입 $6.4bn</a:t>
            </a:r>
            <a:endParaRPr lang="en-US" sz="700" dirty="0"/>
          </a:p>
        </p:txBody>
      </p:sp>
      <p:sp>
        <p:nvSpPr>
          <p:cNvPr id="25" name="Shape 21"/>
          <p:cNvSpPr/>
          <p:nvPr/>
        </p:nvSpPr>
        <p:spPr>
          <a:xfrm>
            <a:off x="1585341" y="5431536"/>
            <a:ext cx="109728" cy="109728"/>
          </a:xfrm>
          <a:prstGeom prst="ellipse">
            <a:avLst/>
          </a:prstGeom>
          <a:solidFill>
            <a:srgbClr val="1E7A4D"/>
          </a:solidFill>
          <a:ln/>
        </p:spPr>
      </p:sp>
      <p:sp>
        <p:nvSpPr>
          <p:cNvPr id="26" name="Text 22"/>
          <p:cNvSpPr/>
          <p:nvPr/>
        </p:nvSpPr>
        <p:spPr>
          <a:xfrm>
            <a:off x="862965" y="5175504"/>
            <a:ext cx="1554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1E7A4D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DCF $3.6bn·8.3x</a:t>
            </a:r>
            <a:endParaRPr lang="en-US" sz="750" dirty="0"/>
          </a:p>
        </p:txBody>
      </p:sp>
      <p:sp>
        <p:nvSpPr>
          <p:cNvPr id="27" name="Text 23"/>
          <p:cNvSpPr/>
          <p:nvPr/>
        </p:nvSpPr>
        <p:spPr>
          <a:xfrm>
            <a:off x="429768" y="5888736"/>
            <a:ext cx="5486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dirty="0">
                <a:solidFill>
                  <a:srgbClr val="9A847C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$3bn</a:t>
            </a:r>
            <a:endParaRPr lang="en-US" sz="650" dirty="0"/>
          </a:p>
        </p:txBody>
      </p:sp>
      <p:sp>
        <p:nvSpPr>
          <p:cNvPr id="28" name="Text 24"/>
          <p:cNvSpPr/>
          <p:nvPr/>
        </p:nvSpPr>
        <p:spPr>
          <a:xfrm>
            <a:off x="1869948" y="5888736"/>
            <a:ext cx="5486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dirty="0">
                <a:solidFill>
                  <a:srgbClr val="9A847C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$4bn</a:t>
            </a:r>
            <a:endParaRPr lang="en-US" sz="650" dirty="0"/>
          </a:p>
        </p:txBody>
      </p:sp>
      <p:sp>
        <p:nvSpPr>
          <p:cNvPr id="29" name="Text 25"/>
          <p:cNvSpPr/>
          <p:nvPr/>
        </p:nvSpPr>
        <p:spPr>
          <a:xfrm>
            <a:off x="3310128" y="5888736"/>
            <a:ext cx="5486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dirty="0">
                <a:solidFill>
                  <a:srgbClr val="9A847C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$5bn</a:t>
            </a:r>
            <a:endParaRPr lang="en-US" sz="650" dirty="0"/>
          </a:p>
        </p:txBody>
      </p:sp>
      <p:sp>
        <p:nvSpPr>
          <p:cNvPr id="30" name="Text 26"/>
          <p:cNvSpPr/>
          <p:nvPr/>
        </p:nvSpPr>
        <p:spPr>
          <a:xfrm>
            <a:off x="4750308" y="5888736"/>
            <a:ext cx="5486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dirty="0">
                <a:solidFill>
                  <a:srgbClr val="9A847C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$6bn</a:t>
            </a:r>
            <a:endParaRPr lang="en-US" sz="650" dirty="0"/>
          </a:p>
        </p:txBody>
      </p:sp>
      <p:sp>
        <p:nvSpPr>
          <p:cNvPr id="31" name="Text 27"/>
          <p:cNvSpPr/>
          <p:nvPr/>
        </p:nvSpPr>
        <p:spPr>
          <a:xfrm>
            <a:off x="6190488" y="5888736"/>
            <a:ext cx="5486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dirty="0">
                <a:solidFill>
                  <a:srgbClr val="9A847C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$7bn</a:t>
            </a:r>
            <a:endParaRPr lang="en-US" sz="650" dirty="0"/>
          </a:p>
        </p:txBody>
      </p:sp>
      <p:sp>
        <p:nvSpPr>
          <p:cNvPr id="32" name="Text 28"/>
          <p:cNvSpPr/>
          <p:nvPr/>
        </p:nvSpPr>
        <p:spPr>
          <a:xfrm>
            <a:off x="7630668" y="5888736"/>
            <a:ext cx="5486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dirty="0">
                <a:solidFill>
                  <a:srgbClr val="9A847C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$8bn</a:t>
            </a:r>
            <a:endParaRPr lang="en-US" sz="650" dirty="0"/>
          </a:p>
        </p:txBody>
      </p:sp>
      <p:sp>
        <p:nvSpPr>
          <p:cNvPr id="33" name="Text 29"/>
          <p:cNvSpPr/>
          <p:nvPr/>
        </p:nvSpPr>
        <p:spPr>
          <a:xfrm>
            <a:off x="9070848" y="5888736"/>
            <a:ext cx="5486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dirty="0">
                <a:solidFill>
                  <a:srgbClr val="9A847C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$9bn</a:t>
            </a:r>
            <a:endParaRPr lang="en-US" sz="650" dirty="0"/>
          </a:p>
        </p:txBody>
      </p:sp>
      <p:sp>
        <p:nvSpPr>
          <p:cNvPr id="34" name="Shape 30"/>
          <p:cNvSpPr/>
          <p:nvPr/>
        </p:nvSpPr>
        <p:spPr>
          <a:xfrm>
            <a:off x="566928" y="6199632"/>
            <a:ext cx="9555480" cy="822960"/>
          </a:xfrm>
          <a:prstGeom prst="roundRect">
            <a:avLst>
              <a:gd name="adj" fmla="val 6667"/>
            </a:avLst>
          </a:prstGeom>
          <a:solidFill>
            <a:srgbClr val="F2ECE0"/>
          </a:solidFill>
          <a:ln/>
        </p:spPr>
      </p:sp>
      <p:sp>
        <p:nvSpPr>
          <p:cNvPr id="35" name="Text 31"/>
          <p:cNvSpPr/>
          <p:nvPr/>
        </p:nvSpPr>
        <p:spPr>
          <a:xfrm>
            <a:off x="795528" y="6199632"/>
            <a:ext cx="9098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900" b="1" dirty="0">
                <a:solidFill>
                  <a:srgbClr val="C1121F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[핵심]  </a:t>
            </a:r>
            <a:pPr indent="0" marL="0">
              <a:lnSpc>
                <a:spcPct val="112000"/>
              </a:lnSpc>
              <a:buNone/>
            </a:pPr>
            <a:r>
              <a:rPr lang="en-US" sz="900" dirty="0">
                <a:solidFill>
                  <a:srgbClr val="1B1714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BA 11GW 축소로 run-rate ex-AMPC EBITDA </a:t>
            </a:r>
            <a:pPr indent="0" marL="0">
              <a:lnSpc>
                <a:spcPct val="112000"/>
              </a:lnSpc>
              <a:buNone/>
            </a:pPr>
            <a:r>
              <a:rPr lang="en-US" sz="900" b="1" dirty="0">
                <a:solidFill>
                  <a:srgbClr val="C1121F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$554→$438mm</a:t>
            </a:r>
            <a:pPr indent="0" marL="0">
              <a:lnSpc>
                <a:spcPct val="112000"/>
              </a:lnSpc>
              <a:buNone/>
            </a:pPr>
            <a:r>
              <a:rPr lang="en-US" sz="900" dirty="0">
                <a:solidFill>
                  <a:srgbClr val="1B1714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. 역산 필요 </a:t>
            </a:r>
            <a:pPr indent="0" marL="0">
              <a:lnSpc>
                <a:spcPct val="112000"/>
              </a:lnSpc>
              <a:buNone/>
            </a:pPr>
            <a:r>
              <a:rPr lang="en-US" sz="900" b="1" dirty="0">
                <a:solidFill>
                  <a:srgbClr val="C1121F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15.7~18.8x는 정상화 peer(13~15x)를 초과</a:t>
            </a:r>
            <a:pPr indent="0" marL="0">
              <a:lnSpc>
                <a:spcPct val="112000"/>
              </a:lnSpc>
              <a:buNone/>
            </a:pPr>
            <a:r>
              <a:rPr lang="en-US" sz="900" dirty="0">
                <a:solidFill>
                  <a:srgbClr val="1B1714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(2029E 분모면 19.9~23.8x). DCF 내재 </a:t>
            </a:r>
            <a:pPr indent="0" marL="0">
              <a:lnSpc>
                <a:spcPct val="112000"/>
              </a:lnSpc>
              <a:buNone/>
            </a:pPr>
            <a:r>
              <a:rPr lang="en-US" sz="900" b="1" dirty="0">
                <a:solidFill>
                  <a:srgbClr val="1E7A4D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8.3x는 여전히 할인</a:t>
            </a:r>
            <a:pPr indent="0" marL="0">
              <a:lnSpc>
                <a:spcPct val="112000"/>
              </a:lnSpc>
              <a:buNone/>
            </a:pPr>
            <a:r>
              <a:rPr lang="en-US" sz="900" dirty="0">
                <a:solidFill>
                  <a:srgbClr val="1B1714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이나, 규모 축소가 지분조달 여력을 악화 → 마진 개선(</a:t>
            </a:r>
            <a:pPr indent="0" marL="0">
              <a:lnSpc>
                <a:spcPct val="112000"/>
              </a:lnSpc>
              <a:buNone/>
            </a:pPr>
            <a:r>
              <a:rPr lang="en-US" sz="900" b="1" dirty="0">
                <a:solidFill>
                  <a:srgbClr val="C1121F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필요 EBITDA% 10.9~13.0%</a:t>
            </a:r>
            <a:pPr indent="0" marL="0">
              <a:lnSpc>
                <a:spcPct val="112000"/>
              </a:lnSpc>
              <a:buNone/>
            </a:pPr>
            <a:r>
              <a:rPr lang="en-US" sz="900" dirty="0">
                <a:solidFill>
                  <a:srgbClr val="1B1714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)·프리미엄 멀티플이 관건. peer는 자체보조금 포함(우리 ex-AMPC, 보수적).</a:t>
            </a:r>
            <a:endParaRPr lang="en-US" sz="900" dirty="0"/>
          </a:p>
        </p:txBody>
      </p:sp>
      <p:sp>
        <p:nvSpPr>
          <p:cNvPr id="36" name="Shape 32"/>
          <p:cNvSpPr/>
          <p:nvPr/>
        </p:nvSpPr>
        <p:spPr>
          <a:xfrm>
            <a:off x="566928" y="7141464"/>
            <a:ext cx="9555480" cy="0"/>
          </a:xfrm>
          <a:prstGeom prst="line">
            <a:avLst/>
          </a:prstGeom>
          <a:noFill/>
          <a:ln w="9525">
            <a:solidFill>
              <a:srgbClr val="E4DED4"/>
            </a:solidFill>
            <a:prstDash val="solid"/>
          </a:ln>
        </p:spPr>
      </p:sp>
      <p:sp>
        <p:nvSpPr>
          <p:cNvPr id="37" name="Text 33"/>
          <p:cNvSpPr/>
          <p:nvPr/>
        </p:nvSpPr>
        <p:spPr>
          <a:xfrm>
            <a:off x="566928" y="7178040"/>
            <a:ext cx="5486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9A847C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SK 전략팀 · Strictly Private &amp; Confidential</a:t>
            </a:r>
            <a:endParaRPr lang="en-US" sz="750" dirty="0"/>
          </a:p>
        </p:txBody>
      </p:sp>
      <p:sp>
        <p:nvSpPr>
          <p:cNvPr id="38" name="Text 34"/>
          <p:cNvSpPr/>
          <p:nvPr/>
        </p:nvSpPr>
        <p:spPr>
          <a:xfrm>
            <a:off x="7836408" y="7178040"/>
            <a:ext cx="2286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9A847C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★ = 미검증</a:t>
            </a:r>
            <a:endParaRPr lang="en-US" sz="7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BF9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75488"/>
            <a:ext cx="6858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200" kern="0" dirty="0">
                <a:solidFill>
                  <a:srgbClr val="C1121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CLOSING — GOVERNMENT ENGAGEMENT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6007608" y="475488"/>
            <a:ext cx="4114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150" kern="0" dirty="0">
                <a:solidFill>
                  <a:srgbClr val="9A847C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SK 전략팀 · Confidential  /  06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566928" y="786384"/>
            <a:ext cx="7178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1714"/>
                </a:solidFill>
                <a:latin typeface="Noto Serif KR" pitchFamily="34" charset="0"/>
                <a:ea typeface="Noto Serif KR" pitchFamily="34" charset="-122"/>
                <a:cs typeface="Noto Serif KR" pitchFamily="34" charset="-120"/>
              </a:rPr>
              <a:t>커뮤니케이션 방식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7379208" y="932688"/>
            <a:ext cx="2743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r" indent="0" marL="0">
              <a:buNone/>
            </a:pPr>
            <a:r>
              <a:rPr lang="en-US" sz="950" dirty="0">
                <a:solidFill>
                  <a:srgbClr val="6F6960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재무 사전 정렬 우선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566928" y="1426464"/>
            <a:ext cx="9555480" cy="0"/>
          </a:xfrm>
          <a:prstGeom prst="line">
            <a:avLst/>
          </a:prstGeom>
          <a:noFill/>
          <a:ln w="19050">
            <a:solidFill>
              <a:srgbClr val="1B1714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66928" y="1627632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150" kern="0" dirty="0">
                <a:solidFill>
                  <a:srgbClr val="9A847C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진행 순서 · ENGAGEMENT SEQUENCE</a:t>
            </a:r>
            <a:endParaRPr lang="en-US" sz="850" dirty="0"/>
          </a:p>
        </p:txBody>
      </p:sp>
      <p:sp>
        <p:nvSpPr>
          <p:cNvPr id="8" name="Shape 6"/>
          <p:cNvSpPr/>
          <p:nvPr/>
        </p:nvSpPr>
        <p:spPr>
          <a:xfrm>
            <a:off x="566928" y="1901952"/>
            <a:ext cx="2183130" cy="1051560"/>
          </a:xfrm>
          <a:prstGeom prst="roundRect">
            <a:avLst>
              <a:gd name="adj" fmla="val 5217"/>
            </a:avLst>
          </a:prstGeom>
          <a:solidFill>
            <a:srgbClr val="211C18"/>
          </a:solidFill>
          <a:ln w="19050">
            <a:solidFill>
              <a:srgbClr val="211C18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786384" y="2103120"/>
            <a:ext cx="384048" cy="384048"/>
          </a:xfrm>
          <a:prstGeom prst="ellipse">
            <a:avLst/>
          </a:prstGeom>
          <a:solidFill>
            <a:srgbClr val="C1121F"/>
          </a:solidFill>
          <a:ln/>
        </p:spPr>
      </p:sp>
      <p:sp>
        <p:nvSpPr>
          <p:cNvPr id="10" name="Text 8"/>
          <p:cNvSpPr/>
          <p:nvPr/>
        </p:nvSpPr>
        <p:spPr>
          <a:xfrm>
            <a:off x="786384" y="21031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Noto Serif KR" pitchFamily="34" charset="0"/>
                <a:ea typeface="Noto Serif KR" pitchFamily="34" charset="-122"/>
                <a:cs typeface="Noto Serif KR" pitchFamily="34" charset="-120"/>
              </a:rPr>
              <a:t>1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786384" y="2560320"/>
            <a:ext cx="174421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내부 재무 사전 정렬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786384" y="2770632"/>
            <a:ext cx="1744218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D8CFC2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ask·구조·레드라인 재무 합의 (선행)</a:t>
            </a:r>
            <a:endParaRPr lang="en-US" sz="750" dirty="0"/>
          </a:p>
        </p:txBody>
      </p:sp>
      <p:sp>
        <p:nvSpPr>
          <p:cNvPr id="13" name="Text 11"/>
          <p:cNvSpPr/>
          <p:nvPr/>
        </p:nvSpPr>
        <p:spPr>
          <a:xfrm>
            <a:off x="2731770" y="2267712"/>
            <a:ext cx="29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C1121F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▶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3024378" y="1901952"/>
            <a:ext cx="2183130" cy="1051560"/>
          </a:xfrm>
          <a:prstGeom prst="roundRect">
            <a:avLst>
              <a:gd name="adj" fmla="val 5217"/>
            </a:avLst>
          </a:prstGeom>
          <a:solidFill>
            <a:srgbClr val="FFFFFF"/>
          </a:solidFill>
          <a:ln w="19050">
            <a:solidFill>
              <a:srgbClr val="E4DED4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243834" y="2103120"/>
            <a:ext cx="384048" cy="384048"/>
          </a:xfrm>
          <a:prstGeom prst="ellipse">
            <a:avLst/>
          </a:prstGeom>
          <a:solidFill>
            <a:srgbClr val="D8CFC2"/>
          </a:solidFill>
          <a:ln/>
        </p:spPr>
      </p:sp>
      <p:sp>
        <p:nvSpPr>
          <p:cNvPr id="16" name="Text 14"/>
          <p:cNvSpPr/>
          <p:nvPr/>
        </p:nvSpPr>
        <p:spPr>
          <a:xfrm>
            <a:off x="3243834" y="21031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B1714"/>
                </a:solidFill>
                <a:latin typeface="Noto Serif KR" pitchFamily="34" charset="0"/>
                <a:ea typeface="Noto Serif KR" pitchFamily="34" charset="-122"/>
                <a:cs typeface="Noto Serif KR" pitchFamily="34" charset="-120"/>
              </a:rPr>
              <a:t>2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3243834" y="2560320"/>
            <a:ext cx="174421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B1714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ask 확정 → 매칭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3243834" y="2770632"/>
            <a:ext cx="1744218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F6960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요청 확정 후 카운터파트로</a:t>
            </a:r>
            <a:endParaRPr lang="en-US" sz="750" dirty="0"/>
          </a:p>
        </p:txBody>
      </p:sp>
      <p:sp>
        <p:nvSpPr>
          <p:cNvPr id="19" name="Text 17"/>
          <p:cNvSpPr/>
          <p:nvPr/>
        </p:nvSpPr>
        <p:spPr>
          <a:xfrm>
            <a:off x="5189220" y="2267712"/>
            <a:ext cx="29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C1121F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▶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5481828" y="1901952"/>
            <a:ext cx="2183130" cy="1051560"/>
          </a:xfrm>
          <a:prstGeom prst="roundRect">
            <a:avLst>
              <a:gd name="adj" fmla="val 5217"/>
            </a:avLst>
          </a:prstGeom>
          <a:solidFill>
            <a:srgbClr val="FFFFFF"/>
          </a:solidFill>
          <a:ln w="19050">
            <a:solidFill>
              <a:srgbClr val="E4DED4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5701284" y="2103120"/>
            <a:ext cx="384048" cy="384048"/>
          </a:xfrm>
          <a:prstGeom prst="ellipse">
            <a:avLst/>
          </a:prstGeom>
          <a:solidFill>
            <a:srgbClr val="D8CFC2"/>
          </a:solidFill>
          <a:ln/>
        </p:spPr>
      </p:sp>
      <p:sp>
        <p:nvSpPr>
          <p:cNvPr id="22" name="Text 20"/>
          <p:cNvSpPr/>
          <p:nvPr/>
        </p:nvSpPr>
        <p:spPr>
          <a:xfrm>
            <a:off x="5701284" y="21031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B1714"/>
                </a:solidFill>
                <a:latin typeface="Noto Serif KR" pitchFamily="34" charset="0"/>
                <a:ea typeface="Noto Serif KR" pitchFamily="34" charset="-122"/>
                <a:cs typeface="Noto Serif KR" pitchFamily="34" charset="-120"/>
              </a:rPr>
              <a:t>3</a:t>
            </a:r>
            <a:endParaRPr lang="en-US" sz="1500" dirty="0"/>
          </a:p>
        </p:txBody>
      </p:sp>
      <p:sp>
        <p:nvSpPr>
          <p:cNvPr id="23" name="Text 21"/>
          <p:cNvSpPr/>
          <p:nvPr/>
        </p:nvSpPr>
        <p:spPr>
          <a:xfrm>
            <a:off x="5701284" y="2560320"/>
            <a:ext cx="174421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B1714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DOE 부서 미팅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5701284" y="2770632"/>
            <a:ext cx="1744218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F6960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합의된 ask · 부서별 단일 메시지</a:t>
            </a:r>
            <a:endParaRPr lang="en-US" sz="750" dirty="0"/>
          </a:p>
        </p:txBody>
      </p:sp>
      <p:sp>
        <p:nvSpPr>
          <p:cNvPr id="25" name="Text 23"/>
          <p:cNvSpPr/>
          <p:nvPr/>
        </p:nvSpPr>
        <p:spPr>
          <a:xfrm>
            <a:off x="7646670" y="2267712"/>
            <a:ext cx="29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C1121F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▶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7939278" y="1901952"/>
            <a:ext cx="2183130" cy="1051560"/>
          </a:xfrm>
          <a:prstGeom prst="roundRect">
            <a:avLst>
              <a:gd name="adj" fmla="val 5217"/>
            </a:avLst>
          </a:prstGeom>
          <a:solidFill>
            <a:srgbClr val="FFFFFF"/>
          </a:solidFill>
          <a:ln w="19050">
            <a:solidFill>
              <a:srgbClr val="E4DED4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8158734" y="2103120"/>
            <a:ext cx="384048" cy="384048"/>
          </a:xfrm>
          <a:prstGeom prst="ellipse">
            <a:avLst/>
          </a:prstGeom>
          <a:solidFill>
            <a:srgbClr val="D8CFC2"/>
          </a:solidFill>
          <a:ln/>
        </p:spPr>
      </p:sp>
      <p:sp>
        <p:nvSpPr>
          <p:cNvPr id="28" name="Text 26"/>
          <p:cNvSpPr/>
          <p:nvPr/>
        </p:nvSpPr>
        <p:spPr>
          <a:xfrm>
            <a:off x="8158734" y="21031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B1714"/>
                </a:solidFill>
                <a:latin typeface="Noto Serif KR" pitchFamily="34" charset="0"/>
                <a:ea typeface="Noto Serif KR" pitchFamily="34" charset="-122"/>
                <a:cs typeface="Noto Serif KR" pitchFamily="34" charset="-120"/>
              </a:rPr>
              <a:t>4</a:t>
            </a:r>
            <a:endParaRPr lang="en-US" sz="1500" dirty="0"/>
          </a:p>
        </p:txBody>
      </p:sp>
      <p:sp>
        <p:nvSpPr>
          <p:cNvPr id="29" name="Text 27"/>
          <p:cNvSpPr/>
          <p:nvPr/>
        </p:nvSpPr>
        <p:spPr>
          <a:xfrm>
            <a:off x="8158734" y="2560320"/>
            <a:ext cx="174421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B1714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DOW(국방) 트랙</a:t>
            </a:r>
            <a:endParaRPr lang="en-US" sz="1100" dirty="0"/>
          </a:p>
        </p:txBody>
      </p:sp>
      <p:sp>
        <p:nvSpPr>
          <p:cNvPr id="30" name="Text 28"/>
          <p:cNvSpPr/>
          <p:nvPr/>
        </p:nvSpPr>
        <p:spPr>
          <a:xfrm>
            <a:off x="8158734" y="2770632"/>
            <a:ext cx="1744218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F6960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방산·딥테크 별도 진행</a:t>
            </a:r>
            <a:endParaRPr lang="en-US" sz="750" dirty="0"/>
          </a:p>
        </p:txBody>
      </p:sp>
      <p:sp>
        <p:nvSpPr>
          <p:cNvPr id="31" name="Text 29"/>
          <p:cNvSpPr/>
          <p:nvPr/>
        </p:nvSpPr>
        <p:spPr>
          <a:xfrm>
            <a:off x="566928" y="3291840"/>
            <a:ext cx="49377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150" kern="0" dirty="0">
                <a:solidFill>
                  <a:srgbClr val="9A847C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ASK → DOE 카운터파트 매칭</a:t>
            </a:r>
            <a:endParaRPr lang="en-US" sz="85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3566160"/>
          <a:ext cx="4937760" cy="914400"/>
        </p:xfrm>
        <a:graphic>
          <a:graphicData uri="http://schemas.openxmlformats.org/drawingml/2006/table">
            <a:tbl>
              <a:tblPr/>
              <a:tblGrid>
                <a:gridCol w="1554480"/>
                <a:gridCol w="3383280"/>
              </a:tblGrid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B1714"/>
                          </a:solidFill>
                          <a:latin typeface="IBM Plex Sans KR" pitchFamily="34" charset="0"/>
                          <a:ea typeface="IBM Plex Sans KR" pitchFamily="34" charset="-122"/>
                          <a:cs typeface="IBM Plex Sans KR" pitchFamily="34" charset="-120"/>
                        </a:rPr>
                        <a:t>보조금 (BA)</a:t>
                      </a:r>
                      <a:endParaRPr lang="en-US" sz="1000" dirty="0">
                        <a:latin typeface="IBM Plex Sans KR" charset="0"/>
                        <a:ea typeface="IBM Plex Sans KR" charset="0"/>
                        <a:cs typeface="IBM Plex Sans KR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E7A4D"/>
                          </a:solidFill>
                          <a:latin typeface="IBM Plex Sans KR" pitchFamily="34" charset="0"/>
                          <a:ea typeface="IBM Plex Sans KR" pitchFamily="34" charset="-122"/>
                          <a:cs typeface="IBM Plex Sans KR" pitchFamily="34" charset="-120"/>
                        </a:rPr>
                        <a:t>MESC — 제조·공급망</a:t>
                      </a:r>
                      <a:endParaRPr lang="en-US" sz="950" dirty="0">
                        <a:latin typeface="IBM Plex Sans KR" charset="0"/>
                        <a:ea typeface="IBM Plex Sans KR" charset="0"/>
                        <a:cs typeface="IBM Plex Sans KR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B1714"/>
                          </a:solidFill>
                          <a:latin typeface="IBM Plex Sans KR" pitchFamily="34" charset="0"/>
                          <a:ea typeface="IBM Plex Sans KR" pitchFamily="34" charset="-122"/>
                          <a:cs typeface="IBM Plex Sans KR" pitchFamily="34" charset="-120"/>
                        </a:rPr>
                        <a:t>대출</a:t>
                      </a:r>
                      <a:endParaRPr lang="en-US" sz="1000" dirty="0">
                        <a:latin typeface="IBM Plex Sans KR" charset="0"/>
                        <a:ea typeface="IBM Plex Sans KR" charset="0"/>
                        <a:cs typeface="IBM Plex Sans KR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B1714"/>
                          </a:solidFill>
                          <a:latin typeface="IBM Plex Sans KR" pitchFamily="34" charset="0"/>
                          <a:ea typeface="IBM Plex Sans KR" pitchFamily="34" charset="-122"/>
                          <a:cs typeface="IBM Plex Sans KR" pitchFamily="34" charset="-120"/>
                        </a:rPr>
                        <a:t>DOE LPO 융자 · OT 기존 (론명 변경 ★)</a:t>
                      </a:r>
                      <a:endParaRPr lang="en-US" sz="950" dirty="0">
                        <a:latin typeface="IBM Plex Sans KR" charset="0"/>
                        <a:ea typeface="IBM Plex Sans KR" charset="0"/>
                        <a:cs typeface="IBM Plex Sans KR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B1714"/>
                          </a:solidFill>
                          <a:latin typeface="IBM Plex Sans KR" pitchFamily="34" charset="0"/>
                          <a:ea typeface="IBM Plex Sans KR" pitchFamily="34" charset="-122"/>
                          <a:cs typeface="IBM Plex Sans KR" pitchFamily="34" charset="-120"/>
                        </a:rPr>
                        <a:t>Equity</a:t>
                      </a:r>
                      <a:endParaRPr lang="en-US" sz="1000" dirty="0">
                        <a:latin typeface="IBM Plex Sans KR" charset="0"/>
                        <a:ea typeface="IBM Plex Sans KR" charset="0"/>
                        <a:cs typeface="IBM Plex Sans KR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C1121F"/>
                          </a:solidFill>
                          <a:latin typeface="IBM Plex Sans KR" pitchFamily="34" charset="0"/>
                          <a:ea typeface="IBM Plex Sans KR" pitchFamily="34" charset="-122"/>
                          <a:cs typeface="IBM Plex Sans KR" pitchFamily="34" charset="-120"/>
                        </a:rPr>
                        <a:t>해당 부서 없음 — DOE 지분투자 ✗</a:t>
                      </a:r>
                      <a:endParaRPr lang="en-US" sz="950" dirty="0">
                        <a:latin typeface="IBM Plex Sans KR" charset="0"/>
                        <a:ea typeface="IBM Plex Sans KR" charset="0"/>
                        <a:cs typeface="IBM Plex Sans KR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B1714"/>
                          </a:solidFill>
                          <a:latin typeface="IBM Plex Sans KR" pitchFamily="34" charset="0"/>
                          <a:ea typeface="IBM Plex Sans KR" pitchFamily="34" charset="-122"/>
                          <a:cs typeface="IBM Plex Sans KR" pitchFamily="34" charset="-120"/>
                        </a:rPr>
                        <a:t>방산 앵글</a:t>
                      </a:r>
                      <a:endParaRPr lang="en-US" sz="1000" dirty="0">
                        <a:latin typeface="IBM Plex Sans KR" charset="0"/>
                        <a:ea typeface="IBM Plex Sans KR" charset="0"/>
                        <a:cs typeface="IBM Plex Sans KR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B1714"/>
                          </a:solidFill>
                          <a:latin typeface="IBM Plex Sans KR" pitchFamily="34" charset="0"/>
                          <a:ea typeface="IBM Plex Sans KR" pitchFamily="34" charset="-122"/>
                          <a:cs typeface="IBM Plex Sans KR" pitchFamily="34" charset="-120"/>
                        </a:rPr>
                        <a:t>DOW (국방) 별도 트랙</a:t>
                      </a:r>
                      <a:endParaRPr lang="en-US" sz="950" dirty="0">
                        <a:latin typeface="IBM Plex Sans KR" charset="0"/>
                        <a:ea typeface="IBM Plex Sans KR" charset="0"/>
                        <a:cs typeface="IBM Plex Sans KR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33" name="Text 30"/>
          <p:cNvSpPr/>
          <p:nvPr/>
        </p:nvSpPr>
        <p:spPr>
          <a:xfrm>
            <a:off x="5961888" y="3291840"/>
            <a:ext cx="41605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150" kern="0" dirty="0">
                <a:solidFill>
                  <a:srgbClr val="9A847C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레드라인 · RED LINES</a:t>
            </a:r>
            <a:endParaRPr lang="en-US" sz="850" dirty="0"/>
          </a:p>
        </p:txBody>
      </p:sp>
      <p:sp>
        <p:nvSpPr>
          <p:cNvPr id="34" name="Shape 31"/>
          <p:cNvSpPr/>
          <p:nvPr/>
        </p:nvSpPr>
        <p:spPr>
          <a:xfrm>
            <a:off x="5961888" y="3566160"/>
            <a:ext cx="4160520" cy="1901952"/>
          </a:xfrm>
          <a:prstGeom prst="roundRect">
            <a:avLst>
              <a:gd name="adj" fmla="val 2885"/>
            </a:avLst>
          </a:prstGeom>
          <a:solidFill>
            <a:srgbClr val="211C18"/>
          </a:solidFill>
          <a:ln/>
        </p:spPr>
      </p:sp>
      <p:sp>
        <p:nvSpPr>
          <p:cNvPr id="35" name="Text 32"/>
          <p:cNvSpPr/>
          <p:nvPr/>
        </p:nvSpPr>
        <p:spPr>
          <a:xfrm>
            <a:off x="6199632" y="3694176"/>
            <a:ext cx="3703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Noto Serif KR" pitchFamily="34" charset="0"/>
                <a:ea typeface="Noto Serif KR" pitchFamily="34" charset="-122"/>
                <a:cs typeface="Noto Serif KR" pitchFamily="34" charset="-120"/>
              </a:rPr>
              <a:t>미팅 전 재무 합의 사항</a:t>
            </a:r>
            <a:endParaRPr lang="en-US" sz="1300" dirty="0"/>
          </a:p>
        </p:txBody>
      </p:sp>
      <p:sp>
        <p:nvSpPr>
          <p:cNvPr id="36" name="Text 33"/>
          <p:cNvSpPr/>
          <p:nvPr/>
        </p:nvSpPr>
        <p:spPr>
          <a:xfrm>
            <a:off x="6199632" y="4041648"/>
            <a:ext cx="37033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D8CFC2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• SK이노 보증 확대 금지
</a:t>
            </a:r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D8CFC2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• BA 기존 covenant breach 금지
</a:t>
            </a:r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D8CFC2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• CoC 완화 협상 (희석 30~49% 여지)
</a:t>
            </a:r>
            <a:pPr indent="0" marL="0">
              <a:lnSpc>
                <a:spcPct val="140000"/>
              </a:lnSpc>
              <a:buNone/>
            </a:pPr>
            <a:r>
              <a:rPr lang="en-US" sz="1100" b="1" dirty="0">
                <a:solidFill>
                  <a:srgbClr val="FF8E84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• DOE Equity 기대 제외 (대출·보증만)</a:t>
            </a:r>
            <a:endParaRPr lang="en-US" sz="1100" dirty="0"/>
          </a:p>
        </p:txBody>
      </p:sp>
      <p:sp>
        <p:nvSpPr>
          <p:cNvPr id="37" name="Shape 34"/>
          <p:cNvSpPr/>
          <p:nvPr/>
        </p:nvSpPr>
        <p:spPr>
          <a:xfrm>
            <a:off x="566928" y="5760720"/>
            <a:ext cx="2183130" cy="0"/>
          </a:xfrm>
          <a:prstGeom prst="line">
            <a:avLst/>
          </a:prstGeom>
          <a:noFill/>
          <a:ln w="25400">
            <a:solidFill>
              <a:srgbClr val="1B1714"/>
            </a:solidFill>
            <a:prstDash val="solid"/>
          </a:ln>
        </p:spPr>
      </p:sp>
      <p:sp>
        <p:nvSpPr>
          <p:cNvPr id="38" name="Text 35"/>
          <p:cNvSpPr/>
          <p:nvPr/>
        </p:nvSpPr>
        <p:spPr>
          <a:xfrm>
            <a:off x="566928" y="5833872"/>
            <a:ext cx="218313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C1121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D+0 · 1~2주</a:t>
            </a:r>
            <a:endParaRPr lang="en-US" sz="900" dirty="0"/>
          </a:p>
        </p:txBody>
      </p:sp>
      <p:sp>
        <p:nvSpPr>
          <p:cNvPr id="39" name="Text 36"/>
          <p:cNvSpPr/>
          <p:nvPr/>
        </p:nvSpPr>
        <p:spPr>
          <a:xfrm>
            <a:off x="566928" y="6035040"/>
            <a:ext cx="218313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B1714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재무 사전 정렬 메모</a:t>
            </a:r>
            <a:endParaRPr lang="en-US" sz="1000" dirty="0"/>
          </a:p>
        </p:txBody>
      </p:sp>
      <p:sp>
        <p:nvSpPr>
          <p:cNvPr id="40" name="Shape 37"/>
          <p:cNvSpPr/>
          <p:nvPr/>
        </p:nvSpPr>
        <p:spPr>
          <a:xfrm>
            <a:off x="3024378" y="5760720"/>
            <a:ext cx="2183130" cy="0"/>
          </a:xfrm>
          <a:prstGeom prst="line">
            <a:avLst/>
          </a:prstGeom>
          <a:noFill/>
          <a:ln w="25400">
            <a:solidFill>
              <a:srgbClr val="1B1714"/>
            </a:solidFill>
            <a:prstDash val="solid"/>
          </a:ln>
        </p:spPr>
      </p:sp>
      <p:sp>
        <p:nvSpPr>
          <p:cNvPr id="41" name="Text 38"/>
          <p:cNvSpPr/>
          <p:nvPr/>
        </p:nvSpPr>
        <p:spPr>
          <a:xfrm>
            <a:off x="3024378" y="5833872"/>
            <a:ext cx="218313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9A847C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D+2~3주</a:t>
            </a:r>
            <a:endParaRPr lang="en-US" sz="900" dirty="0"/>
          </a:p>
        </p:txBody>
      </p:sp>
      <p:sp>
        <p:nvSpPr>
          <p:cNvPr id="42" name="Text 39"/>
          <p:cNvSpPr/>
          <p:nvPr/>
        </p:nvSpPr>
        <p:spPr>
          <a:xfrm>
            <a:off x="3024378" y="6035040"/>
            <a:ext cx="218313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B1714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ask 확정 · 부서 매칭</a:t>
            </a:r>
            <a:endParaRPr lang="en-US" sz="1000" dirty="0"/>
          </a:p>
        </p:txBody>
      </p:sp>
      <p:sp>
        <p:nvSpPr>
          <p:cNvPr id="43" name="Shape 40"/>
          <p:cNvSpPr/>
          <p:nvPr/>
        </p:nvSpPr>
        <p:spPr>
          <a:xfrm>
            <a:off x="5481828" y="5760720"/>
            <a:ext cx="2183130" cy="0"/>
          </a:xfrm>
          <a:prstGeom prst="line">
            <a:avLst/>
          </a:prstGeom>
          <a:noFill/>
          <a:ln w="25400">
            <a:solidFill>
              <a:srgbClr val="1B1714"/>
            </a:solidFill>
            <a:prstDash val="solid"/>
          </a:ln>
        </p:spPr>
      </p:sp>
      <p:sp>
        <p:nvSpPr>
          <p:cNvPr id="44" name="Text 41"/>
          <p:cNvSpPr/>
          <p:nvPr/>
        </p:nvSpPr>
        <p:spPr>
          <a:xfrm>
            <a:off x="5481828" y="5833872"/>
            <a:ext cx="218313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9A847C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D+4~6주</a:t>
            </a:r>
            <a:endParaRPr lang="en-US" sz="900" dirty="0"/>
          </a:p>
        </p:txBody>
      </p:sp>
      <p:sp>
        <p:nvSpPr>
          <p:cNvPr id="45" name="Text 42"/>
          <p:cNvSpPr/>
          <p:nvPr/>
        </p:nvSpPr>
        <p:spPr>
          <a:xfrm>
            <a:off x="5481828" y="6035040"/>
            <a:ext cx="218313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B1714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DOE 부서 미팅</a:t>
            </a:r>
            <a:endParaRPr lang="en-US" sz="1000" dirty="0"/>
          </a:p>
        </p:txBody>
      </p:sp>
      <p:sp>
        <p:nvSpPr>
          <p:cNvPr id="46" name="Shape 43"/>
          <p:cNvSpPr/>
          <p:nvPr/>
        </p:nvSpPr>
        <p:spPr>
          <a:xfrm>
            <a:off x="7939278" y="5760720"/>
            <a:ext cx="2183130" cy="0"/>
          </a:xfrm>
          <a:prstGeom prst="line">
            <a:avLst/>
          </a:prstGeom>
          <a:noFill/>
          <a:ln w="25400">
            <a:solidFill>
              <a:srgbClr val="1B1714"/>
            </a:solidFill>
            <a:prstDash val="solid"/>
          </a:ln>
        </p:spPr>
      </p:sp>
      <p:sp>
        <p:nvSpPr>
          <p:cNvPr id="47" name="Text 44"/>
          <p:cNvSpPr/>
          <p:nvPr/>
        </p:nvSpPr>
        <p:spPr>
          <a:xfrm>
            <a:off x="7939278" y="5833872"/>
            <a:ext cx="218313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9A847C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D+8주~</a:t>
            </a:r>
            <a:endParaRPr lang="en-US" sz="900" dirty="0"/>
          </a:p>
        </p:txBody>
      </p:sp>
      <p:sp>
        <p:nvSpPr>
          <p:cNvPr id="48" name="Text 45"/>
          <p:cNvSpPr/>
          <p:nvPr/>
        </p:nvSpPr>
        <p:spPr>
          <a:xfrm>
            <a:off x="7939278" y="6035040"/>
            <a:ext cx="218313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B1714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DOW·후속 협상</a:t>
            </a:r>
            <a:endParaRPr lang="en-US" sz="1000" dirty="0"/>
          </a:p>
        </p:txBody>
      </p:sp>
      <p:sp>
        <p:nvSpPr>
          <p:cNvPr id="49" name="Shape 46"/>
          <p:cNvSpPr/>
          <p:nvPr/>
        </p:nvSpPr>
        <p:spPr>
          <a:xfrm>
            <a:off x="566928" y="6446520"/>
            <a:ext cx="9555480" cy="457200"/>
          </a:xfrm>
          <a:prstGeom prst="roundRect">
            <a:avLst>
              <a:gd name="adj" fmla="val 8000"/>
            </a:avLst>
          </a:prstGeom>
          <a:solidFill>
            <a:srgbClr val="F2ECE0"/>
          </a:solidFill>
          <a:ln/>
        </p:spPr>
      </p:sp>
      <p:sp>
        <p:nvSpPr>
          <p:cNvPr id="50" name="Text 47"/>
          <p:cNvSpPr/>
          <p:nvPr/>
        </p:nvSpPr>
        <p:spPr>
          <a:xfrm>
            <a:off x="795528" y="6446520"/>
            <a:ext cx="9098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C1121F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[원칙]  </a:t>
            </a:r>
            <a:pPr indent="0" marL="0">
              <a:buNone/>
            </a:pPr>
            <a:r>
              <a:rPr lang="en-US" sz="950" dirty="0">
                <a:solidFill>
                  <a:srgbClr val="1B1714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부서 미팅 전, '무엇을 요청할지'를 재무와 먼저 확정한다 — 잘못된 부서에 잘못된 ask로 가는 것을 막는다.</a:t>
            </a:r>
            <a:endParaRPr lang="en-US" sz="950" dirty="0"/>
          </a:p>
        </p:txBody>
      </p:sp>
      <p:sp>
        <p:nvSpPr>
          <p:cNvPr id="51" name="Shape 48"/>
          <p:cNvSpPr/>
          <p:nvPr/>
        </p:nvSpPr>
        <p:spPr>
          <a:xfrm>
            <a:off x="566928" y="7141464"/>
            <a:ext cx="9555480" cy="0"/>
          </a:xfrm>
          <a:prstGeom prst="line">
            <a:avLst/>
          </a:prstGeom>
          <a:noFill/>
          <a:ln w="9525">
            <a:solidFill>
              <a:srgbClr val="E4DED4"/>
            </a:solidFill>
            <a:prstDash val="solid"/>
          </a:ln>
        </p:spPr>
      </p:sp>
      <p:sp>
        <p:nvSpPr>
          <p:cNvPr id="52" name="Text 49"/>
          <p:cNvSpPr/>
          <p:nvPr/>
        </p:nvSpPr>
        <p:spPr>
          <a:xfrm>
            <a:off x="566928" y="7178040"/>
            <a:ext cx="5486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9A847C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SK 전략팀 · Strictly Private &amp; Confidential</a:t>
            </a:r>
            <a:endParaRPr lang="en-US" sz="750" dirty="0"/>
          </a:p>
        </p:txBody>
      </p:sp>
      <p:sp>
        <p:nvSpPr>
          <p:cNvPr id="53" name="Text 50"/>
          <p:cNvSpPr/>
          <p:nvPr/>
        </p:nvSpPr>
        <p:spPr>
          <a:xfrm>
            <a:off x="7836408" y="7178040"/>
            <a:ext cx="2286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9A847C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★ = 미검증</a:t>
            </a:r>
            <a:endParaRPr lang="en-US" sz="7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6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2026-07-01T12:23:36Z</dcterms:created>
  <dcterms:modified xsi:type="dcterms:W3CDTF">2026-07-01T12:23:36Z</dcterms:modified>
</cp:coreProperties>
</file>