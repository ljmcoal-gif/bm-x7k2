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3096" y="548640"/>
            <a:ext cx="4023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C1121F">
                    <a:alpha val="6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566928" y="566928"/>
            <a:ext cx="384048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1024128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 전략팀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64808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FINANCING 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3159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FUNDING STRUCTURE v2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73168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펀딩 구조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전면 개편(안)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66928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 보조금-우선 · OT 링펜스 유지 — 재무팀 의견 반영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6812280"/>
            <a:ext cx="9555480" cy="0"/>
          </a:xfrm>
          <a:prstGeom prst="line">
            <a:avLst/>
          </a:prstGeom>
          <a:noFill/>
          <a:ln w="12700">
            <a:solidFill>
              <a:srgbClr val="E4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876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2026년 6월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64808" y="6876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전략팀 · Internal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STATE &amp; RETROFIT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전략팀 · Confidential  / 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현황 &amp; 개조 소요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 · OT 재무상태 → 개조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2763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주요 재무상태 · KEY FINANCIALS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5074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공장 1 — SKBA (조지아)</a:t>
                      </a:r>
                      <a:endParaRPr lang="en-US" sz="11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D8CF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파우치 · 모회사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71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67712"/>
          <a:ext cx="5074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31720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명판 / 가동률(run-rate)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7A4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21.2 GWh / 85%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기존 차입 (금융기관보증)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112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5조원 ≈ $3.7bn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run-rate 매출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~$2.7bn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개조 ex-AMPC EBITDA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9% (목표)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기저 EBITDA (pre-SOP) ★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7A4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$0.2bn (2026~)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순자산 NAV (BS) ★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~$2.0bn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07408"/>
          <a:ext cx="5074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공장 2 — SKOT (테네시)</a:t>
                      </a:r>
                      <a:endParaRPr lang="en-US" sz="11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112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D8CF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 100% · SOP ′28 하반기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11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791456"/>
          <a:ext cx="5074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31720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명판 / 가동률(run-rate)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7A4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29.7 GWh / 82%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기존 차입 (DOE 융자)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112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$4.0bn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 └ 상환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F696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이자만~'30 → 이후분할 ★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run-rate 매출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~$3.5bn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ex-AMPC EBITDA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9% (목표)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순자산 NAV (BS) ★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~$3.0bn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6007608" y="16276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개조 금액 · RETROFIT CAPEX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6007608" y="1883664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211C18"/>
          </a:solidFill>
          <a:ln/>
        </p:spPr>
      </p:sp>
      <p:sp>
        <p:nvSpPr>
          <p:cNvPr id="14" name="Text 8"/>
          <p:cNvSpPr/>
          <p:nvPr/>
        </p:nvSpPr>
        <p:spPr>
          <a:xfrm>
            <a:off x="6281928" y="2048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 (개조)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8019288" y="2048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$0.4bn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6281928" y="24323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019288" y="24323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$1.0bn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6281928" y="2834640"/>
            <a:ext cx="3566160" cy="0"/>
          </a:xfrm>
          <a:prstGeom prst="line">
            <a:avLst/>
          </a:prstGeom>
          <a:noFill/>
          <a:ln w="9525">
            <a:solidFill>
              <a:srgbClr val="4A443D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281928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합계 소요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836408" y="29077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8E8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$1.4bn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6007608" y="3456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기대 효과 · EXPECTED EFFECT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007608" y="3712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●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63640" y="371246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DC센터 수요 확보 → 가동률 85% (BA)·82% (OT) run-rate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007608" y="40965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●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263640" y="40965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run-rate ex-AMPC EBITDA $554mm (BA 241 + OT 313, 9% 마진)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007608" y="452628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211C18"/>
          </a:solidFill>
          <a:ln/>
        </p:spPr>
      </p:sp>
      <p:sp>
        <p:nvSpPr>
          <p:cNvPr id="27" name="Text 21"/>
          <p:cNvSpPr/>
          <p:nvPr/>
        </p:nvSpPr>
        <p:spPr>
          <a:xfrm>
            <a:off x="6208776" y="4617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밸류에이션 분해 — AMPC(45X) 기여</a:t>
            </a:r>
            <a:pPr indent="0" marL="0">
              <a:buNone/>
            </a:pPr>
            <a:r>
              <a:rPr lang="en-US" sz="10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  한시보조금·2033 소멸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208776" y="4928616"/>
            <a:ext cx="928116" cy="219456"/>
          </a:xfrm>
          <a:prstGeom prst="rect">
            <a:avLst/>
          </a:prstGeom>
          <a:solidFill>
            <a:srgbClr val="1E7A4D"/>
          </a:solidFill>
          <a:ln/>
        </p:spPr>
      </p:sp>
      <p:sp>
        <p:nvSpPr>
          <p:cNvPr id="29" name="Shape 23"/>
          <p:cNvSpPr/>
          <p:nvPr/>
        </p:nvSpPr>
        <p:spPr>
          <a:xfrm>
            <a:off x="7136892" y="4928616"/>
            <a:ext cx="2784348" cy="219456"/>
          </a:xfrm>
          <a:prstGeom prst="rect">
            <a:avLst/>
          </a:prstGeom>
          <a:solidFill>
            <a:srgbClr val="FF8E84"/>
          </a:solidFill>
          <a:ln/>
        </p:spPr>
      </p:sp>
      <p:sp>
        <p:nvSpPr>
          <p:cNvPr id="30" name="Text 24"/>
          <p:cNvSpPr/>
          <p:nvPr/>
        </p:nvSpPr>
        <p:spPr>
          <a:xfrm>
            <a:off x="6208776" y="4928616"/>
            <a:ext cx="928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ex-AMPC $1.2bn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7136892" y="4928616"/>
            <a:ext cx="27843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11C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AMPC PV $3.6bn (75%)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6208776" y="5202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DCF EV $4.8bn</a:t>
            </a:r>
            <a:pPr indent="0" marL="0">
              <a:buNone/>
            </a:pPr>
            <a:r>
              <a:rPr lang="en-US" sz="8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의 75%가 한시 AMPC → 멀티플엔 ex-AMPC만. WACC 10.5%·TGR 2%·Ke 13%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007608" y="5486400"/>
            <a:ext cx="1874520" cy="0"/>
          </a:xfrm>
          <a:prstGeom prst="line">
            <a:avLst/>
          </a:prstGeom>
          <a:noFill/>
          <a:ln w="25400">
            <a:solidFill>
              <a:srgbClr val="1B171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007608" y="554126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총 명판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007608" y="57790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50.9</a:t>
            </a:r>
            <a:pPr indent="0" marL="0">
              <a:buNone/>
            </a:pPr>
            <a:r>
              <a:rPr lang="en-US" sz="1200" b="1" dirty="0">
                <a:solidFill>
                  <a:srgbClr val="1B17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GWh</a:t>
            </a:r>
            <a:endParaRPr lang="en-US" sz="2600" dirty="0"/>
          </a:p>
        </p:txBody>
      </p:sp>
      <p:sp>
        <p:nvSpPr>
          <p:cNvPr id="36" name="Shape 30"/>
          <p:cNvSpPr/>
          <p:nvPr/>
        </p:nvSpPr>
        <p:spPr>
          <a:xfrm>
            <a:off x="8247888" y="5486400"/>
            <a:ext cx="1874520" cy="0"/>
          </a:xfrm>
          <a:prstGeom prst="line">
            <a:avLst/>
          </a:prstGeom>
          <a:noFill/>
          <a:ln w="25400">
            <a:solidFill>
              <a:srgbClr val="1B171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247888" y="554126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run-rate EBITDA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8247888" y="57790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7A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554</a:t>
            </a:r>
            <a:pPr indent="0" marL="0">
              <a:buNone/>
            </a:pPr>
            <a:r>
              <a:rPr lang="en-US" sz="1200" b="1" dirty="0">
                <a:solidFill>
                  <a:srgbClr val="1E7A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$mm</a:t>
            </a:r>
            <a:endParaRPr lang="en-US" sz="2600" dirty="0"/>
          </a:p>
        </p:txBody>
      </p:sp>
      <p:sp>
        <p:nvSpPr>
          <p:cNvPr id="39" name="Shape 33"/>
          <p:cNvSpPr/>
          <p:nvPr/>
        </p:nvSpPr>
        <p:spPr>
          <a:xfrm>
            <a:off x="6007608" y="6419088"/>
            <a:ext cx="187452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007608" y="6473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개조 소요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6007608" y="67116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1.4</a:t>
            </a:r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bn</a:t>
            </a:r>
            <a:endParaRPr lang="en-US" sz="2600" dirty="0"/>
          </a:p>
        </p:txBody>
      </p:sp>
      <p:sp>
        <p:nvSpPr>
          <p:cNvPr id="42" name="Shape 36"/>
          <p:cNvSpPr/>
          <p:nvPr/>
        </p:nvSpPr>
        <p:spPr>
          <a:xfrm>
            <a:off x="8247888" y="6419088"/>
            <a:ext cx="1874520" cy="0"/>
          </a:xfrm>
          <a:prstGeom prst="line">
            <a:avLst/>
          </a:prstGeom>
          <a:noFill/>
          <a:ln w="25400">
            <a:solidFill>
              <a:srgbClr val="C1121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247888" y="6473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DCF EV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8247888" y="67116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1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4.8</a:t>
            </a:r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bn</a:t>
            </a:r>
            <a:endParaRPr lang="en-US" sz="2600" dirty="0"/>
          </a:p>
        </p:txBody>
      </p:sp>
      <p:sp>
        <p:nvSpPr>
          <p:cNvPr id="45" name="Shape 39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66928" y="7178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 전략팀 · Strictly Private &amp; Confidential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7836408" y="7178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= 미검증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FUNDING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전략팀 · Confidential  / 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펀딩 제안 — BA 중심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지분구조 · 캐시 플로우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2763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지분구조 &amp; 캐시 플로우 · STRUCTURE &amp; CASH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15968" y="1883664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4A443D"/>
          </a:solidFill>
          <a:ln/>
        </p:spPr>
      </p:sp>
      <p:sp>
        <p:nvSpPr>
          <p:cNvPr id="9" name="Text 7"/>
          <p:cNvSpPr/>
          <p:nvPr/>
        </p:nvSpPr>
        <p:spPr>
          <a:xfrm>
            <a:off x="4315968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SK이노베이션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5968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CF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최상위 모회사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84648" y="25054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96128" y="2505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15968" y="2761488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5E5346"/>
          </a:solidFill>
          <a:ln/>
        </p:spPr>
      </p:sp>
      <p:sp>
        <p:nvSpPr>
          <p:cNvPr id="14" name="Text 12"/>
          <p:cNvSpPr/>
          <p:nvPr/>
        </p:nvSpPr>
        <p:spPr>
          <a:xfrm>
            <a:off x="4315968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SK온 (SK 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5968" y="3072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CF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배터리 중간지주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84648" y="3383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96128" y="3383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9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15968" y="3749040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1B1714"/>
          </a:solidFill>
          <a:ln/>
        </p:spPr>
      </p:sp>
      <p:sp>
        <p:nvSpPr>
          <p:cNvPr id="19" name="Text 17"/>
          <p:cNvSpPr/>
          <p:nvPr/>
        </p:nvSpPr>
        <p:spPr>
          <a:xfrm>
            <a:off x="4315968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 — SKBA · 조달 주체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15968" y="4059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CF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총 $1.4bn 일괄 조달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52728" y="3566160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 w="19050">
            <a:solidFill>
              <a:srgbClr val="1E7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566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보조금 (10%)  </a:t>
            </a:r>
            <a:pPr indent="0" marL="0">
              <a:buNone/>
            </a:pPr>
            <a:r>
              <a:rPr lang="en-US" sz="95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$0.14bn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77640" y="3566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52728" y="4041648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4DE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40416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비소구부채 (60%)  </a:t>
            </a:r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$0.85bn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77640" y="40416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84648" y="4443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21408" y="44439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$1.0bn 증자 (equity-down)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15968" y="4773168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4315968" y="4828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OT — SKOT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15968" y="5084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CF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완전자회사 100%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252728" y="4846320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4DE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17320" y="48463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기존 DOE 융자  </a:t>
            </a:r>
            <a:pPr indent="0" marL="0">
              <a:buNone/>
            </a:pPr>
            <a:r>
              <a:rPr lang="en-US" sz="9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$4.0bn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77640" y="48463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55412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조달 믹스 그랜트 10% · 지분 30% · 비소구부채 60% ($1.4bn) → 자체 $0.4bn + OT $1.0bn 증자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96328" y="16276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제안 · PROPOSAL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96328" y="1883664"/>
            <a:ext cx="2926080" cy="1691640"/>
          </a:xfrm>
          <a:prstGeom prst="roundRect">
            <a:avLst>
              <a:gd name="adj" fmla="val 3243"/>
            </a:avLst>
          </a:prstGeom>
          <a:solidFill>
            <a:srgbClr val="FBF1EF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34072" y="20299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제안 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34072" y="2267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BA가 $1.4bn 일괄 조달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434072" y="26700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OT는 DOE·CoC로 신규 차입이 어렵다 → BA가 전액 조달해 OT엔 $1.0bn 증자(equity-down). 자회사 자금주입의 가장 깨끗한 경로 — 신규 OT 부채·DSCR 불요.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96328" y="3712464"/>
            <a:ext cx="2926080" cy="1691640"/>
          </a:xfrm>
          <a:prstGeom prst="roundRect">
            <a:avLst>
              <a:gd name="adj" fmla="val 3243"/>
            </a:avLst>
          </a:prstGeom>
          <a:solidFill>
            <a:srgbClr val="FBF1EF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34072" y="38587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제안 ②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34072" y="40965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12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그랜트 극대화 요청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434072" y="44988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 개조비 $0.4bn을 정부 보조금(MESC·48C)으로 최대한. 무상환·무희석·무CoC → EBIT=0 자산에 깨끗한 자금.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6928" y="5943600"/>
            <a:ext cx="9555480" cy="658368"/>
          </a:xfrm>
          <a:prstGeom prst="roundRect">
            <a:avLst>
              <a:gd name="adj" fmla="val 6944"/>
            </a:avLst>
          </a:prstGeom>
          <a:solidFill>
            <a:srgbClr val="F2ECE0"/>
          </a:solidFill>
          <a:ln/>
        </p:spPr>
      </p:sp>
      <p:sp>
        <p:nvSpPr>
          <p:cNvPr id="46" name="Text 44"/>
          <p:cNvSpPr/>
          <p:nvPr/>
        </p:nvSpPr>
        <p:spPr>
          <a:xfrm>
            <a:off x="795528" y="5943600"/>
            <a:ext cx="9098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[결론]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BA가 $1.4bn 일괄 조달 → 자체 $0.4bn + OT 증자 $1.0bn. 조달은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그랜트 최우선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부족분만 비소구부채·Equity. ($1.4bn이 BA에 집중 — 조달여력 확인 ★)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7178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 전략팀 · Strictly Private &amp; Confidential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836408" y="7178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= 미검증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VALUATION — FUNDING SCENARIOS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전략팀 · Confidential  / 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지분 성립 조건 — 조달 시나리오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희석·그랜트 레버 → implied 멀티플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276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주요 가정 · KEY ASSUMPTIONS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DC블록 ASP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29968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$155/kWh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167128"/>
            <a:ext cx="3200400" cy="0"/>
          </a:xfrm>
          <a:prstGeom prst="line">
            <a:avLst/>
          </a:prstGeom>
          <a:noFill/>
          <a:ln w="6350">
            <a:solidFill>
              <a:srgbClr val="E4D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899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가동률 (run-rate) ★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29968" y="21899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85%/82% DC수요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473452"/>
            <a:ext cx="3200400" cy="0"/>
          </a:xfrm>
          <a:prstGeom prst="line">
            <a:avLst/>
          </a:prstGeom>
          <a:noFill/>
          <a:ln w="6350">
            <a:solidFill>
              <a:srgbClr val="E4D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96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SKBA 기저 EBITDA ★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29968" y="2496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$0.2bn pre-SOP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779776"/>
            <a:ext cx="3200400" cy="0"/>
          </a:xfrm>
          <a:prstGeom prst="line">
            <a:avLst/>
          </a:prstGeom>
          <a:noFill/>
          <a:ln w="6350">
            <a:solidFill>
              <a:srgbClr val="E4D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026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run-rate ex-AMPC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29968" y="28026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$554mm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086100"/>
            <a:ext cx="3200400" cy="0"/>
          </a:xfrm>
          <a:prstGeom prst="line">
            <a:avLst/>
          </a:prstGeom>
          <a:noFill/>
          <a:ln w="6350">
            <a:solidFill>
              <a:srgbClr val="E4DE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WACC / 영구성장 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29968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10.5% / 2.0%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392424"/>
            <a:ext cx="3200400" cy="0"/>
          </a:xfrm>
          <a:prstGeom prst="line">
            <a:avLst/>
          </a:prstGeom>
          <a:noFill/>
          <a:ln w="6350">
            <a:solidFill>
              <a:srgbClr val="E4D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4152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Cost of equity (Ke)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29968" y="34152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13.0%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3698748"/>
            <a:ext cx="3200400" cy="0"/>
          </a:xfrm>
          <a:prstGeom prst="line">
            <a:avLst/>
          </a:prstGeom>
          <a:noFill/>
          <a:ln w="6350">
            <a:solidFill>
              <a:srgbClr val="E4DE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신규 조달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29968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$1.42bn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4005072"/>
            <a:ext cx="3200400" cy="0"/>
          </a:xfrm>
          <a:prstGeom prst="line">
            <a:avLst/>
          </a:prstGeom>
          <a:noFill/>
          <a:ln w="6350">
            <a:solidFill>
              <a:srgbClr val="E4DE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0279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순차입금 (BA/OT)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29968" y="40279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$6.4bn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4311396"/>
            <a:ext cx="3200400" cy="0"/>
          </a:xfrm>
          <a:prstGeom prst="line">
            <a:avLst/>
          </a:prstGeom>
          <a:noFill/>
          <a:ln w="6350">
            <a:solidFill>
              <a:srgbClr val="E4DE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peer EV/EBITDA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29968" y="4334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8~13x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617720"/>
            <a:ext cx="3200400" cy="0"/>
          </a:xfrm>
          <a:prstGeom prst="line">
            <a:avLst/>
          </a:prstGeom>
          <a:noFill/>
          <a:ln w="6350">
            <a:solidFill>
              <a:srgbClr val="E4DE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677156"/>
            <a:ext cx="3200400" cy="1042416"/>
          </a:xfrm>
          <a:prstGeom prst="roundRect">
            <a:avLst>
              <a:gd name="adj" fmla="val 5263"/>
            </a:avLst>
          </a:prstGeom>
          <a:solidFill>
            <a:srgbClr val="211C18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47503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8CF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역산 논리 · THE MECHANISM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8096" y="496976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8E8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최소지분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= 외부지분 ÷ 희석캡
</a:t>
            </a:r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8E8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최소EV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= 최소지분 + 순차입금
</a:t>
            </a:r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8E8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멀티플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= 최소EV ÷ run-rate EBITDA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33088" y="162763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조달 시나리오 — implied min EV/EBITDA · SCENARIOS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33088" y="1883664"/>
          <a:ext cx="59893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640080"/>
                <a:gridCol w="822960"/>
                <a:gridCol w="795528"/>
                <a:gridCol w="8961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시나리오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그랜트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희석캡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최소 EV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멀티플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(9%)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필요EBITDA%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(→13x)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BASE  (그랜트10/지분30)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20%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$8.6bn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121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15.4x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112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10.7%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① CoC 20% + 그랜트 20%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20%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20%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$7.8bn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121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14.1x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112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9.8%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② CoC 해제 → 희석 30%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$7.8bn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121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14.1x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112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9.8%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③ CoC 완화 → 희석 49%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49%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$7.3bn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121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13.1x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112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9.1%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최대결합 (그랜트20+희석49)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20%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49%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$7.0bn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D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12.6x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7A4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8.7%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4133088" y="427939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필요EBITDA% = 현 9%에서 딜을 peer 상단(13x)에 맞추는 데 필요한 ex-AMPC 마진 · 8.7% ≤ 현 9%면 이미 충족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133088" y="44805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peer 밴드 대비 위치 · 조달 레버는 갭을 좁힌다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178808" y="5074920"/>
            <a:ext cx="5349240" cy="0"/>
          </a:xfrm>
          <a:prstGeom prst="line">
            <a:avLst/>
          </a:prstGeom>
          <a:noFill/>
          <a:ln w="38100">
            <a:solidFill>
              <a:srgbClr val="D8CFC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78808" y="4992624"/>
            <a:ext cx="3343275" cy="164592"/>
          </a:xfrm>
          <a:prstGeom prst="rect">
            <a:avLst/>
          </a:prstGeom>
          <a:solidFill>
            <a:srgbClr val="E8F3EC"/>
          </a:solidFill>
          <a:ln w="9525">
            <a:solidFill>
              <a:srgbClr val="1E7A4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78808" y="4764024"/>
            <a:ext cx="33432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peer 8~13x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7254621" y="4855464"/>
            <a:ext cx="1872234" cy="0"/>
          </a:xfrm>
          <a:prstGeom prst="line">
            <a:avLst/>
          </a:prstGeom>
          <a:noFill/>
          <a:ln w="15875">
            <a:solidFill>
              <a:srgbClr val="FF8E84"/>
            </a:solidFill>
            <a:prstDash val="solid"/>
            <a:headEnd type="none"/>
            <a:tailEnd type="triangle"/>
          </a:ln>
        </p:spPr>
      </p:sp>
      <p:sp>
        <p:nvSpPr>
          <p:cNvPr id="46" name="Text 43"/>
          <p:cNvSpPr/>
          <p:nvPr/>
        </p:nvSpPr>
        <p:spPr>
          <a:xfrm>
            <a:off x="6888861" y="4672584"/>
            <a:ext cx="26037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8E8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조달 레버 −2.8x → 밴드 진입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9081135" y="5029200"/>
            <a:ext cx="91440" cy="9144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48" name="Text 45"/>
          <p:cNvSpPr/>
          <p:nvPr/>
        </p:nvSpPr>
        <p:spPr>
          <a:xfrm>
            <a:off x="8669655" y="5166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8669655" y="5056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15.4x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8211883" y="5029200"/>
            <a:ext cx="91440" cy="91440"/>
          </a:xfrm>
          <a:prstGeom prst="ellipse">
            <a:avLst/>
          </a:prstGeom>
          <a:solidFill>
            <a:srgbClr val="8A5A55"/>
          </a:solidFill>
          <a:ln/>
        </p:spPr>
      </p:sp>
      <p:sp>
        <p:nvSpPr>
          <p:cNvPr id="51" name="Text 48"/>
          <p:cNvSpPr/>
          <p:nvPr/>
        </p:nvSpPr>
        <p:spPr>
          <a:xfrm>
            <a:off x="7800403" y="5166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5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①·②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7800403" y="5056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5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14.1x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7543228" y="5029200"/>
            <a:ext cx="91440" cy="91440"/>
          </a:xfrm>
          <a:prstGeom prst="ellipse">
            <a:avLst/>
          </a:prstGeom>
          <a:solidFill>
            <a:srgbClr val="8A5A55"/>
          </a:solidFill>
          <a:ln/>
        </p:spPr>
      </p:sp>
      <p:sp>
        <p:nvSpPr>
          <p:cNvPr id="54" name="Text 51"/>
          <p:cNvSpPr/>
          <p:nvPr/>
        </p:nvSpPr>
        <p:spPr>
          <a:xfrm>
            <a:off x="7131749" y="5166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5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③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131749" y="5056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5A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13.1x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208901" y="5029200"/>
            <a:ext cx="91440" cy="91440"/>
          </a:xfrm>
          <a:prstGeom prst="ellipse">
            <a:avLst/>
          </a:prstGeom>
          <a:solidFill>
            <a:srgbClr val="1E7A4D"/>
          </a:solidFill>
          <a:ln/>
        </p:spPr>
      </p:sp>
      <p:sp>
        <p:nvSpPr>
          <p:cNvPr id="57" name="Text 54"/>
          <p:cNvSpPr/>
          <p:nvPr/>
        </p:nvSpPr>
        <p:spPr>
          <a:xfrm>
            <a:off x="6797421" y="5166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최대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6797421" y="5056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12.6x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904488" y="5330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8x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5910453" y="5330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11x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7247763" y="5330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13x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7916418" y="5330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14x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9253728" y="5330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16x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566928" y="5797296"/>
            <a:ext cx="9555480" cy="1170432"/>
          </a:xfrm>
          <a:prstGeom prst="roundRect">
            <a:avLst>
              <a:gd name="adj" fmla="val 4688"/>
            </a:avLst>
          </a:prstGeom>
          <a:solidFill>
            <a:srgbClr val="211C18"/>
          </a:solidFill>
          <a:ln/>
        </p:spPr>
      </p:sp>
      <p:sp>
        <p:nvSpPr>
          <p:cNvPr id="65" name="Text 62"/>
          <p:cNvSpPr/>
          <p:nvPr/>
        </p:nvSpPr>
        <p:spPr>
          <a:xfrm>
            <a:off x="841248" y="5888736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E8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결론 — 희석 캡을 49%까지 열면 밴드 안으로 들어온다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841248" y="6199632"/>
            <a:ext cx="9006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가동률 85%/82%로 run-rate EBITDA 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6D6A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$554mm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→ BASE 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E8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15.4x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 그랜트 20%나 희석 30%로 14.1x, 희석을 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6D6A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49%(③)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까지 열면 13.1x, 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6D6A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그랜트20+희석49 결합 시 12.6x — peer 밴드(8~13x) 진입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 DCF는 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6D6A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WACC 10.5%·영구성장 2.0%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기준 EV $4.8bn(그중 AMPC PV $3.6bn·75%). OT SOP ′28 하반기. 단 49% 희석은 지배력 약화 트레이드오프 — 협상 상한으로만. ★ 순차입금 $6.4bn·부채비중 60% 고정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66928" y="7178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 전략팀 · Strictly Private &amp; Confidential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7836408" y="7178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= 미검증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VALUATION — PEER MULTIPLES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전략팀 · Confidential  / 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Peer 멀티플 (8~13x)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ex-AMPC EBITDA $554mm 적용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276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Peer 컴프스 · COMPARABLES (forward EV/EBITDA ★)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45720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60020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회사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EV/EBITDA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CATL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셀 · 글로벌 1위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71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12~13x</a:t>
                      </a:r>
                      <a:endParaRPr lang="en-US" sz="11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Tesla (Energy)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ESS 시스템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71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~12x</a:t>
                      </a:r>
                      <a:endParaRPr lang="en-US" sz="11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Fluence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ESS 인티그레이터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71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~11x</a:t>
                      </a:r>
                      <a:endParaRPr lang="en-US" sz="11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LG에너지솔루션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셀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71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~10x</a:t>
                      </a:r>
                      <a:endParaRPr lang="en-US" sz="11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삼성SDI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셀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71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~9x</a:t>
                      </a:r>
                      <a:endParaRPr lang="en-US" sz="11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Peer 밴드 (적용)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96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forward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1121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8~13x</a:t>
                      </a:r>
                      <a:endParaRPr lang="en-US" sz="11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5902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★ 증권사 추정 forward · peer EBITDA엔 AMPC 포함 → 우리는 ex-AMPC(보수적, apples-to-apples 아님)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504688" y="162763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우리 EBITDA 적용 · IMPLIED (× $554mm)</a:t>
            </a:r>
            <a:endParaRPr lang="en-US" sz="8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88" y="1883664"/>
          <a:ext cx="46177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41732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멀티플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내재 EV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내재 지분가치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(−순차입 $6.4bn)</a:t>
                      </a:r>
                      <a:endParaRPr lang="en-US" sz="9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71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8.0x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$4.4bn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112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−$2.0bn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71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10.5x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$5.8bn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1121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−$0.6bn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714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13.0x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71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$7.2bn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+$0.8bn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504688" y="3913632"/>
            <a:ext cx="4617720" cy="786384"/>
          </a:xfrm>
          <a:prstGeom prst="roundRect">
            <a:avLst>
              <a:gd name="adj" fmla="val 6977"/>
            </a:avLst>
          </a:prstGeom>
          <a:solidFill>
            <a:srgbClr val="211C18"/>
          </a:solidFill>
          <a:ln/>
        </p:spPr>
      </p:sp>
      <p:sp>
        <p:nvSpPr>
          <p:cNvPr id="13" name="Text 9"/>
          <p:cNvSpPr/>
          <p:nvPr/>
        </p:nvSpPr>
        <p:spPr>
          <a:xfrm>
            <a:off x="5724144" y="3913632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DCF 내재 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86D6A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≈ 8.7x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 (EV $4.8bn · peer 하단)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역산 필요 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8E8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12.6~15.4x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 (딜 성립 · peer 상단 초과)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66928" y="5029200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풋볼필드 — 내재 EV ($bn) · peer / DCF / 역산 필요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04088" y="5715000"/>
            <a:ext cx="8641080" cy="0"/>
          </a:xfrm>
          <a:prstGeom prst="line">
            <a:avLst/>
          </a:prstGeom>
          <a:noFill/>
          <a:ln w="31750">
            <a:solidFill>
              <a:srgbClr val="D8CFC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63545" y="5614416"/>
            <a:ext cx="3989299" cy="201168"/>
          </a:xfrm>
          <a:prstGeom prst="rect">
            <a:avLst/>
          </a:prstGeom>
          <a:solidFill>
            <a:srgbClr val="E8F3EC"/>
          </a:solidFill>
          <a:ln w="9525">
            <a:solidFill>
              <a:srgbClr val="1E7A4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63545" y="5385816"/>
            <a:ext cx="39892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peer 8~13x  $4.4~7.2bn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436004" y="5614416"/>
            <a:ext cx="2232279" cy="201168"/>
          </a:xfrm>
          <a:prstGeom prst="rect">
            <a:avLst/>
          </a:prstGeom>
          <a:solidFill>
            <a:srgbClr val="FBF1EF"/>
          </a:solidFill>
          <a:ln w="9525">
            <a:solidFill>
              <a:srgbClr val="C1121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53124" y="5861304"/>
            <a:ext cx="27809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역산 필요 12.6~15.4x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600700" y="5440680"/>
            <a:ext cx="0" cy="548640"/>
          </a:xfrm>
          <a:prstGeom prst="line">
            <a:avLst/>
          </a:prstGeom>
          <a:noFill/>
          <a:ln w="15875">
            <a:solidFill>
              <a:srgbClr val="1B1714"/>
            </a:solidFill>
            <a:prstDash val="dash"/>
          </a:ln>
        </p:spPr>
      </p:sp>
      <p:sp>
        <p:nvSpPr>
          <p:cNvPr id="21" name="Text 17"/>
          <p:cNvSpPr/>
          <p:nvPr/>
        </p:nvSpPr>
        <p:spPr>
          <a:xfrm>
            <a:off x="4503420" y="5221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171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순차입금 $6.4bn (지분 손익분기)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299155" y="5660136"/>
            <a:ext cx="109728" cy="109728"/>
          </a:xfrm>
          <a:prstGeom prst="ellipse">
            <a:avLst/>
          </a:prstGeom>
          <a:solidFill>
            <a:srgbClr val="1E7A4D"/>
          </a:solidFill>
          <a:ln/>
        </p:spPr>
      </p:sp>
      <p:sp>
        <p:nvSpPr>
          <p:cNvPr id="23" name="Text 19"/>
          <p:cNvSpPr/>
          <p:nvPr/>
        </p:nvSpPr>
        <p:spPr>
          <a:xfrm>
            <a:off x="2576779" y="58613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DCF $4.8bn·8.7x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29768" y="608076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$3bn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1869948" y="608076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$4bn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3310128" y="608076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$5bn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4750308" y="608076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$6bn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6190488" y="608076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$7bn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7630668" y="608076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$8bn</a:t>
            </a:r>
            <a:endParaRPr lang="en-US" sz="650" dirty="0"/>
          </a:p>
        </p:txBody>
      </p:sp>
      <p:sp>
        <p:nvSpPr>
          <p:cNvPr id="30" name="Text 26"/>
          <p:cNvSpPr/>
          <p:nvPr/>
        </p:nvSpPr>
        <p:spPr>
          <a:xfrm>
            <a:off x="9070848" y="608076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$9bn</a:t>
            </a:r>
            <a:endParaRPr lang="en-US" sz="650" dirty="0"/>
          </a:p>
        </p:txBody>
      </p:sp>
      <p:sp>
        <p:nvSpPr>
          <p:cNvPr id="31" name="Shape 27"/>
          <p:cNvSpPr/>
          <p:nvPr/>
        </p:nvSpPr>
        <p:spPr>
          <a:xfrm>
            <a:off x="566928" y="6272784"/>
            <a:ext cx="9555480" cy="749808"/>
          </a:xfrm>
          <a:prstGeom prst="roundRect">
            <a:avLst>
              <a:gd name="adj" fmla="val 7317"/>
            </a:avLst>
          </a:prstGeom>
          <a:solidFill>
            <a:srgbClr val="F2ECE0"/>
          </a:solidFill>
          <a:ln/>
        </p:spPr>
      </p:sp>
      <p:sp>
        <p:nvSpPr>
          <p:cNvPr id="32" name="Text 28"/>
          <p:cNvSpPr/>
          <p:nvPr/>
        </p:nvSpPr>
        <p:spPr>
          <a:xfrm>
            <a:off x="795528" y="6272784"/>
            <a:ext cx="9098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[핵심]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ex-AMPC EBITDA $554mm에 peer 8~13x → EV $4.4~7.2bn. 순차입금 $6.4bn 감안 시 지분가치는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E7A4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13x(+$0.8bn)에서야 (+)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8x는 −$2.0bn. DCF도 ~8.7x로 peer 하단이라, 딜 성립에 필요한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12.6~15.4x는 peer 상단 초과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→ 그랜트·희석·ex-AMPC 마진 개선으로 메워야. (AMPC 포함 시 EV의 75%가 보조금)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66928" y="7178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 전략팀 · Strictly Private &amp; Confidential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7836408" y="7178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= 미검증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CLOSING — GOVERNMENT ENGAGEMENT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07608" y="475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 전략팀 · Confidential  / 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커뮤니케이션 방식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79208" y="932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재무 사전 정렬 우선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26464"/>
            <a:ext cx="9555480" cy="0"/>
          </a:xfrm>
          <a:prstGeom prst="line">
            <a:avLst/>
          </a:prstGeom>
          <a:noFill/>
          <a:ln w="19050">
            <a:solidFill>
              <a:srgbClr val="1B17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2763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진행 순서 · ENGAGEMENT SEQUENCE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901952"/>
            <a:ext cx="2183130" cy="1051560"/>
          </a:xfrm>
          <a:prstGeom prst="roundRect">
            <a:avLst>
              <a:gd name="adj" fmla="val 5217"/>
            </a:avLst>
          </a:prstGeom>
          <a:solidFill>
            <a:srgbClr val="211C18"/>
          </a:solidFill>
          <a:ln w="19050">
            <a:solidFill>
              <a:srgbClr val="211C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103120"/>
            <a:ext cx="384048" cy="384048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2560320"/>
            <a:ext cx="1744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내부 재무 사전 정렬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2770632"/>
            <a:ext cx="174421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ask·구조·레드라인 재무 합의 (선행)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31770" y="22677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24378" y="1901952"/>
            <a:ext cx="21831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4DE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3834" y="2103120"/>
            <a:ext cx="384048" cy="384048"/>
          </a:xfrm>
          <a:prstGeom prst="ellipse">
            <a:avLst/>
          </a:prstGeom>
          <a:solidFill>
            <a:srgbClr val="D8CFC2"/>
          </a:solidFill>
          <a:ln/>
        </p:spPr>
      </p:sp>
      <p:sp>
        <p:nvSpPr>
          <p:cNvPr id="16" name="Text 14"/>
          <p:cNvSpPr/>
          <p:nvPr/>
        </p:nvSpPr>
        <p:spPr>
          <a:xfrm>
            <a:off x="324383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43834" y="2560320"/>
            <a:ext cx="1744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ask 확정 → 매칭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3834" y="2770632"/>
            <a:ext cx="174421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 확정 후 카운터파트로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89220" y="22677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1828" y="1901952"/>
            <a:ext cx="21831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4DE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01284" y="2103120"/>
            <a:ext cx="384048" cy="384048"/>
          </a:xfrm>
          <a:prstGeom prst="ellipse">
            <a:avLst/>
          </a:prstGeom>
          <a:solidFill>
            <a:srgbClr val="D8CFC2"/>
          </a:solidFill>
          <a:ln/>
        </p:spPr>
      </p:sp>
      <p:sp>
        <p:nvSpPr>
          <p:cNvPr id="22" name="Text 20"/>
          <p:cNvSpPr/>
          <p:nvPr/>
        </p:nvSpPr>
        <p:spPr>
          <a:xfrm>
            <a:off x="570128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01284" y="2560320"/>
            <a:ext cx="1744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DOE 부서 미팅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01284" y="2770632"/>
            <a:ext cx="174421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합의된 ask · 부서별 단일 메시지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646670" y="22677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39278" y="1901952"/>
            <a:ext cx="218313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4DE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58734" y="2103120"/>
            <a:ext cx="384048" cy="384048"/>
          </a:xfrm>
          <a:prstGeom prst="ellipse">
            <a:avLst/>
          </a:prstGeom>
          <a:solidFill>
            <a:srgbClr val="D8CFC2"/>
          </a:solidFill>
          <a:ln/>
        </p:spPr>
      </p:sp>
      <p:sp>
        <p:nvSpPr>
          <p:cNvPr id="28" name="Text 26"/>
          <p:cNvSpPr/>
          <p:nvPr/>
        </p:nvSpPr>
        <p:spPr>
          <a:xfrm>
            <a:off x="815873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71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58734" y="2560320"/>
            <a:ext cx="1744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DOW(국방) 트랙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58734" y="2770632"/>
            <a:ext cx="174421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69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방산·딥테크 별도 진행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928" y="32918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ASK → DOE 카운터파트 매칭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6616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보조금 (BA)</a:t>
                      </a:r>
                      <a:endParaRPr lang="en-US" sz="10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7A4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MESC — 제조·공급망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대출</a:t>
                      </a:r>
                      <a:endParaRPr lang="en-US" sz="10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DOE LPO 융자 · OT 기존 (론명 변경 ★)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Equity</a:t>
                      </a:r>
                      <a:endParaRPr lang="en-US" sz="10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1121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해당 부서 없음 — DOE 지분투자 ✗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방산 앵글</a:t>
                      </a:r>
                      <a:endParaRPr lang="en-US" sz="10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71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DOW (국방) 별도 트랙</a:t>
                      </a:r>
                      <a:endParaRPr lang="en-US" sz="9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5961888" y="329184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레드라인 · RED LINES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61888" y="3566160"/>
            <a:ext cx="4160520" cy="1901952"/>
          </a:xfrm>
          <a:prstGeom prst="roundRect">
            <a:avLst>
              <a:gd name="adj" fmla="val 2885"/>
            </a:avLst>
          </a:prstGeom>
          <a:solidFill>
            <a:srgbClr val="211C18"/>
          </a:solidFill>
          <a:ln/>
        </p:spPr>
      </p:sp>
      <p:sp>
        <p:nvSpPr>
          <p:cNvPr id="35" name="Text 32"/>
          <p:cNvSpPr/>
          <p:nvPr/>
        </p:nvSpPr>
        <p:spPr>
          <a:xfrm>
            <a:off x="6199632" y="36941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미팅 전 재무 합의 사항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199632" y="4041648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SK이노 보증 확대 금지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BA 기존 covenant breach 금지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8CF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CoC 완화 협상 (희석 30~49% 여지)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8E8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DOE Equity 기대 제외 (대출·보증만)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66928" y="5760720"/>
            <a:ext cx="2183130" cy="0"/>
          </a:xfrm>
          <a:prstGeom prst="line">
            <a:avLst/>
          </a:prstGeom>
          <a:noFill/>
          <a:ln w="25400">
            <a:solidFill>
              <a:srgbClr val="1B171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6928" y="5833872"/>
            <a:ext cx="21831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D+0 · 1~2주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66928" y="6035040"/>
            <a:ext cx="21831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재무 사전 정렬 메모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024378" y="5760720"/>
            <a:ext cx="2183130" cy="0"/>
          </a:xfrm>
          <a:prstGeom prst="line">
            <a:avLst/>
          </a:prstGeom>
          <a:noFill/>
          <a:ln w="25400">
            <a:solidFill>
              <a:srgbClr val="1B171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024378" y="5833872"/>
            <a:ext cx="21831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D+2~3주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024378" y="6035040"/>
            <a:ext cx="21831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ask 확정 · 부서 매칭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1828" y="5760720"/>
            <a:ext cx="2183130" cy="0"/>
          </a:xfrm>
          <a:prstGeom prst="line">
            <a:avLst/>
          </a:prstGeom>
          <a:noFill/>
          <a:ln w="25400">
            <a:solidFill>
              <a:srgbClr val="1B171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1828" y="5833872"/>
            <a:ext cx="21831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D+4~6주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481828" y="6035040"/>
            <a:ext cx="21831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DOE 부서 미팅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939278" y="5760720"/>
            <a:ext cx="2183130" cy="0"/>
          </a:xfrm>
          <a:prstGeom prst="line">
            <a:avLst/>
          </a:prstGeom>
          <a:noFill/>
          <a:ln w="25400">
            <a:solidFill>
              <a:srgbClr val="1B171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39278" y="5833872"/>
            <a:ext cx="21831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D+8주~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939278" y="6035040"/>
            <a:ext cx="21831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DOW·후속 협상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66928" y="6446520"/>
            <a:ext cx="9555480" cy="457200"/>
          </a:xfrm>
          <a:prstGeom prst="roundRect">
            <a:avLst>
              <a:gd name="adj" fmla="val 8000"/>
            </a:avLst>
          </a:prstGeom>
          <a:solidFill>
            <a:srgbClr val="F2ECE0"/>
          </a:solidFill>
          <a:ln/>
        </p:spPr>
      </p:sp>
      <p:sp>
        <p:nvSpPr>
          <p:cNvPr id="50" name="Text 47"/>
          <p:cNvSpPr/>
          <p:nvPr/>
        </p:nvSpPr>
        <p:spPr>
          <a:xfrm>
            <a:off x="795528" y="6446520"/>
            <a:ext cx="9098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12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[원칙]  </a:t>
            </a:r>
            <a:pPr indent="0" marL="0">
              <a:buNone/>
            </a:pPr>
            <a:r>
              <a:rPr lang="en-US" sz="950" dirty="0">
                <a:solidFill>
                  <a:srgbClr val="1B171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부서 미팅 전, '무엇을 요청할지'를 재무와 먼저 확정한다 — 잘못된 부서에 잘못된 ask로 가는 것을 막는다.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66928" y="7141464"/>
            <a:ext cx="9555480" cy="0"/>
          </a:xfrm>
          <a:prstGeom prst="line">
            <a:avLst/>
          </a:prstGeom>
          <a:noFill/>
          <a:ln w="9525">
            <a:solidFill>
              <a:srgbClr val="E4DED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6928" y="7178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 전략팀 · Strictly Private &amp; Confidential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7836408" y="71780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A84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= 미검증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2026-07-01T08:05:16Z</dcterms:created>
  <dcterms:modified xsi:type="dcterms:W3CDTF">2026-07-01T08:05:16Z</dcterms:modified>
</cp:coreProperties>
</file>