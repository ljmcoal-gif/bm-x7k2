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가동(COD)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2027~28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(단독)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~$5.0bn + SKI 보증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~$2.2bn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13632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완전자회사 100%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97680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가동(COD)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2028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 ATVM (이자만)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307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3075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 $155/kWh 사업화 — 셀+모듈+컨테이너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1330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133088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ex-AMPC EBITDA 9% → 지분 수익률(FCFE) 충족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007608" y="45354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263640" y="453542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≈ $3.6bn (밴드 $3.0~4.0bn)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6007608" y="4937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263640" y="493776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NAV(SOTP) ≈ $5.0bn ★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3" name="Shape 27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차입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9.0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ASP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155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$/kWh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4" name="Text 38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ATVM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REQUIRED THRESHOLD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역산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20% 희석 한도 기준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9202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87168" y="19202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 /kWh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32257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3545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공급 셀 (개조 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87168" y="23545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파우치 + 각형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75691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7889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87168" y="27889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 (10/30/60)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19125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2232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외부 지분 (30%)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487168" y="32232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$0.43bn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62559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6576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87168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 (BA3.7+OT2.6)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05993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0919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EBITDA ex-AMPC (9%)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487168" y="40919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$441mm run-rate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49427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5262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87168" y="45262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928616"/>
            <a:ext cx="384048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1627632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— 20% 희석 한도를 지키려면 · THE BAR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64608" y="1920240"/>
            <a:ext cx="5257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47488" y="2139696"/>
            <a:ext cx="310896" cy="310896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32" name="Text 30"/>
          <p:cNvSpPr/>
          <p:nvPr/>
        </p:nvSpPr>
        <p:spPr>
          <a:xfrm>
            <a:off x="5047488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0" y="2029968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 지분가치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0" y="23317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외부 지분 $0.43bn ÷ 20% 희석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85048" y="204825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$2.1</a:t>
            </a:r>
            <a:pPr algn="r"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4864608" y="2761488"/>
            <a:ext cx="5257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47488" y="2980944"/>
            <a:ext cx="310896" cy="310896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38" name="Text 36"/>
          <p:cNvSpPr/>
          <p:nvPr/>
        </p:nvSpPr>
        <p:spPr>
          <a:xfrm>
            <a:off x="5047488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0" y="2871216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최소 EV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86400" y="31729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$2.1 + 순차입금 $6.4 (BA3.7+OT2.6)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85048" y="288950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$8.6</a:t>
            </a:r>
            <a:pPr algn="r"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40"/>
          <p:cNvSpPr/>
          <p:nvPr/>
        </p:nvSpPr>
        <p:spPr>
          <a:xfrm>
            <a:off x="4864608" y="3602736"/>
            <a:ext cx="5257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47488" y="3822192"/>
            <a:ext cx="310896" cy="310896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44" name="Text 42"/>
          <p:cNvSpPr/>
          <p:nvPr/>
        </p:nvSpPr>
        <p:spPr>
          <a:xfrm>
            <a:off x="5047488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486400" y="371246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최소 implied 멀티플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86400" y="401421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현 EBITDA $441mm · peer 8~13x 초과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385048" y="3730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~19</a:t>
            </a:r>
            <a:pPr algn="r" indent="0" marL="0">
              <a:buNone/>
            </a:pPr>
            <a:r>
              <a:rPr lang="en-US" sz="14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x</a:t>
            </a:r>
            <a:endParaRPr lang="en-US" sz="2600" dirty="0"/>
          </a:p>
        </p:txBody>
      </p:sp>
      <p:sp>
        <p:nvSpPr>
          <p:cNvPr id="48" name="Shape 46"/>
          <p:cNvSpPr/>
          <p:nvPr/>
        </p:nvSpPr>
        <p:spPr>
          <a:xfrm>
            <a:off x="4864608" y="4443984"/>
            <a:ext cx="5257800" cy="749808"/>
          </a:xfrm>
          <a:prstGeom prst="roundRect">
            <a:avLst>
              <a:gd name="adj" fmla="val 7317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47488" y="4663440"/>
            <a:ext cx="310896" cy="310896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50" name="Text 48"/>
          <p:cNvSpPr/>
          <p:nvPr/>
        </p:nvSpPr>
        <p:spPr>
          <a:xfrm>
            <a:off x="5047488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486400" y="45537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DCF 환산: 필요 ex-AMPC EBITDA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486400" y="485546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현 9%의 약 2.5배 (모델 sweep)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385048" y="4572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~22</a:t>
            </a:r>
            <a:pPr algn="r" indent="0" marL="0">
              <a:buNone/>
            </a:pPr>
            <a:r>
              <a:rPr lang="en-US" sz="14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%</a:t>
            </a:r>
            <a:endParaRPr lang="en-US" sz="2600" dirty="0"/>
          </a:p>
        </p:txBody>
      </p:sp>
      <p:sp>
        <p:nvSpPr>
          <p:cNvPr id="54" name="Shape 52"/>
          <p:cNvSpPr/>
          <p:nvPr/>
        </p:nvSpPr>
        <p:spPr>
          <a:xfrm>
            <a:off x="566928" y="544068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211C18"/>
          </a:solidFill>
          <a:ln/>
        </p:spPr>
      </p:sp>
      <p:sp>
        <p:nvSpPr>
          <p:cNvPr id="55" name="Text 53"/>
          <p:cNvSpPr/>
          <p:nvPr/>
        </p:nvSpPr>
        <p:spPr>
          <a:xfrm>
            <a:off x="841248" y="54406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필요 마진 갭 — 9% → ~22%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584448" y="5769864"/>
            <a:ext cx="6263640" cy="0"/>
          </a:xfrm>
          <a:prstGeom prst="line">
            <a:avLst/>
          </a:prstGeom>
          <a:noFill/>
          <a:ln w="38100">
            <a:solidFill>
              <a:srgbClr val="3A342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39358" y="5769864"/>
            <a:ext cx="3382366" cy="0"/>
          </a:xfrm>
          <a:prstGeom prst="line">
            <a:avLst/>
          </a:prstGeom>
          <a:noFill/>
          <a:ln w="38100">
            <a:solidFill>
              <a:srgbClr val="C1121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82158" y="54772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현 9%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581644" y="54772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필요 ~22%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6236208"/>
            <a:ext cx="9555480" cy="786384"/>
          </a:xfrm>
          <a:prstGeom prst="roundRect">
            <a:avLst>
              <a:gd name="adj" fmla="val 6977"/>
            </a:avLst>
          </a:prstGeom>
          <a:solidFill>
            <a:srgbClr val="211C18"/>
          </a:solidFill>
          <a:ln/>
        </p:spPr>
      </p:sp>
      <p:sp>
        <p:nvSpPr>
          <p:cNvPr id="61" name="Text 59"/>
          <p:cNvSpPr/>
          <p:nvPr/>
        </p:nvSpPr>
        <p:spPr>
          <a:xfrm>
            <a:off x="841248" y="63276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마진이 딜의 성패를 가른다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41248" y="6583680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현 9% 마진으로는 20% 희석 한도 내 지분조달 불가. 길은 둘 — 시장이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~19x(peer 상단 초과)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를 주거나,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ex-AMPC EBITDA를 ~22%로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올려 정상 멀티플(≈8x)에서 $8.6bn EV를 정당화하거나. ★ 순차입금 $6.4bn · 모델 sweep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LPO (ATVM/Title 17) · OT 기존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2026-07-01T01:58:41Z</dcterms:created>
  <dcterms:modified xsi:type="dcterms:W3CDTF">2026-07-01T01:58:41Z</dcterms:modified>
</cp:coreProperties>
</file>