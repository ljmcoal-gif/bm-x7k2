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83096" y="548640"/>
            <a:ext cx="4023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C1121F">
                    <a:alpha val="6000"/>
                  </a:srgbClr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F</a:t>
            </a:r>
            <a:endParaRPr lang="en-US" sz="34000" dirty="0"/>
          </a:p>
        </p:txBody>
      </p:sp>
      <p:sp>
        <p:nvSpPr>
          <p:cNvPr id="3" name="Shape 1"/>
          <p:cNvSpPr/>
          <p:nvPr/>
        </p:nvSpPr>
        <p:spPr>
          <a:xfrm>
            <a:off x="566928" y="566928"/>
            <a:ext cx="384048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4" name="Text 2"/>
          <p:cNvSpPr/>
          <p:nvPr/>
        </p:nvSpPr>
        <p:spPr>
          <a:xfrm>
            <a:off x="1024128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64808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FINANCING STRUCTURE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431596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STRUCTURE v2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773168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펀딩 구조</a:t>
            </a:r>
            <a:endParaRPr lang="en-US" sz="5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전면 개편(안)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66928" y="64648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보조금-우선 · OT 링펜스 유지 — 재무팀 의견 반영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6812280"/>
            <a:ext cx="9555480" cy="0"/>
          </a:xfrm>
          <a:prstGeom prst="line">
            <a:avLst/>
          </a:prstGeom>
          <a:noFill/>
          <a:ln w="12700">
            <a:solidFill>
              <a:srgbClr val="E4DE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6876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2026년 6월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64808" y="6876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Internal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CURRENT STATE &amp; RETROFIT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현황 &amp; 개조 소요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· OT 재무상태 → 개조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주요 재무상태 · KEY FINANCIALS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5074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공장 1 — SKBA (조지아)</a:t>
                      </a:r>
                      <a:endParaRPr lang="en-US" sz="11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D8CFC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파우치 · 모회사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171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67712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명판 / 가동률(run-rate)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18.0 GWh / 85%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기존 차입 (금융기관보증)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5조원 ≈ $3.7bn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매출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~$2.3bn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개조 ex-AMPC EBITDA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13% (목표)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기저 EBITDA (pre-SOP)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$0.2bn (2026~)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순자산 NAV (BS)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~$2.0bn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407408"/>
          <a:ext cx="5074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874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공장 2 — SKOT (테네시)</a:t>
                      </a:r>
                      <a:endParaRPr lang="en-US" sz="11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112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D8CFC2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BA 100% · SOP ′28 하반기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1121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791456"/>
          <a:ext cx="5074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</a:tblGrid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명판 / 가동률(run-rate)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29.7 GWh / 82%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기존 차입 (DOE 융자)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$4.0bn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  └ 상환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이자만~'30 → 이후분할 ★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매출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~$3.5bn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ex-AMPC EBITDA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13% (목표)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960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순자산 NAV (BS) ★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~$3.0bn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25400" marB="25400" anchor="ctr">
                    <a:lnL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CE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6"/>
          <p:cNvSpPr/>
          <p:nvPr/>
        </p:nvSpPr>
        <p:spPr>
          <a:xfrm>
            <a:off x="6007608" y="16276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개조 금액 · RETROFIT CAPEX</a:t>
            </a:r>
            <a:endParaRPr lang="en-US" sz="850" dirty="0"/>
          </a:p>
        </p:txBody>
      </p:sp>
      <p:sp>
        <p:nvSpPr>
          <p:cNvPr id="13" name="Shape 7"/>
          <p:cNvSpPr/>
          <p:nvPr/>
        </p:nvSpPr>
        <p:spPr>
          <a:xfrm>
            <a:off x="6007608" y="1883664"/>
            <a:ext cx="4114800" cy="1371600"/>
          </a:xfrm>
          <a:prstGeom prst="roundRect">
            <a:avLst>
              <a:gd name="adj" fmla="val 4000"/>
            </a:avLst>
          </a:prstGeom>
          <a:solidFill>
            <a:srgbClr val="211C18"/>
          </a:solidFill>
          <a:ln/>
        </p:spPr>
      </p:sp>
      <p:sp>
        <p:nvSpPr>
          <p:cNvPr id="14" name="Text 8"/>
          <p:cNvSpPr/>
          <p:nvPr/>
        </p:nvSpPr>
        <p:spPr>
          <a:xfrm>
            <a:off x="6281928" y="2048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(개조)</a:t>
            </a:r>
            <a:endParaRPr lang="en-US" sz="1100" dirty="0"/>
          </a:p>
        </p:txBody>
      </p:sp>
      <p:sp>
        <p:nvSpPr>
          <p:cNvPr id="15" name="Text 9"/>
          <p:cNvSpPr/>
          <p:nvPr/>
        </p:nvSpPr>
        <p:spPr>
          <a:xfrm>
            <a:off x="8019288" y="204825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$0.4bn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6281928" y="2432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8019288" y="24323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$1.0bn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6281928" y="2834640"/>
            <a:ext cx="3566160" cy="0"/>
          </a:xfrm>
          <a:prstGeom prst="line">
            <a:avLst/>
          </a:prstGeom>
          <a:noFill/>
          <a:ln w="9525">
            <a:solidFill>
              <a:srgbClr val="4A443D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6281928" y="290779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합계 소요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7836408" y="2907792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8E8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$1.4bn</a:t>
            </a:r>
            <a:endParaRPr lang="en-US" sz="2400" dirty="0"/>
          </a:p>
        </p:txBody>
      </p:sp>
      <p:sp>
        <p:nvSpPr>
          <p:cNvPr id="21" name="Text 15"/>
          <p:cNvSpPr/>
          <p:nvPr/>
        </p:nvSpPr>
        <p:spPr>
          <a:xfrm>
            <a:off x="6007608" y="34564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기대 효과 · EXPECTED EFFECT</a:t>
            </a:r>
            <a:endParaRPr lang="en-US" sz="850" dirty="0"/>
          </a:p>
        </p:txBody>
      </p:sp>
      <p:sp>
        <p:nvSpPr>
          <p:cNvPr id="22" name="Text 16"/>
          <p:cNvSpPr/>
          <p:nvPr/>
        </p:nvSpPr>
        <p:spPr>
          <a:xfrm>
            <a:off x="6007608" y="37124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6263640" y="3712464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DC센터 수요 확보 → 가동률 85% (BA)·82% (OT) run-rate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6007608" y="409651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●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6263640" y="4096512"/>
            <a:ext cx="3858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ex-AMPC EBITDA $748mm (BA 295 + OT 452, 13% 마진)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007608" y="4526280"/>
            <a:ext cx="4114800" cy="914400"/>
          </a:xfrm>
          <a:prstGeom prst="roundRect">
            <a:avLst>
              <a:gd name="adj" fmla="val 6000"/>
            </a:avLst>
          </a:prstGeom>
          <a:solidFill>
            <a:srgbClr val="211C18"/>
          </a:solidFill>
          <a:ln/>
        </p:spPr>
      </p:sp>
      <p:sp>
        <p:nvSpPr>
          <p:cNvPr id="27" name="Text 21"/>
          <p:cNvSpPr/>
          <p:nvPr/>
        </p:nvSpPr>
        <p:spPr>
          <a:xfrm>
            <a:off x="6208776" y="46177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밸류에이션 분해 — AMPC(45X) 기여</a:t>
            </a:r>
            <a:pPr indent="0" marL="0">
              <a:buNone/>
            </a:pPr>
            <a:r>
              <a:rPr lang="en-US" sz="10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  한시보조금·2033 소멸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6208776" y="4928616"/>
            <a:ext cx="1670609" cy="219456"/>
          </a:xfrm>
          <a:prstGeom prst="rect">
            <a:avLst/>
          </a:prstGeom>
          <a:solidFill>
            <a:srgbClr val="1E7A4D"/>
          </a:solidFill>
          <a:ln/>
        </p:spPr>
      </p:sp>
      <p:sp>
        <p:nvSpPr>
          <p:cNvPr id="29" name="Shape 23"/>
          <p:cNvSpPr/>
          <p:nvPr/>
        </p:nvSpPr>
        <p:spPr>
          <a:xfrm>
            <a:off x="7879385" y="4928616"/>
            <a:ext cx="2041855" cy="219456"/>
          </a:xfrm>
          <a:prstGeom prst="rect">
            <a:avLst/>
          </a:prstGeom>
          <a:solidFill>
            <a:srgbClr val="FF8E84"/>
          </a:solidFill>
          <a:ln/>
        </p:spPr>
      </p:sp>
      <p:sp>
        <p:nvSpPr>
          <p:cNvPr id="30" name="Text 24"/>
          <p:cNvSpPr/>
          <p:nvPr/>
        </p:nvSpPr>
        <p:spPr>
          <a:xfrm>
            <a:off x="6208776" y="4928616"/>
            <a:ext cx="16706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ex-AMPC $2.7bn</a:t>
            </a:r>
            <a:endParaRPr lang="en-US" sz="750" dirty="0"/>
          </a:p>
        </p:txBody>
      </p:sp>
      <p:sp>
        <p:nvSpPr>
          <p:cNvPr id="31" name="Text 25"/>
          <p:cNvSpPr/>
          <p:nvPr/>
        </p:nvSpPr>
        <p:spPr>
          <a:xfrm>
            <a:off x="7879385" y="4928616"/>
            <a:ext cx="2041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11C1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AMPC PV $3.3bn (55%)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6208776" y="520293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DCF EV $6.0bn</a:t>
            </a:r>
            <a:pPr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의 55%가 한시 AMPC → 멀티플엔 ex-AMPC만. WACC 10.5%·TGR 2%·Ke 13%</a:t>
            </a:r>
            <a:endParaRPr lang="en-US" sz="800" dirty="0"/>
          </a:p>
        </p:txBody>
      </p:sp>
      <p:sp>
        <p:nvSpPr>
          <p:cNvPr id="33" name="Shape 27"/>
          <p:cNvSpPr/>
          <p:nvPr/>
        </p:nvSpPr>
        <p:spPr>
          <a:xfrm>
            <a:off x="6007608" y="5486400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6007608" y="55412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총 명판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6007608" y="5779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47.7</a:t>
            </a:r>
            <a:pPr indent="0" marL="0">
              <a:buNone/>
            </a:pPr>
            <a:r>
              <a:rPr lang="en-US" sz="1200" b="1" dirty="0">
                <a:solidFill>
                  <a:srgbClr val="1B171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GWh</a:t>
            </a:r>
            <a:endParaRPr lang="en-US" sz="2600" dirty="0"/>
          </a:p>
        </p:txBody>
      </p:sp>
      <p:sp>
        <p:nvSpPr>
          <p:cNvPr id="36" name="Shape 30"/>
          <p:cNvSpPr/>
          <p:nvPr/>
        </p:nvSpPr>
        <p:spPr>
          <a:xfrm>
            <a:off x="8247888" y="5486400"/>
            <a:ext cx="187452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8247888" y="5541264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EBITDA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8247888" y="577900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7A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748</a:t>
            </a:r>
            <a:pPr indent="0" marL="0">
              <a:buNone/>
            </a:pPr>
            <a:r>
              <a:rPr lang="en-US" sz="1200" b="1" dirty="0">
                <a:solidFill>
                  <a:srgbClr val="1E7A4D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$mm</a:t>
            </a:r>
            <a:endParaRPr lang="en-US" sz="2600" dirty="0"/>
          </a:p>
        </p:txBody>
      </p:sp>
      <p:sp>
        <p:nvSpPr>
          <p:cNvPr id="39" name="Shape 33"/>
          <p:cNvSpPr/>
          <p:nvPr/>
        </p:nvSpPr>
        <p:spPr>
          <a:xfrm>
            <a:off x="6007608" y="6419088"/>
            <a:ext cx="1874520" cy="0"/>
          </a:xfrm>
          <a:prstGeom prst="line">
            <a:avLst/>
          </a:prstGeom>
          <a:noFill/>
          <a:ln w="25400">
            <a:solidFill>
              <a:srgbClr val="C1121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6007608" y="64739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개조 소요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6007608" y="671169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1.4</a:t>
            </a:r>
            <a:pPr indent="0" marL="0">
              <a:buNone/>
            </a:pPr>
            <a:r>
              <a:rPr lang="en-US" sz="12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42" name="Shape 36"/>
          <p:cNvSpPr/>
          <p:nvPr/>
        </p:nvSpPr>
        <p:spPr>
          <a:xfrm>
            <a:off x="8247888" y="6419088"/>
            <a:ext cx="1874520" cy="0"/>
          </a:xfrm>
          <a:prstGeom prst="line">
            <a:avLst/>
          </a:prstGeom>
          <a:noFill/>
          <a:ln w="25400">
            <a:solidFill>
              <a:srgbClr val="C1121F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8247888" y="6473952"/>
            <a:ext cx="1874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DCF EV</a:t>
            </a:r>
            <a:endParaRPr lang="en-US" sz="1000" dirty="0"/>
          </a:p>
        </p:txBody>
      </p:sp>
      <p:sp>
        <p:nvSpPr>
          <p:cNvPr id="44" name="Text 38"/>
          <p:cNvSpPr/>
          <p:nvPr/>
        </p:nvSpPr>
        <p:spPr>
          <a:xfrm>
            <a:off x="8247888" y="6711696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6.0</a:t>
            </a:r>
            <a:pPr indent="0" marL="0">
              <a:buNone/>
            </a:pPr>
            <a:r>
              <a:rPr lang="en-US" sz="1200" b="1" dirty="0">
                <a:solidFill>
                  <a:srgbClr val="C112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bn</a:t>
            </a:r>
            <a:endParaRPr lang="en-US" sz="2600" dirty="0"/>
          </a:p>
        </p:txBody>
      </p:sp>
      <p:sp>
        <p:nvSpPr>
          <p:cNvPr id="45" name="Shape 39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46" name="Text 40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47" name="Text 41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FUNDING PROPOSAL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펀딩 제안 — BA 중심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지분구조 · 캐시 플로우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지분구조 &amp; 캐시 플로우 · STRUCTURE &amp; CASH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315968" y="1883664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4A443D"/>
          </a:solidFill>
          <a:ln/>
        </p:spPr>
      </p:sp>
      <p:sp>
        <p:nvSpPr>
          <p:cNvPr id="9" name="Text 7"/>
          <p:cNvSpPr/>
          <p:nvPr/>
        </p:nvSpPr>
        <p:spPr>
          <a:xfrm>
            <a:off x="4315968" y="1938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SK이노베이션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15968" y="219456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최상위 모회사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84648" y="250545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596128" y="250545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15968" y="2761488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5E5346"/>
          </a:solidFill>
          <a:ln/>
        </p:spPr>
      </p:sp>
      <p:sp>
        <p:nvSpPr>
          <p:cNvPr id="14" name="Text 12"/>
          <p:cNvSpPr/>
          <p:nvPr/>
        </p:nvSpPr>
        <p:spPr>
          <a:xfrm>
            <a:off x="4315968" y="28163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SK온 (SK On)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15968" y="307238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배터리 중간지주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184648" y="33832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96128" y="338328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315968" y="3749040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1B1714"/>
          </a:solidFill>
          <a:ln/>
        </p:spPr>
      </p:sp>
      <p:sp>
        <p:nvSpPr>
          <p:cNvPr id="19" name="Text 17"/>
          <p:cNvSpPr/>
          <p:nvPr/>
        </p:nvSpPr>
        <p:spPr>
          <a:xfrm>
            <a:off x="4315968" y="38039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— SKBA · 조달 주체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315968" y="405993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총 $1.42bn 일괄 조달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252728" y="356616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E8F3EC"/>
          </a:solidFill>
          <a:ln w="19050">
            <a:solidFill>
              <a:srgbClr val="1E7A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7320" y="356616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7A4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보조금 (10%)  </a:t>
            </a:r>
            <a:pPr indent="0" marL="0">
              <a:buNone/>
            </a:pPr>
            <a:r>
              <a:rPr lang="en-US" sz="9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$0.14bn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977640" y="356616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252728" y="4041648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17320" y="4041648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비소구부채 (60%)  </a:t>
            </a:r>
            <a:pPr indent="0" marL="0">
              <a:buNone/>
            </a:pPr>
            <a:r>
              <a:rPr lang="en-US" sz="9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$0.85bn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977640" y="404164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84648" y="444398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▼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21408" y="444398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$1.0bn 증자 (equity-down)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315968" y="4773168"/>
            <a:ext cx="2286000" cy="566928"/>
          </a:xfrm>
          <a:prstGeom prst="roundRect">
            <a:avLst>
              <a:gd name="adj" fmla="val 8065"/>
            </a:avLst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4315968" y="48280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 — SKOT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315968" y="508406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완전자회사 100%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252728" y="4846320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17320" y="4846320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기존 DOE 융자  </a:t>
            </a:r>
            <a:pPr indent="0" marL="0">
              <a:buNone/>
            </a:pPr>
            <a:r>
              <a:rPr lang="en-US" sz="95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$4.0bn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3977640" y="4846320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928" y="554126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조달 믹스 그랜트 10% · 지분 30% · 비소구부채 60% ($1.42bn) → 자체 $0.4bn + OT $1.0bn 증자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196328" y="16276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· PROPOSAL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196328" y="1883664"/>
            <a:ext cx="2926080" cy="1691640"/>
          </a:xfrm>
          <a:prstGeom prst="roundRect">
            <a:avLst>
              <a:gd name="adj" fmla="val 3243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34072" y="20299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①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34072" y="2267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12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BA가 $1.42bn 일괄 조달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434072" y="26700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OT는 DOE·CoC로 신규 차입이 어렵다 → BA가 전액 조달해 OT엔 $1.0bn 증자(equity-down). 자회사 자금주입의 가장 깨끗한 경로 — 신규 OT 부채·DSCR 불요.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196328" y="3712464"/>
            <a:ext cx="2926080" cy="1691640"/>
          </a:xfrm>
          <a:prstGeom prst="roundRect">
            <a:avLst>
              <a:gd name="adj" fmla="val 3243"/>
            </a:avLst>
          </a:prstGeom>
          <a:solidFill>
            <a:srgbClr val="FBF1EF"/>
          </a:solidFill>
          <a:ln w="19050">
            <a:solidFill>
              <a:srgbClr val="C1121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34072" y="38587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제안 ②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34072" y="40965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1121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그랜트 극대화 요청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7434072" y="449884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 개조비 $0.4bn을 정부 보조금(MESC·48C)으로 최대한. 무상환·무희석·무CoC → EBIT=0 자산에 깨끗한 자금.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66928" y="5943600"/>
            <a:ext cx="9555480" cy="658368"/>
          </a:xfrm>
          <a:prstGeom prst="roundRect">
            <a:avLst>
              <a:gd name="adj" fmla="val 6944"/>
            </a:avLst>
          </a:prstGeom>
          <a:solidFill>
            <a:srgbClr val="F2ECE0"/>
          </a:solidFill>
          <a:ln/>
        </p:spPr>
      </p:sp>
      <p:sp>
        <p:nvSpPr>
          <p:cNvPr id="46" name="Text 44"/>
          <p:cNvSpPr/>
          <p:nvPr/>
        </p:nvSpPr>
        <p:spPr>
          <a:xfrm>
            <a:off x="795528" y="5943600"/>
            <a:ext cx="9098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[결론]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BA가 $1.42bn 일괄 조달 → 자체 $0.4bn + OT 증자 $1.0bn. 조달은 </a:t>
            </a:r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그랜트 최우선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, 부족분만 비소구부채·Equity. ($1.42bn이 BA에 집중 — 조달여력 확인 ★)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VALUATION — FUNDING SCENARIOS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지분 성립 조건 — 조달 시나리오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희석·그랜트 레버 → implied 멀티플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주요 가정 · KEY ASSUMPTIONS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66928" y="1883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DC블록 ASP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029968" y="18836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$155/kWh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167128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1899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가동률 (run-rate) ★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029968" y="21899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85%/82% DC수요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2473452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496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SKBA 기저 EBITDA ★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029968" y="2496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$0.2bn pre-SOP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2779776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8026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run-rate ex-AMPC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029968" y="28026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$748mm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08610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WACC / 영구성장 ★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029968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10.5% / 2.0%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3392424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34152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Cost of equity (Ke)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029968" y="341528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13.0%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3698748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721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신규 조달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029968" y="37216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$1.42bn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" y="4005072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0279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순차입금 (BA/OT)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029968" y="40279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$6.4bn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6928" y="4311396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3342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peer EV/EBITDA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029968" y="43342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8~13x 보수 (실측 p.5)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66928" y="4617720"/>
            <a:ext cx="3200400" cy="0"/>
          </a:xfrm>
          <a:prstGeom prst="line">
            <a:avLst/>
          </a:prstGeom>
          <a:noFill/>
          <a:ln w="6350">
            <a:solidFill>
              <a:srgbClr val="E4DE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4677156"/>
            <a:ext cx="3200400" cy="1042416"/>
          </a:xfrm>
          <a:prstGeom prst="roundRect">
            <a:avLst>
              <a:gd name="adj" fmla="val 5263"/>
            </a:avLst>
          </a:prstGeom>
          <a:solidFill>
            <a:srgbClr val="211C18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" y="475030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역산 논리 · THE MECHANISM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68096" y="4969764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최소지분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외부지분 ÷ 희석캡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최소EV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최소지분 + 순차입금
</a:t>
            </a:r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멀티플</a:t>
            </a:r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 = 최소EV ÷ run-rate EBITDA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133088" y="1627632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조달 시나리오 — implied min EV/EBITDA · SCENARIOS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33088" y="1883664"/>
          <a:ext cx="59893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40080"/>
                <a:gridCol w="640080"/>
                <a:gridCol w="822960"/>
                <a:gridCol w="795528"/>
                <a:gridCol w="89611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시나리오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그랜트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희석캡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최소 EV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멀티플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(13%)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필요EBITDA%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(→13x)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BASE  (그랜트10/지분30)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$8.5bn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11.4x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11.4%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① CoC 20% + 그랜트 20%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$7.8bn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10.5x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10.5%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② CoC 해제 → 희석 30%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$7.8bn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10.5x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10.5%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③ CoC 완화 → 희석 49%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49%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$7.3bn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9.7x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9.7%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최대결합 (그랜트20+희석49)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20%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49%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$7.0bn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9.3x</a:t>
                      </a:r>
                      <a:endParaRPr lang="en-US" sz="120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E7A4D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9.3%</a:t>
                      </a:r>
                      <a:endParaRPr lang="en-US" sz="8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</a:tbl>
          </a:graphicData>
        </a:graphic>
      </p:graphicFrame>
      <p:sp>
        <p:nvSpPr>
          <p:cNvPr id="40" name="Text 37"/>
          <p:cNvSpPr/>
          <p:nvPr/>
        </p:nvSpPr>
        <p:spPr>
          <a:xfrm>
            <a:off x="4133088" y="4279392"/>
            <a:ext cx="5989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필요EBITDA% = 딜을 peer 하단(13x)에 맞추는 데 필요한 ex-AMPC 마진 · 현 13% 마진이 전 시나리오(9.3~11.4%)를 상회 → 전부 성립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4133088" y="4480560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밴드(보수 8~13x) 대비 — 전 시나리오 밴드 내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4178808" y="5074920"/>
            <a:ext cx="5349240" cy="0"/>
          </a:xfrm>
          <a:prstGeom prst="line">
            <a:avLst/>
          </a:prstGeom>
          <a:noFill/>
          <a:ln w="38100">
            <a:solidFill>
              <a:srgbClr val="D8CFC2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178808" y="4992624"/>
            <a:ext cx="5349240" cy="164592"/>
          </a:xfrm>
          <a:prstGeom prst="rect">
            <a:avLst/>
          </a:prstGeom>
          <a:solidFill>
            <a:srgbClr val="E8F3EC"/>
          </a:solidFill>
          <a:ln w="9525">
            <a:solidFill>
              <a:srgbClr val="1E7A4D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4178808" y="4764024"/>
            <a:ext cx="5349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8~13x(보수)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569610" y="4855464"/>
            <a:ext cx="2246681" cy="0"/>
          </a:xfrm>
          <a:prstGeom prst="line">
            <a:avLst/>
          </a:prstGeom>
          <a:noFill/>
          <a:ln w="25400">
            <a:solidFill>
              <a:srgbClr val="1E7A4D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5020970" y="4672584"/>
            <a:ext cx="334396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전 시나리오 밴드 내 (9.3~11.4x)</a:t>
            </a:r>
            <a:endParaRPr lang="en-US" sz="700" dirty="0"/>
          </a:p>
        </p:txBody>
      </p:sp>
      <p:sp>
        <p:nvSpPr>
          <p:cNvPr id="47" name="Shape 44"/>
          <p:cNvSpPr/>
          <p:nvPr/>
        </p:nvSpPr>
        <p:spPr>
          <a:xfrm>
            <a:off x="7770571" y="5029200"/>
            <a:ext cx="91440" cy="91440"/>
          </a:xfrm>
          <a:prstGeom prst="ellipse">
            <a:avLst/>
          </a:prstGeom>
          <a:solidFill>
            <a:srgbClr val="1E7A4D"/>
          </a:solidFill>
          <a:ln/>
        </p:spPr>
      </p:sp>
      <p:sp>
        <p:nvSpPr>
          <p:cNvPr id="48" name="Text 45"/>
          <p:cNvSpPr/>
          <p:nvPr/>
        </p:nvSpPr>
        <p:spPr>
          <a:xfrm>
            <a:off x="7176211" y="516636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BASE 11.4x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6807708" y="5029200"/>
            <a:ext cx="91440" cy="91440"/>
          </a:xfrm>
          <a:prstGeom prst="ellipse">
            <a:avLst/>
          </a:prstGeom>
          <a:solidFill>
            <a:srgbClr val="1E7A4D"/>
          </a:solidFill>
          <a:ln/>
        </p:spPr>
      </p:sp>
      <p:sp>
        <p:nvSpPr>
          <p:cNvPr id="50" name="Shape 47"/>
          <p:cNvSpPr/>
          <p:nvPr/>
        </p:nvSpPr>
        <p:spPr>
          <a:xfrm>
            <a:off x="5951830" y="5029200"/>
            <a:ext cx="91440" cy="91440"/>
          </a:xfrm>
          <a:prstGeom prst="ellipse">
            <a:avLst/>
          </a:prstGeom>
          <a:solidFill>
            <a:srgbClr val="1E7A4D"/>
          </a:solidFill>
          <a:ln/>
        </p:spPr>
      </p:sp>
      <p:sp>
        <p:nvSpPr>
          <p:cNvPr id="51" name="Shape 48"/>
          <p:cNvSpPr/>
          <p:nvPr/>
        </p:nvSpPr>
        <p:spPr>
          <a:xfrm>
            <a:off x="5523890" y="5029200"/>
            <a:ext cx="91440" cy="91440"/>
          </a:xfrm>
          <a:prstGeom prst="ellipse">
            <a:avLst/>
          </a:prstGeom>
          <a:solidFill>
            <a:srgbClr val="1E7A4D"/>
          </a:solidFill>
          <a:ln/>
        </p:spPr>
      </p:sp>
      <p:sp>
        <p:nvSpPr>
          <p:cNvPr id="52" name="Text 49"/>
          <p:cNvSpPr/>
          <p:nvPr/>
        </p:nvSpPr>
        <p:spPr>
          <a:xfrm>
            <a:off x="4929530" y="516636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최대 9.3x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390448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8x</a:t>
            </a:r>
            <a:endParaRPr lang="en-US" sz="700" dirty="0"/>
          </a:p>
        </p:txBody>
      </p:sp>
      <p:sp>
        <p:nvSpPr>
          <p:cNvPr id="54" name="Text 51"/>
          <p:cNvSpPr/>
          <p:nvPr/>
        </p:nvSpPr>
        <p:spPr>
          <a:xfrm>
            <a:off x="4974336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9x</a:t>
            </a:r>
            <a:endParaRPr lang="en-US" sz="700" dirty="0"/>
          </a:p>
        </p:txBody>
      </p:sp>
      <p:sp>
        <p:nvSpPr>
          <p:cNvPr id="55" name="Text 52"/>
          <p:cNvSpPr/>
          <p:nvPr/>
        </p:nvSpPr>
        <p:spPr>
          <a:xfrm>
            <a:off x="6044184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10x</a:t>
            </a:r>
            <a:endParaRPr lang="en-US" sz="700" dirty="0"/>
          </a:p>
        </p:txBody>
      </p:sp>
      <p:sp>
        <p:nvSpPr>
          <p:cNvPr id="56" name="Text 53"/>
          <p:cNvSpPr/>
          <p:nvPr/>
        </p:nvSpPr>
        <p:spPr>
          <a:xfrm>
            <a:off x="7114032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11x</a:t>
            </a:r>
            <a:endParaRPr lang="en-US" sz="700" dirty="0"/>
          </a:p>
        </p:txBody>
      </p:sp>
      <p:sp>
        <p:nvSpPr>
          <p:cNvPr id="57" name="Text 54"/>
          <p:cNvSpPr/>
          <p:nvPr/>
        </p:nvSpPr>
        <p:spPr>
          <a:xfrm>
            <a:off x="8183880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12x</a:t>
            </a:r>
            <a:endParaRPr lang="en-US" sz="700" dirty="0"/>
          </a:p>
        </p:txBody>
      </p:sp>
      <p:sp>
        <p:nvSpPr>
          <p:cNvPr id="58" name="Text 55"/>
          <p:cNvSpPr/>
          <p:nvPr/>
        </p:nvSpPr>
        <p:spPr>
          <a:xfrm>
            <a:off x="9253728" y="533095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13x</a:t>
            </a:r>
            <a:endParaRPr lang="en-US" sz="700" dirty="0"/>
          </a:p>
        </p:txBody>
      </p:sp>
      <p:sp>
        <p:nvSpPr>
          <p:cNvPr id="59" name="Shape 56"/>
          <p:cNvSpPr/>
          <p:nvPr/>
        </p:nvSpPr>
        <p:spPr>
          <a:xfrm>
            <a:off x="566928" y="5797296"/>
            <a:ext cx="9555480" cy="1170432"/>
          </a:xfrm>
          <a:prstGeom prst="roundRect">
            <a:avLst>
              <a:gd name="adj" fmla="val 4688"/>
            </a:avLst>
          </a:prstGeom>
          <a:solidFill>
            <a:srgbClr val="211C18"/>
          </a:solidFill>
          <a:ln/>
        </p:spPr>
      </p:sp>
      <p:sp>
        <p:nvSpPr>
          <p:cNvPr id="60" name="Text 57"/>
          <p:cNvSpPr/>
          <p:nvPr/>
        </p:nvSpPr>
        <p:spPr>
          <a:xfrm>
            <a:off x="841248" y="5888736"/>
            <a:ext cx="900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E8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결론 — ex-AMPC EBITDA 13%면 전 시나리오가 peer 밴드에 든다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841248" y="6199632"/>
            <a:ext cx="9006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ex-AMPC EBITDA 마진을 9%→13%로 올리면 run-rate EBITDA가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$518→$748mm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로 커져 역산 필요 멀티플이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BASE 11.4x → 최대결합 9.3x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로 하락,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전 시나리오가 peer 밴드(8~13x) 내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(2029E 분모면 11.5~14.0x). DCF 내재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8.1x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 AMPC 비중도 </a:t>
            </a:r>
            <a:pPr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76→55%</a:t>
            </a:r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로 낮아져 사업 자생력↑ — 마진이 딜 성립의 핵심 레버. WACC10.5%·TGR2%·순차입 $6.4bn ★</a:t>
            </a:r>
            <a:endParaRPr lang="en-US" sz="950" dirty="0"/>
          </a:p>
        </p:txBody>
      </p:sp>
      <p:sp>
        <p:nvSpPr>
          <p:cNvPr id="62" name="Shape 59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64" name="Text 61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VALUATION — PEER MULTIPLES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Peer 멀티플 — 실측 + EBITDA 기준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forward EV/EBITDA · 2026.7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Peer 컴프스 (실측) · forward EV/EBITDA ★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83664"/>
          <a:ext cx="45720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325880"/>
                <a:gridCol w="13716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회사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EV/EBITDA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비고</a:t>
                      </a:r>
                      <a:endParaRPr lang="en-US" sz="9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LG에너지솔루션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1714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19x → 15x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26F / 27F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CATL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1714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~13x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PE22·최고수익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삼성SDI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A847C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n.m.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EBITDA 적자근접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Fluence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9A847C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n.m.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adjEBITDA$40~60M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정상화(mid-cycle)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13~15x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← 비교 기준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보수(장기) 가정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C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F6960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8~13x</a:t>
                      </a:r>
                      <a:endParaRPr lang="en-US" sz="10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F6960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floor</a:t>
                      </a:r>
                      <a:endParaRPr lang="en-US" sz="8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88900" marR="889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CE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444398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00" i="1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★ LGES EV/EBITDA 26x'25F→19x'26F→15x'27F(stockanalysis·미래에셋) · CATL P/E 20.5x'26E(UBS) · 삼성SDI '26 영업손실→n.m.(미래에셋) · Fluence adjEBITDA$40~60M→n.m. 섹터 트로프로 실측 15~27x·정상화 ~13~15x. peer는 자체보조금 포함(우리 ex-AMPC=보수적) · 정밀값 Bloomberg/FactSet 확정 要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504688" y="1627632"/>
            <a:ext cx="4617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우리 멀티플 · EBITDA 기준별 (분모 민감도)</a:t>
            </a:r>
            <a:endParaRPr lang="en-US" sz="8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04688" y="1883664"/>
          <a:ext cx="46177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868680"/>
                <a:gridCol w="914400"/>
                <a:gridCol w="1417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EBITDA 기준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금액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DCF 내재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역산 필요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(BASE→최대)</a:t>
                      </a:r>
                      <a:endParaRPr lang="en-US" sz="8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71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run-rate 30~32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$748mm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8.1x</a:t>
                      </a:r>
                      <a:endParaRPr lang="en-US" sz="11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9.3~11.4x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2029E forward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$607mm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7A4D"/>
                          </a:solidFill>
                          <a:latin typeface="Space Grotesk" pitchFamily="34" charset="0"/>
                          <a:ea typeface="Space Grotesk" pitchFamily="34" charset="-122"/>
                          <a:cs typeface="Space Grotesk" pitchFamily="34" charset="-120"/>
                        </a:rPr>
                        <a:t>9.9x</a:t>
                      </a:r>
                      <a:endParaRPr lang="en-US" sz="1150" dirty="0">
                        <a:latin typeface="Space Grotesk" charset="0"/>
                        <a:ea typeface="Space Grotesk" charset="0"/>
                        <a:cs typeface="Space Grotesk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1121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11.5~14.0x</a:t>
                      </a:r>
                      <a:endParaRPr lang="en-US" sz="9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504688" y="3639312"/>
            <a:ext cx="4617720" cy="1024128"/>
          </a:xfrm>
          <a:prstGeom prst="roundRect">
            <a:avLst>
              <a:gd name="adj" fmla="val 5357"/>
            </a:avLst>
          </a:prstGeom>
          <a:solidFill>
            <a:srgbClr val="211C18"/>
          </a:solidFill>
          <a:ln/>
        </p:spPr>
      </p:sp>
      <p:sp>
        <p:nvSpPr>
          <p:cNvPr id="13" name="Text 9"/>
          <p:cNvSpPr/>
          <p:nvPr/>
        </p:nvSpPr>
        <p:spPr>
          <a:xfrm>
            <a:off x="5705856" y="3730752"/>
            <a:ext cx="4251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50" kern="0" dirty="0">
                <a:solidFill>
                  <a:srgbClr val="D8CFC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정상화 peer 13x 적용 · 내재 지분가치(−순차입 $6.4bn)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5705856" y="3986784"/>
            <a:ext cx="4251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× $748mm  → EV $9.7bn  </a:t>
            </a:r>
            <a:pPr indent="0" marL="0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 +$3.3bn
</a:t>
            </a:r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× $607mm  → EV $7.9bn  </a:t>
            </a:r>
            <a:pPr indent="0" marL="0">
              <a:lnSpc>
                <a:spcPct val="135000"/>
              </a:lnSpc>
              <a:buNone/>
            </a:pPr>
            <a:r>
              <a:rPr lang="en-US" sz="1000" b="1" dirty="0">
                <a:solidFill>
                  <a:srgbClr val="86D6A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지분 +$1.5bn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566928" y="4864608"/>
            <a:ext cx="9555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풋볼필드 — 내재 EV ($bn) · run-rate $748mm 기준 · 보수/정상화 peer vs 역산 필요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704088" y="5486400"/>
            <a:ext cx="8641080" cy="0"/>
          </a:xfrm>
          <a:prstGeom prst="line">
            <a:avLst/>
          </a:prstGeom>
          <a:noFill/>
          <a:ln w="31750">
            <a:solidFill>
              <a:srgbClr val="D8CFC2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913839" y="5394960"/>
            <a:ext cx="4616806" cy="182880"/>
          </a:xfrm>
          <a:prstGeom prst="rect">
            <a:avLst/>
          </a:prstGeom>
          <a:solidFill>
            <a:srgbClr val="F2ECE0"/>
          </a:solidFill>
          <a:ln w="9525">
            <a:solidFill>
              <a:srgbClr val="D8CFC2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913839" y="5605272"/>
            <a:ext cx="46168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보수 8~13x  $6.0~9.7bn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530645" y="5394960"/>
            <a:ext cx="1851660" cy="182880"/>
          </a:xfrm>
          <a:prstGeom prst="rect">
            <a:avLst/>
          </a:prstGeom>
          <a:solidFill>
            <a:srgbClr val="E8F3EC"/>
          </a:solidFill>
          <a:ln w="9525">
            <a:solidFill>
              <a:srgbClr val="1E7A4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256325" y="5175504"/>
            <a:ext cx="26746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정상화 13~15x  $9.7~11.2bn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3123590" y="5212080"/>
            <a:ext cx="1938071" cy="0"/>
          </a:xfrm>
          <a:prstGeom prst="line">
            <a:avLst/>
          </a:prstGeom>
          <a:noFill/>
          <a:ln w="31750">
            <a:solidFill>
              <a:srgbClr val="C1121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849270" y="5010912"/>
            <a:ext cx="276103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역산 필요 9.3~11.4x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2432304" y="5340096"/>
            <a:ext cx="0" cy="292608"/>
          </a:xfrm>
          <a:prstGeom prst="line">
            <a:avLst/>
          </a:prstGeom>
          <a:noFill/>
          <a:ln w="15875">
            <a:solidFill>
              <a:srgbClr val="1B1714"/>
            </a:solidFill>
            <a:prstDash val="dash"/>
          </a:ln>
        </p:spPr>
      </p:sp>
      <p:sp>
        <p:nvSpPr>
          <p:cNvPr id="24" name="Text 20"/>
          <p:cNvSpPr/>
          <p:nvPr/>
        </p:nvSpPr>
        <p:spPr>
          <a:xfrm>
            <a:off x="1700784" y="576072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1714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순차입 $6.4bn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1920697" y="5431536"/>
            <a:ext cx="109728" cy="109728"/>
          </a:xfrm>
          <a:prstGeom prst="ellipse">
            <a:avLst/>
          </a:prstGeom>
          <a:solidFill>
            <a:srgbClr val="1E7A4D"/>
          </a:solidFill>
          <a:ln/>
        </p:spPr>
      </p:sp>
      <p:sp>
        <p:nvSpPr>
          <p:cNvPr id="26" name="Text 22"/>
          <p:cNvSpPr/>
          <p:nvPr/>
        </p:nvSpPr>
        <p:spPr>
          <a:xfrm>
            <a:off x="1198321" y="517550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7A4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DCF $6.0bn·8.1x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42976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$5bn</a:t>
            </a:r>
            <a:endParaRPr lang="en-US" sz="650" dirty="0"/>
          </a:p>
        </p:txBody>
      </p:sp>
      <p:sp>
        <p:nvSpPr>
          <p:cNvPr id="28" name="Text 24"/>
          <p:cNvSpPr/>
          <p:nvPr/>
        </p:nvSpPr>
        <p:spPr>
          <a:xfrm>
            <a:off x="166420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$6bn</a:t>
            </a:r>
            <a:endParaRPr lang="en-US" sz="650" dirty="0"/>
          </a:p>
        </p:txBody>
      </p:sp>
      <p:sp>
        <p:nvSpPr>
          <p:cNvPr id="29" name="Text 25"/>
          <p:cNvSpPr/>
          <p:nvPr/>
        </p:nvSpPr>
        <p:spPr>
          <a:xfrm>
            <a:off x="289864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$7bn</a:t>
            </a:r>
            <a:endParaRPr lang="en-US" sz="650" dirty="0"/>
          </a:p>
        </p:txBody>
      </p:sp>
      <p:sp>
        <p:nvSpPr>
          <p:cNvPr id="30" name="Text 26"/>
          <p:cNvSpPr/>
          <p:nvPr/>
        </p:nvSpPr>
        <p:spPr>
          <a:xfrm>
            <a:off x="413308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$8bn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536752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$9bn</a:t>
            </a:r>
            <a:endParaRPr lang="en-US" sz="650" dirty="0"/>
          </a:p>
        </p:txBody>
      </p:sp>
      <p:sp>
        <p:nvSpPr>
          <p:cNvPr id="32" name="Text 28"/>
          <p:cNvSpPr/>
          <p:nvPr/>
        </p:nvSpPr>
        <p:spPr>
          <a:xfrm>
            <a:off x="660196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$10bn</a:t>
            </a:r>
            <a:endParaRPr lang="en-US" sz="650" dirty="0"/>
          </a:p>
        </p:txBody>
      </p:sp>
      <p:sp>
        <p:nvSpPr>
          <p:cNvPr id="33" name="Text 29"/>
          <p:cNvSpPr/>
          <p:nvPr/>
        </p:nvSpPr>
        <p:spPr>
          <a:xfrm>
            <a:off x="783640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$11bn</a:t>
            </a:r>
            <a:endParaRPr lang="en-US" sz="650" dirty="0"/>
          </a:p>
        </p:txBody>
      </p:sp>
      <p:sp>
        <p:nvSpPr>
          <p:cNvPr id="34" name="Text 30"/>
          <p:cNvSpPr/>
          <p:nvPr/>
        </p:nvSpPr>
        <p:spPr>
          <a:xfrm>
            <a:off x="9070848" y="5888736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$12bn</a:t>
            </a:r>
            <a:endParaRPr lang="en-US" sz="650" dirty="0"/>
          </a:p>
        </p:txBody>
      </p:sp>
      <p:sp>
        <p:nvSpPr>
          <p:cNvPr id="35" name="Shape 31"/>
          <p:cNvSpPr/>
          <p:nvPr/>
        </p:nvSpPr>
        <p:spPr>
          <a:xfrm>
            <a:off x="566928" y="6199632"/>
            <a:ext cx="9555480" cy="822960"/>
          </a:xfrm>
          <a:prstGeom prst="roundRect">
            <a:avLst>
              <a:gd name="adj" fmla="val 6667"/>
            </a:avLst>
          </a:prstGeom>
          <a:solidFill>
            <a:srgbClr val="F2ECE0"/>
          </a:solidFill>
          <a:ln/>
        </p:spPr>
      </p:sp>
      <p:sp>
        <p:nvSpPr>
          <p:cNvPr id="36" name="Text 32"/>
          <p:cNvSpPr/>
          <p:nvPr/>
        </p:nvSpPr>
        <p:spPr>
          <a:xfrm>
            <a:off x="795528" y="6199632"/>
            <a:ext cx="9098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[핵심]  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ex-AMPC EBITDA 마진 9%→13% 시 run-rate EBITDA 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1E7A4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$518→$748mm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 역산 필요 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1E7A4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9.3~11.4x로 전 시나리오가 peer 밴드(8~13x) 진입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(2029E 분모면 11.5~14.0x). DCF 내재 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1E7A4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8.1x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 AMPC 비중 </a:t>
            </a:r>
            <a:pPr indent="0" marL="0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1E7A4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76→55%</a:t>
            </a:r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로 사업 자생력↑ — 규모(GWh)보다 마진(%)이 밸류를 좌우. peer는 자체보조금 포함(우리 ex-AMPC, 보수적).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39" name="Text 35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CLOSING — GOVERNMENT ENGAGEMENT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007608" y="4754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SK 전략팀 · Confidential  /  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7178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커뮤니케이션 방식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79208" y="93268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재무 사전 정렬 우선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426464"/>
            <a:ext cx="9555480" cy="0"/>
          </a:xfrm>
          <a:prstGeom prst="line">
            <a:avLst/>
          </a:prstGeom>
          <a:noFill/>
          <a:ln w="19050">
            <a:solidFill>
              <a:srgbClr val="1B171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2763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진행 순서 · ENGAGEMENT SEQUENCE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211C18"/>
          </a:solidFill>
          <a:ln w="19050">
            <a:solidFill>
              <a:srgbClr val="211C1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" y="2103120"/>
            <a:ext cx="384048" cy="384048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8638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내부 재무 사전 정렬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8638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ask·구조·레드라인 재무 합의 (선행)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73177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2437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383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16" name="Text 14"/>
          <p:cNvSpPr/>
          <p:nvPr/>
        </p:nvSpPr>
        <p:spPr>
          <a:xfrm>
            <a:off x="324383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4383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 확정 → 매칭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4383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요청 확정 후 카운터파트로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18922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182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128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22" name="Text 20"/>
          <p:cNvSpPr/>
          <p:nvPr/>
        </p:nvSpPr>
        <p:spPr>
          <a:xfrm>
            <a:off x="570128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70128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DOE 부서 미팅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0128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합의된 ask · 부서별 단일 메시지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646670" y="226771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▶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939278" y="1901952"/>
            <a:ext cx="218313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4DE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58734" y="2103120"/>
            <a:ext cx="384048" cy="384048"/>
          </a:xfrm>
          <a:prstGeom prst="ellipse">
            <a:avLst/>
          </a:prstGeom>
          <a:solidFill>
            <a:srgbClr val="D8CFC2"/>
          </a:solidFill>
          <a:ln/>
        </p:spPr>
      </p:sp>
      <p:sp>
        <p:nvSpPr>
          <p:cNvPr id="28" name="Text 26"/>
          <p:cNvSpPr/>
          <p:nvPr/>
        </p:nvSpPr>
        <p:spPr>
          <a:xfrm>
            <a:off x="815873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714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158734" y="2560320"/>
            <a:ext cx="17442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DOW(국방) 트랙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158734" y="2770632"/>
            <a:ext cx="174421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F696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방산·딥테크 별도 진행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566928" y="32918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ASK → DOE 카운터파트 매칭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566160"/>
          <a:ext cx="49377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383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보조금 (BA)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7A4D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MESC — 제조·공급망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대출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DOE LPO 융자 · OT 기존 (론명 변경 ★)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Equity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1121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해당 부서 없음 — DOE 지분투자 ✗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방산 앵글</a:t>
                      </a:r>
                      <a:endParaRPr lang="en-US" sz="100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714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DOW (국방) 별도 트랙</a:t>
                      </a:r>
                      <a:endParaRPr lang="en-US" sz="9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Text 30"/>
          <p:cNvSpPr/>
          <p:nvPr/>
        </p:nvSpPr>
        <p:spPr>
          <a:xfrm>
            <a:off x="5961888" y="329184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레드라인 · RED LINES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961888" y="3566160"/>
            <a:ext cx="4160520" cy="1901952"/>
          </a:xfrm>
          <a:prstGeom prst="roundRect">
            <a:avLst>
              <a:gd name="adj" fmla="val 2885"/>
            </a:avLst>
          </a:prstGeom>
          <a:solidFill>
            <a:srgbClr val="211C18"/>
          </a:solidFill>
          <a:ln/>
        </p:spPr>
      </p:sp>
      <p:sp>
        <p:nvSpPr>
          <p:cNvPr id="35" name="Text 32"/>
          <p:cNvSpPr/>
          <p:nvPr/>
        </p:nvSpPr>
        <p:spPr>
          <a:xfrm>
            <a:off x="6199632" y="369417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미팅 전 재무 합의 사항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199632" y="4041648"/>
            <a:ext cx="3703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SK이노 보증 확대 금지
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BA 기존 covenant breach 금지
</a:t>
            </a:r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D8CFC2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CoC 완화 협상 (희석 30~49% 여지)
</a:t>
            </a:r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FF8E8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• DOE Equity 기대 제외 (대출·보증만)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56692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6692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1121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D+0 · 1~2주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56692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재무 사전 정렬 메모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302437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02437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D+2~3주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302437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ask 확정 · 부서 매칭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548182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48182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D+4~6주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548182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DOE 부서 미팅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7939278" y="5760720"/>
            <a:ext cx="2183130" cy="0"/>
          </a:xfrm>
          <a:prstGeom prst="line">
            <a:avLst/>
          </a:prstGeom>
          <a:noFill/>
          <a:ln w="25400">
            <a:solidFill>
              <a:srgbClr val="1B1714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939278" y="5833872"/>
            <a:ext cx="218313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D+8주~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7939278" y="6035040"/>
            <a:ext cx="21831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DOW·후속 협상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66928" y="6446520"/>
            <a:ext cx="9555480" cy="457200"/>
          </a:xfrm>
          <a:prstGeom prst="roundRect">
            <a:avLst>
              <a:gd name="adj" fmla="val 8000"/>
            </a:avLst>
          </a:prstGeom>
          <a:solidFill>
            <a:srgbClr val="F2ECE0"/>
          </a:solidFill>
          <a:ln/>
        </p:spPr>
      </p:sp>
      <p:sp>
        <p:nvSpPr>
          <p:cNvPr id="50" name="Text 47"/>
          <p:cNvSpPr/>
          <p:nvPr/>
        </p:nvSpPr>
        <p:spPr>
          <a:xfrm>
            <a:off x="795528" y="6446520"/>
            <a:ext cx="9098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1121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[원칙]  </a:t>
            </a:r>
            <a:pPr indent="0" marL="0">
              <a:buNone/>
            </a:pPr>
            <a:r>
              <a:rPr lang="en-US" sz="950" dirty="0">
                <a:solidFill>
                  <a:srgbClr val="1B1714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부서 미팅 전, '무엇을 요청할지'를 재무와 먼저 확정한다 — 잘못된 부서에 잘못된 ask로 가는 것을 막는다.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566928" y="7141464"/>
            <a:ext cx="9555480" cy="0"/>
          </a:xfrm>
          <a:prstGeom prst="line">
            <a:avLst/>
          </a:prstGeom>
          <a:noFill/>
          <a:ln w="9525">
            <a:solidFill>
              <a:srgbClr val="E4DED4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566928" y="71780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SK 전략팀 · Strictly Private &amp; Confidential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7836408" y="7178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A847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= 미검증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2026-07-01T23:20:37Z</dcterms:created>
  <dcterms:modified xsi:type="dcterms:W3CDTF">2026-07-01T23:20:37Z</dcterms:modified>
</cp:coreProperties>
</file>